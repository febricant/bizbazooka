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fd5ae430c7471e" /><Relationship Type="http://schemas.openxmlformats.org/officeDocument/2006/relationships/extended-properties" Target="/docProps/app.xml" Id="Rc007fc8de11d4036" /><Relationship Type="http://schemas.openxmlformats.org/officeDocument/2006/relationships/officeDocument" Target="/ppt/presentation.xml" Id="R072a5351bf3d4d9c" /></Relationships>
</file>

<file path=ppt/presentation.xml><?xml version="1.0" encoding="utf-8"?>
<p:presentation xmlns:p="http://schemas.openxmlformats.org/presentationml/2006/main">
  <p:sldMasterIdLst>
    <p:sldMasterId xmlns:r="http://schemas.openxmlformats.org/officeDocument/2006/relationships" id="2147483648" r:id="Rd66c6ba80a5549f9"/>
  </p:sldMasterIdLst>
  <p:notesMasterIdLst>
    <p:notesMasterId xmlns:r="http://schemas.openxmlformats.org/officeDocument/2006/relationships" r:id="R034d353e99874b6f"/>
  </p:notesMasterIdLst>
  <p:sldIdLst>
    <p:sldId xmlns:r="http://schemas.openxmlformats.org/officeDocument/2006/relationships" id="256" r:id="R9163f57907704f15"/>
    <p:sldId xmlns:r="http://schemas.openxmlformats.org/officeDocument/2006/relationships" id="257" r:id="Rf18587e7a36248ed"/>
    <p:sldId xmlns:r="http://schemas.openxmlformats.org/officeDocument/2006/relationships" id="258" r:id="Re85dae1cfcae46a8"/>
    <p:sldId xmlns:r="http://schemas.openxmlformats.org/officeDocument/2006/relationships" id="259" r:id="R5709e20446ae49fa"/>
    <p:sldId xmlns:r="http://schemas.openxmlformats.org/officeDocument/2006/relationships" id="260" r:id="R4adca35d1ff24500"/>
    <p:sldId xmlns:r="http://schemas.openxmlformats.org/officeDocument/2006/relationships" id="261" r:id="Rf79e05b54f864983"/>
    <p:sldId xmlns:r="http://schemas.openxmlformats.org/officeDocument/2006/relationships" id="262" r:id="Rf221869027e3448a"/>
    <p:sldId xmlns:r="http://schemas.openxmlformats.org/officeDocument/2006/relationships" id="263" r:id="R2367f937c1584047"/>
    <p:sldId xmlns:r="http://schemas.openxmlformats.org/officeDocument/2006/relationships" id="264" r:id="R4b60557521fd477b"/>
    <p:sldId xmlns:r="http://schemas.openxmlformats.org/officeDocument/2006/relationships" id="265" r:id="R3e156fe9ca10483e"/>
    <p:sldId xmlns:r="http://schemas.openxmlformats.org/officeDocument/2006/relationships" id="266" r:id="Rcc3312c7a00042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c4971371df420d" /><Relationship Type="http://schemas.openxmlformats.org/officeDocument/2006/relationships/slideMaster" Target="/ppt/slideMasters/slideMaster1.xml" Id="Rd66c6ba80a5549f9" /><Relationship Type="http://schemas.openxmlformats.org/officeDocument/2006/relationships/notesMaster" Target="/ppt/notesMasters/notesMaster1.xml" Id="R034d353e99874b6f" /><Relationship Type="http://schemas.openxmlformats.org/officeDocument/2006/relationships/presProps" Target="/ppt/presProps.xml" Id="Rfa18d8d37d3c4024" /><Relationship Type="http://schemas.openxmlformats.org/officeDocument/2006/relationships/tableStyles" Target="/ppt/tableStyles.xml" Id="R8fea6b077dc94ea1" /><Relationship Type="http://schemas.openxmlformats.org/officeDocument/2006/relationships/slide" Target="/ppt/slides/slide1.xml" Id="R9163f57907704f15" /><Relationship Type="http://schemas.openxmlformats.org/officeDocument/2006/relationships/slide" Target="/ppt/slides/slide2.xml" Id="Rf18587e7a36248ed" /><Relationship Type="http://schemas.openxmlformats.org/officeDocument/2006/relationships/slide" Target="/ppt/slides/slide3.xml" Id="Re85dae1cfcae46a8" /><Relationship Type="http://schemas.openxmlformats.org/officeDocument/2006/relationships/slide" Target="/ppt/slides/slide4.xml" Id="R5709e20446ae49fa" /><Relationship Type="http://schemas.openxmlformats.org/officeDocument/2006/relationships/slide" Target="/ppt/slides/slide5.xml" Id="R4adca35d1ff24500" /><Relationship Type="http://schemas.openxmlformats.org/officeDocument/2006/relationships/slide" Target="/ppt/slides/slide6.xml" Id="Rf79e05b54f864983" /><Relationship Type="http://schemas.openxmlformats.org/officeDocument/2006/relationships/slide" Target="/ppt/slides/slide7.xml" Id="Rf221869027e3448a" /><Relationship Type="http://schemas.openxmlformats.org/officeDocument/2006/relationships/slide" Target="/ppt/slides/slide8.xml" Id="R2367f937c1584047" /><Relationship Type="http://schemas.openxmlformats.org/officeDocument/2006/relationships/slide" Target="/ppt/slides/slide9.xml" Id="R4b60557521fd477b" /><Relationship Type="http://schemas.openxmlformats.org/officeDocument/2006/relationships/slide" Target="/ppt/slides/slide10.xml" Id="R3e156fe9ca10483e" /><Relationship Type="http://schemas.openxmlformats.org/officeDocument/2006/relationships/slide" Target="/ppt/slides/slide11.xml" Id="Rcc3312c7a00042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e1ebf34ada42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cfbfc884414fa2" /><Relationship Type="http://schemas.openxmlformats.org/officeDocument/2006/relationships/notesMaster" Target="/ppt/notesMasters/notesMaster1.xml" Id="R7d4a3161fc9c4a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c540c0cd1f49e9" /><Relationship Type="http://schemas.openxmlformats.org/officeDocument/2006/relationships/notesMaster" Target="/ppt/notesMasters/notesMaster1.xml" Id="R2adb8719b81d4d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0ca63cb0ae4739" /><Relationship Type="http://schemas.openxmlformats.org/officeDocument/2006/relationships/notesMaster" Target="/ppt/notesMasters/notesMaster1.xml" Id="Rc7e1db7a637f43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e2bf975f6446eb" /><Relationship Type="http://schemas.openxmlformats.org/officeDocument/2006/relationships/notesMaster" Target="/ppt/notesMasters/notesMaster1.xml" Id="R0c33bc5febfc45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b2586c4b314c6a" /><Relationship Type="http://schemas.openxmlformats.org/officeDocument/2006/relationships/notesMaster" Target="/ppt/notesMasters/notesMaster1.xml" Id="R7c0b2884fc6249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ad78773d034a92" /><Relationship Type="http://schemas.openxmlformats.org/officeDocument/2006/relationships/notesMaster" Target="/ppt/notesMasters/notesMaster1.xml" Id="R92c7eb41578f49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858dd676794de3" /><Relationship Type="http://schemas.openxmlformats.org/officeDocument/2006/relationships/notesMaster" Target="/ppt/notesMasters/notesMaster1.xml" Id="R2cbcf24c08144c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15d8252b9e49e3" /><Relationship Type="http://schemas.openxmlformats.org/officeDocument/2006/relationships/notesMaster" Target="/ppt/notesMasters/notesMaster1.xml" Id="R393a087f7b9a4a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7ffef482eb40a8" /><Relationship Type="http://schemas.openxmlformats.org/officeDocument/2006/relationships/notesMaster" Target="/ppt/notesMasters/notesMaster1.xml" Id="Rfbd5b410c33d40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f0e561bb2f41ef" /><Relationship Type="http://schemas.openxmlformats.org/officeDocument/2006/relationships/notesMaster" Target="/ppt/notesMasters/notesMaster1.xml" Id="R851ccefa700f47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85e8a9862c4cad" /><Relationship Type="http://schemas.openxmlformats.org/officeDocument/2006/relationships/notesMaster" Target="/ppt/notesMasters/notesMaster1.xml" Id="Raedb4fc60df14b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BizBazooka helps founders turn an idea into a team, with reviewed project evidence, clear commitments and a path for emerging talent. Team 5 — CrewYYC: Abdeslem, CK, Michio, Pradeep and Thu. The product headline matches the web preview: Build a venture. Launch a career. This is a local prototype with fictional people, partner records and verification examples.</a:t>
            </a:r>
          </a:p>
          <a:p xmlns:a="http://schemas.openxmlformats.org/drawingml/2006/main">
            <a:r>
              <a:t/>
            </a:r>
          </a:p>
          <a:p xmlns:a="http://schemas.openxmlformats.org/drawingml/2006/main">
            <a:r>
              <a:t>Source: latest CrewYYC-BuildYYC-Pitch.pptx, slide 1,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Visual sources: Current web preview homepage capture; portrait artwork from the user-supplied BizBazooka.html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pain hypothesis is lost business opportunity: founders have ideas but struggle to find people with the right skills, available time and willingness to commit. Current routes include LinkedIn messages, Slack posts, meetups and personal contacts. The result can be long searches or stalled ideas. No measured local survey or independently validated job/graduate statistic is presented as proof.</a:t>
            </a:r>
          </a:p>
          <a:p xmlns:a="http://schemas.openxmlformats.org/drawingml/2006/main">
            <a:r>
              <a:t/>
            </a:r>
          </a:p>
          <a:p xmlns:a="http://schemas.openxmlformats.org/drawingml/2006/main">
            <a:r>
              <a:t>Source: latest CrewYYC-BuildYYC-Pitch.pptx, slide 2,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Visual sources: Existing illustrative workspace photo: app/public/images/builders.jpg; Unsplash photo-1522071820081-009f0129c71c, not a photograph of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founder has a concrete idea and budget, often with a product, event or demo milestone. Programme operators are a proposed institutional buyer; builders and emerging talent are users. Prospective access channels include Platform Calgary, Tech Hub, AI Tinkerers, university business clubs and mentors. These names are potential channels, not signed partnerships.</a:t>
            </a:r>
          </a:p>
          <a:p xmlns:a="http://schemas.openxmlformats.org/drawingml/2006/main">
            <a:r>
              <a:t/>
            </a:r>
          </a:p>
          <a:p xmlns:a="http://schemas.openxmlformats.org/drawingml/2006/main">
            <a:r>
              <a:t>Source: latest CrewYYC-BuildYYC-Pitch.pptx, slide 3,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 preview connects venture-based recommendations, project and affiliation evidence, interviews, paid or equity offers, versioned acceptance and mentored internships. Recommendations use explainable keyword and eligibility rules, not an AI success prediction. Verification and affiliation records are examples; new profiles remain self-reported. Agreements do not create employment, issued equity or a binding legal contract.</a:t>
            </a:r>
          </a:p>
          <a:p xmlns:a="http://schemas.openxmlformats.org/drawingml/2006/main">
            <a:r>
              <a:t/>
            </a:r>
          </a:p>
          <a:p xmlns:a="http://schemas.openxmlformats.org/drawingml/2006/main">
            <a:r>
              <a:t>Source: latest CrewYYC-BuildYYC-Pitch.pptx, slide 4,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Visual sources: Current prototype verification dossier screenshot: app/output/playwright/ecosystem/13-university-verification-mobile.png.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market assumptions: 8.4M assumed Canadian users × $144 per year = $1.2096B, rounded to ~$1.2B. 153,000 assumed Alberta users × $144 = $22.032M, rounded to ~$22M. A separate scenario of 3,500 paid founders × $144 = $504,000 per year, rounded to ~$0.5M. The population, interest, addressable-user and willingness-to-pay assumptions remain unvalidated. A 2% capture of 153,000 would be 3,060 rather than 3,500. Programme licences and transaction revenue are excluded from the displayed calculation; a 90% B2B revenue mix is not established by this model.</a:t>
            </a:r>
          </a:p>
          <a:p xmlns:a="http://schemas.openxmlformats.org/drawingml/2006/main">
            <a:r>
              <a:t/>
            </a:r>
          </a:p>
          <a:p xmlns:a="http://schemas.openxmlformats.org/drawingml/2006/main">
            <a:r>
              <a:t>Source: latest CrewYYC-BuildYYC-Pitch.pptx, slide 5,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qualitative ratings express the team's positioning hypotheses, not an independent competitive assessment. Strong, Good and Some correspond to three, two and one source checkmarks; a dash corresponds to a source cross. Criteria are local/verified expertise, cost effectiveness, and founder-to-builder matching. The comparison is against ICTC/TalentED, college programmes, and recruiters/Fiverr. The BizBazooka proposition still needs real participant and partner validation.</a:t>
            </a:r>
          </a:p>
          <a:p xmlns:a="http://schemas.openxmlformats.org/drawingml/2006/main">
            <a:r>
              <a:t/>
            </a:r>
          </a:p>
          <a:p xmlns:a="http://schemas.openxmlformats.org/drawingml/2006/main">
            <a:r>
              <a:t>Source: latest CrewYYC-BuildYYC-Pitch.pptx, slide 6,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sequence: describe a venture; recommend eligible builders; inspect Jules's sample university and capstone evidence; invite an interview; confirm separately as candidate; complete as founder; prepare and accept a paid long-term offer with optional equity; then review monthly, quarterly or milestone vesting and simulate acceptance by both participants. A second path demonstrates mentored internship posting, consented application, interview and paid offer. Profiles, downloads, capacity checks and saved state work locally. Authentication, external delivery, employment, independent verification and legal execution require a connected product.</a:t>
            </a:r>
          </a:p>
          <a:p xmlns:a="http://schemas.openxmlformats.org/drawingml/2006/main">
            <a:r>
              <a:t/>
            </a:r>
          </a:p>
          <a:p xmlns:a="http://schemas.openxmlformats.org/drawingml/2006/main">
            <a:r>
              <a:t>Source: latest CrewYYC-BuildYYC-Pitch.pptx, slide 7,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Visual sources: Current prototype recruiting screenshot: app/output/playwright/ecosystem/06-recruiting-desktop.png.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revenue model: free entry for founders and builders; one idea-submission trial, then founder premium access at $144 per year; 5% contract-work commission; and $750–$2,000 institutional/event partnerships. No partnership billing interval or currency is specified. Estimated CAC is $100 and estimated LTV is $350, giving $350/$100 = 3.5:1. These are assumptions, not observed customer economics. Paywalls, payments, commissions and equity services are not implemented in the current prototype. Any real equity service needs a reviewed legal and commercial framework.</a:t>
            </a:r>
          </a:p>
          <a:p xmlns:a="http://schemas.openxmlformats.org/drawingml/2006/main">
            <a:r>
              <a:t/>
            </a:r>
          </a:p>
          <a:p xmlns:a="http://schemas.openxmlformats.org/drawingml/2006/main">
            <a:r>
              <a:t>Source: latest CrewYYC-BuildYYC-Pitch.pptx, slide 8,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acquisition sequence: first founders through organisations and events; seed initial projects and reviewed profiles; grow toward the first hundred through continued partnerships, founder word of mouth and builders seeking work; then broaden outreach through LinkedIn, TikTok, Instagram and university/organisation integrations. No current traction or signed distribution relationship is claimed. The north star is accepted introductions that lead to a second meeting; real meetings and continued collaboration still need pilot measurement.</a:t>
            </a:r>
          </a:p>
          <a:p xmlns:a="http://schemas.openxmlformats.org/drawingml/2006/main">
            <a:r>
              <a:t/>
            </a:r>
          </a:p>
          <a:p xmlns:a="http://schemas.openxmlformats.org/drawingml/2006/main">
            <a:r>
              <a:t>Source: latest CrewYYC-BuildYYC-Pitch.pptx, slide 9,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30 days: onboard event founders, validate talent/discovery needs, ship the MVP and seek initial partners. By 90 days: professional legal-framework review, feedback-led product improvements and university/institutional partnership development. Six to twelve months: target 5–10 programme licences, 1,000 Calgary builders, an Edmonton launch plan and formal university internship integration. The ask is an event pilot with Platform Calgary or Product Calgary, introductions to two accelerator programme leads and ten builders to try the pilot. These are prospective commitments and targets. VC lists, how-to guides and pitch deck tools are future ecosystem concepts; there is no active VC persona.</a:t>
            </a:r>
          </a:p>
          <a:p xmlns:a="http://schemas.openxmlformats.org/drawingml/2006/main">
            <a:r>
              <a:t/>
            </a:r>
          </a:p>
          <a:p xmlns:a="http://schemas.openxmlformats.org/drawingml/2006/main">
            <a:r>
              <a:t>Source: latest CrewYYC-BuildYYC-Pitch.pptx, slide 10,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audience and invite them to explore the prototype. The clickable link is http://127.0.0.1:4173/ and works on the computer running the local preview server. It is not a public signup URL and cannot be used from another device without deployment or network configuration. The prototype stores demonstration profiles in that browser; no real account or external notification is created. Team contact: hoskote.pradeep@gmail.com.</a:t>
            </a:r>
          </a:p>
          <a:p xmlns:a="http://schemas.openxmlformats.org/drawingml/2006/main">
            <a:r>
              <a:t/>
            </a:r>
          </a:p>
          <a:p xmlns:a="http://schemas.openxmlformats.org/drawingml/2006/main">
            <a:r>
              <a:t>Source: latest CrewYYC-BuildYYC-Pitch.pptx, slide 11, supplied October 24, 2026. Current website reference: BizBazooka local preview, inspected October 24, 2026, http://127.0.0.1:4173/. All partner names, people, verification records, offers and legal acceptance shown in the prototype are samples or simulations.</a:t>
            </a:r>
          </a:p>
          <a:p xmlns:a="http://schemas.openxmlformats.org/drawingml/2006/main">
            <a:r>
              <a:t>Visual sources: Current prototype mobile homepage: app/output/playwright/ecosystem/03-home-mobile.png.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f3981631af47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f3f5dec4734a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aa650a2cff44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9509b93daf46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d2e7b0b60a4b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dcc038242a41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48FC9A-DE39-4F77-AB85-E5C576C31A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DDA9E9C-84D5-48CC-A20F-5B5E349DE4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E4877A-EEC7-44E0-88B6-D88BA4D84F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3AACDC-ED69-4C16-BE10-A1E9AF8054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E8672F-DCBE-4344-89A3-C78909622C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91C9D8-14E7-4BAC-9356-933A590EC2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4AA992-B31A-43EB-B01C-FF2EDFC708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F0F905-6621-4CD7-9337-E66080DA5B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FADEAD-F396-4DAA-9FF5-EDA5B70D83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FA8C52-A2E0-4F0F-9619-1DE229AD3E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7465c796f14ddd" /><Relationship Type="http://schemas.openxmlformats.org/officeDocument/2006/relationships/slideLayout" Target="/ppt/slideLayouts/slideLayout1.xml" Id="Re75e14377bbe4baa" /><Relationship Type="http://schemas.openxmlformats.org/officeDocument/2006/relationships/slideLayout" Target="/ppt/slideLayouts/slideLayout2.xml" Id="R7d73db216c584b3b" /><Relationship Type="http://schemas.openxmlformats.org/officeDocument/2006/relationships/slideLayout" Target="/ppt/slideLayouts/slideLayout3.xml" Id="Rb2e0447785e24dd6" /><Relationship Type="http://schemas.openxmlformats.org/officeDocument/2006/relationships/slideLayout" Target="/ppt/slideLayouts/slideLayout4.xml" Id="Rd2f69655b92b426a" /><Relationship Type="http://schemas.openxmlformats.org/officeDocument/2006/relationships/slideLayout" Target="/ppt/slideLayouts/slideLayout5.xml" Id="R3be7483c3bbd4a91" /><Relationship Type="http://schemas.openxmlformats.org/officeDocument/2006/relationships/slideLayout" Target="/ppt/slideLayouts/slideLayout6.xml" Id="Rdfc6d662845546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5e14377bbe4baa"/>
    <p:sldLayoutId xmlns:r="http://schemas.openxmlformats.org/officeDocument/2006/relationships" id="2147483650" r:id="R7d73db216c584b3b"/>
    <p:sldLayoutId xmlns:r="http://schemas.openxmlformats.org/officeDocument/2006/relationships" id="2147483651" r:id="Rb2e0447785e24dd6"/>
    <p:sldLayoutId xmlns:r="http://schemas.openxmlformats.org/officeDocument/2006/relationships" id="2147483652" r:id="Rd2f69655b92b426a"/>
    <p:sldLayoutId xmlns:r="http://schemas.openxmlformats.org/officeDocument/2006/relationships" id="2147483653" r:id="R3be7483c3bbd4a91"/>
    <p:sldLayoutId xmlns:r="http://schemas.openxmlformats.org/officeDocument/2006/relationships" id="2147483654" r:id="Rdfc6d662845546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d953b57a964a65" /><Relationship Type="http://schemas.openxmlformats.org/officeDocument/2006/relationships/image" Target="/ppt/media/image.png" Id="Re8703ae72fb548cc" /><Relationship Type="http://schemas.openxmlformats.org/officeDocument/2006/relationships/notesSlide" Target="/ppt/notesSlides/notesSlide1.xml" Id="R536e136cf1ae46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d2d71d3c8194726" /><Relationship Type="http://schemas.openxmlformats.org/officeDocument/2006/relationships/image" Target="/ppt/media/image.jpeg" Id="Rcc43c1167dff41b7" /><Relationship Type="http://schemas.openxmlformats.org/officeDocument/2006/relationships/notesSlide" Target="/ppt/notesSlides/notesSlide2.xml" Id="Reeec7b3bb0354b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a0ba075d4c4676" /><Relationship Type="http://schemas.openxmlformats.org/officeDocument/2006/relationships/notesSlide" Target="/ppt/notesSlides/notesSlide3.xml" Id="R5661ba52ff9e49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89fbae5d3b4a5d" /><Relationship Type="http://schemas.openxmlformats.org/officeDocument/2006/relationships/image" Target="/ppt/media/image2.png" Id="R875aac1a66c14330" /><Relationship Type="http://schemas.openxmlformats.org/officeDocument/2006/relationships/notesSlide" Target="/ppt/notesSlides/notesSlide4.xml" Id="R761a6c4a31cf4e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952ae1739b4527" /><Relationship Type="http://schemas.openxmlformats.org/officeDocument/2006/relationships/notesSlide" Target="/ppt/notesSlides/notesSlide5.xml" Id="R1a6d487e825d49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294d9e4eba4d3d" /><Relationship Type="http://schemas.openxmlformats.org/officeDocument/2006/relationships/notesSlide" Target="/ppt/notesSlides/notesSlide6.xml" Id="R1b25cf60e32c4a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5943ffdb3d14a48" /><Relationship Type="http://schemas.openxmlformats.org/officeDocument/2006/relationships/image" Target="/ppt/media/image3.png" Id="R4875694c9f1c4660" /><Relationship Type="http://schemas.openxmlformats.org/officeDocument/2006/relationships/notesSlide" Target="/ppt/notesSlides/notesSlide7.xml" Id="R6777af764fda46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de76dd3de140c4" /><Relationship Type="http://schemas.openxmlformats.org/officeDocument/2006/relationships/notesSlide" Target="/ppt/notesSlides/notesSlide8.xml" Id="Rda936d1625c142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fb9e69c06b4013" /><Relationship Type="http://schemas.openxmlformats.org/officeDocument/2006/relationships/notesSlide" Target="/ppt/notesSlides/notesSlide9.xml" Id="Rdb6d5a61941441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fd2955c1c94dae" /><Relationship Type="http://schemas.openxmlformats.org/officeDocument/2006/relationships/notesSlide" Target="/ppt/notesSlides/notesSlide10.xml" Id="R8d85232b32a446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3f9486a13c42b3" /><Relationship Type="http://schemas.openxmlformats.org/officeDocument/2006/relationships/hyperlink" Target="http://127.0.0.1:4173/" TargetMode="External" Id="Rb4a29f5e81bb46e2" /><Relationship Type="http://schemas.openxmlformats.org/officeDocument/2006/relationships/image" Target="/ppt/media/image4.png" Id="Rc8ead4e9386a412e" /><Relationship Type="http://schemas.openxmlformats.org/officeDocument/2006/relationships/notesSlide" Target="/ppt/notesSlides/notesSlide11.xml" Id="R6acb3bc2f2d14474" /></Relationships>
</file>

<file path=ppt/slides/slide1.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1" name="brand-wordmark">
            <a:extLst xmlns:a="http://schemas.openxmlformats.org/drawingml/2006/main">
              <a:ext uri="{FF2B5EF4-FFF2-40B4-BE49-F238E27FC236}">
                <a16:creationId xmlns:a16="http://schemas.microsoft.com/office/drawing/2014/main" id="{532B0029-BA61-4519-A95B-F82BC68C6FBE}"/>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D6EE5B47-DDFB-43DB-AB01-5DAF2728C036}"/>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01 / 11</a:t>
            </a:r>
          </a:p>
        </p:txBody>
      </p:sp>
      <p:sp>
        <p:nvSpPr>
          <p:cNvPr id="3" name="section-label">
            <a:extLst xmlns:a="http://schemas.openxmlformats.org/drawingml/2006/main">
              <a:ext uri="{FF2B5EF4-FFF2-40B4-BE49-F238E27FC236}">
                <a16:creationId xmlns:a16="http://schemas.microsoft.com/office/drawing/2014/main" id="{E79E20A5-1F48-44AE-8B35-904C428D2C72}"/>
              </a:ext>
            </a:extLst>
          </p:cNvPr>
          <p:cNvSpPr>
            <a:spLocks xmlns:a="http://schemas.openxmlformats.org/drawingml/2006/main" noGrp="1"/>
          </p:cNvSpPr>
          <p:nvPr/>
        </p:nvSpPr>
        <p:spPr>
          <a:xfrm xmlns:a="http://schemas.openxmlformats.org/drawingml/2006/main">
            <a:off x="7334250" y="3714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BUILDYYC  /  TEAM 5 — CREWYYC</a:t>
            </a:r>
          </a:p>
        </p:txBody>
      </p:sp>
      <p:sp>
        <p:nvSpPr>
          <p:cNvPr id="4" name="hero-surface">
            <a:extLst xmlns:a="http://schemas.openxmlformats.org/drawingml/2006/main">
              <a:ext uri="{FF2B5EF4-FFF2-40B4-BE49-F238E27FC236}">
                <a16:creationId xmlns:a16="http://schemas.microsoft.com/office/drawing/2014/main" id="{0E3879A4-4A4F-404A-B264-613E5B73867D}"/>
              </a:ext>
            </a:extLst>
          </p:cNvPr>
          <p:cNvSpPr>
            <a:spLocks xmlns:a="http://schemas.openxmlformats.org/drawingml/2006/main" noGrp="1"/>
          </p:cNvSpPr>
          <p:nvPr/>
        </p:nvSpPr>
        <p:spPr>
          <a:xfrm xmlns:a="http://schemas.openxmlformats.org/drawingml/2006/main">
            <a:off x="609600" y="1019175"/>
            <a:ext cx="10972800" cy="5029200"/>
          </a:xfrm>
          <a:prstGeom xmlns:a="http://schemas.openxmlformats.org/drawingml/2006/main" prst="roundRect">
            <a:avLst>
              <a:gd name="adj" fmla="val 4545"/>
            </a:avLst>
          </a:prstGeom>
          <a:solidFill xmlns:a="http://schemas.openxmlformats.org/drawingml/2006/main">
            <a:srgbClr val="171717"/>
          </a:solidFill>
          <a:ln xmlns:a="http://schemas.openxmlformats.org/drawingml/2006/main" w="0">
            <a:noFill/>
          </a:ln>
        </p:spPr>
      </p:sp>
      <p:sp>
        <p:nvSpPr>
          <p:cNvPr id="5" name="cover-title">
            <a:extLst xmlns:a="http://schemas.openxmlformats.org/drawingml/2006/main">
              <a:ext uri="{FF2B5EF4-FFF2-40B4-BE49-F238E27FC236}">
                <a16:creationId xmlns:a16="http://schemas.microsoft.com/office/drawing/2014/main" id="{9D8A95EA-7A34-44C7-A9A4-4BDB2D3D2114}"/>
              </a:ext>
            </a:extLst>
          </p:cNvPr>
          <p:cNvSpPr>
            <a:spLocks xmlns:a="http://schemas.openxmlformats.org/drawingml/2006/main" noGrp="1"/>
          </p:cNvSpPr>
          <p:nvPr/>
        </p:nvSpPr>
        <p:spPr>
          <a:xfrm xmlns:a="http://schemas.openxmlformats.org/drawingml/2006/main">
            <a:off x="1028700" y="1619250"/>
            <a:ext cx="6381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0">
                <a:solidFill>
                  <a:srgbClr val="FFFFFF"/>
                </a:solidFill>
                <a:latin typeface="Arial"/>
                <a:ea typeface="Arial"/>
                <a:cs typeface="Arial"/>
              </a:defRPr>
            </a:defPPr>
            <a:lvl1pPr algn="l">
              <a:defRPr sz="5550" b="0">
                <a:solidFill>
                  <a:srgbClr val="FFFFFF"/>
                </a:solidFill>
                <a:latin typeface="Arial"/>
                <a:ea typeface="Arial"/>
                <a:cs typeface="Arial"/>
              </a:defRPr>
            </a:lvl1pPr>
            <a:lvl2pPr algn="l">
              <a:defRPr sz="5550" b="0">
                <a:solidFill>
                  <a:srgbClr val="FFFFFF"/>
                </a:solidFill>
                <a:latin typeface="Arial"/>
                <a:ea typeface="Arial"/>
                <a:cs typeface="Arial"/>
              </a:defRPr>
            </a:lvl2pPr>
            <a:lvl3pPr algn="l">
              <a:defRPr sz="5550" b="0">
                <a:solidFill>
                  <a:srgbClr val="FFFFFF"/>
                </a:solidFill>
                <a:latin typeface="Arial"/>
                <a:ea typeface="Arial"/>
                <a:cs typeface="Arial"/>
              </a:defRPr>
            </a:lvl3pPr>
            <a:lvl4pPr algn="l">
              <a:defRPr sz="5550" b="0">
                <a:solidFill>
                  <a:srgbClr val="FFFFFF"/>
                </a:solidFill>
                <a:latin typeface="Arial"/>
                <a:ea typeface="Arial"/>
                <a:cs typeface="Arial"/>
              </a:defRPr>
            </a:lvl4pPr>
            <a:lvl5pPr algn="l">
              <a:defRPr sz="5550" b="0">
                <a:solidFill>
                  <a:srgbClr val="FFFFFF"/>
                </a:solidFill>
                <a:latin typeface="Arial"/>
                <a:ea typeface="Arial"/>
                <a:cs typeface="Arial"/>
              </a:defRPr>
            </a:lvl5pPr>
            <a:lvl6pPr algn="l">
              <a:defRPr sz="5550" b="0">
                <a:solidFill>
                  <a:srgbClr val="FFFFFF"/>
                </a:solidFill>
                <a:latin typeface="Arial"/>
                <a:ea typeface="Arial"/>
                <a:cs typeface="Arial"/>
              </a:defRPr>
            </a:lvl6pPr>
            <a:lvl7pPr algn="l">
              <a:defRPr sz="5550" b="0">
                <a:solidFill>
                  <a:srgbClr val="FFFFFF"/>
                </a:solidFill>
                <a:latin typeface="Arial"/>
                <a:ea typeface="Arial"/>
                <a:cs typeface="Arial"/>
              </a:defRPr>
            </a:lvl7pPr>
            <a:lvl8pPr algn="l">
              <a:defRPr sz="5550" b="0">
                <a:solidFill>
                  <a:srgbClr val="FFFFFF"/>
                </a:solidFill>
                <a:latin typeface="Arial"/>
                <a:ea typeface="Arial"/>
                <a:cs typeface="Arial"/>
              </a:defRPr>
            </a:lvl8pPr>
            <a:lvl9pPr algn="l">
              <a:defRPr sz="5550" b="0">
                <a:solidFill>
                  <a:srgbClr val="FFFFFF"/>
                </a:solidFill>
                <a:latin typeface="Arial"/>
                <a:ea typeface="Arial"/>
                <a:cs typeface="Arial"/>
              </a:defRPr>
            </a:lvl9pPr>
          </a:lstStyle>
          <a:p xmlns:a="http://schemas.openxmlformats.org/drawingml/2006/main">
            <a:pPr algn="l">
              <a:defRPr sz="5550" b="0">
                <a:solidFill>
                  <a:srgbClr val="FFFFFF"/>
                </a:solidFill>
                <a:latin typeface="Arial"/>
                <a:ea typeface="Arial"/>
                <a:cs typeface="Arial"/>
              </a:defRPr>
            </a:pPr>
            <a:r>
              <a:rPr sz="5550" b="0">
                <a:solidFill>
                  <a:srgbClr val="FFFFFF"/>
                </a:solidFill>
                <a:latin typeface="Arial"/>
                <a:ea typeface="Arial"/>
                <a:cs typeface="Arial"/>
              </a:rPr>
              <a:t>Build a venture.</a:t>
            </a:r>
            <a:br>
              <a:rPr sz="5550" b="0">
                <a:solidFill>
                  <a:srgbClr val="FFFFFF"/>
                </a:solidFill>
                <a:latin typeface="Arial"/>
                <a:ea typeface="Arial"/>
                <a:cs typeface="Arial"/>
              </a:rPr>
            </a:br>
            <a:r>
              <a:rPr sz="5550" b="0">
                <a:solidFill>
                  <a:srgbClr val="FFFFFF"/>
                </a:solidFill>
                <a:latin typeface="Arial"/>
                <a:ea typeface="Arial"/>
                <a:cs typeface="Arial"/>
              </a:rPr>
              <a:t>Launch a career</a:t>
            </a:r>
            <a:r>
              <a:rPr sz="5550" b="0">
                <a:solidFill>
                  <a:srgbClr val="FF6A1F"/>
                </a:solidFill>
                <a:latin typeface="Arial"/>
                <a:ea typeface="Arial"/>
                <a:cs typeface="Arial"/>
              </a:rPr>
              <a:t>.</a:t>
            </a:r>
          </a:p>
        </p:txBody>
      </p:sp>
      <p:sp>
        <p:nvSpPr>
          <p:cNvPr id="6" name="cover-value">
            <a:extLst xmlns:a="http://schemas.openxmlformats.org/drawingml/2006/main">
              <a:ext uri="{FF2B5EF4-FFF2-40B4-BE49-F238E27FC236}">
                <a16:creationId xmlns:a16="http://schemas.microsoft.com/office/drawing/2014/main" id="{AAD7B573-A7DC-43EA-B7B4-70FCA559DAE0}"/>
              </a:ext>
            </a:extLst>
          </p:cNvPr>
          <p:cNvSpPr>
            <a:spLocks xmlns:a="http://schemas.openxmlformats.org/drawingml/2006/main" noGrp="1"/>
          </p:cNvSpPr>
          <p:nvPr/>
        </p:nvSpPr>
        <p:spPr>
          <a:xfrm xmlns:a="http://schemas.openxmlformats.org/drawingml/2006/main">
            <a:off x="1057275" y="3857625"/>
            <a:ext cx="595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E4DFD9"/>
                </a:solidFill>
                <a:latin typeface="Arial"/>
                <a:ea typeface="Arial"/>
                <a:cs typeface="Arial"/>
              </a:defRPr>
            </a:defPPr>
            <a:lvl1pPr algn="l">
              <a:defRPr sz="2250" b="0">
                <a:solidFill>
                  <a:srgbClr val="E4DFD9"/>
                </a:solidFill>
                <a:latin typeface="Arial"/>
                <a:ea typeface="Arial"/>
                <a:cs typeface="Arial"/>
              </a:defRPr>
            </a:lvl1pPr>
            <a:lvl2pPr algn="l">
              <a:defRPr sz="2250" b="0">
                <a:solidFill>
                  <a:srgbClr val="E4DFD9"/>
                </a:solidFill>
                <a:latin typeface="Arial"/>
                <a:ea typeface="Arial"/>
                <a:cs typeface="Arial"/>
              </a:defRPr>
            </a:lvl2pPr>
            <a:lvl3pPr algn="l">
              <a:defRPr sz="2250" b="0">
                <a:solidFill>
                  <a:srgbClr val="E4DFD9"/>
                </a:solidFill>
                <a:latin typeface="Arial"/>
                <a:ea typeface="Arial"/>
                <a:cs typeface="Arial"/>
              </a:defRPr>
            </a:lvl3pPr>
            <a:lvl4pPr algn="l">
              <a:defRPr sz="2250" b="0">
                <a:solidFill>
                  <a:srgbClr val="E4DFD9"/>
                </a:solidFill>
                <a:latin typeface="Arial"/>
                <a:ea typeface="Arial"/>
                <a:cs typeface="Arial"/>
              </a:defRPr>
            </a:lvl4pPr>
            <a:lvl5pPr algn="l">
              <a:defRPr sz="2250" b="0">
                <a:solidFill>
                  <a:srgbClr val="E4DFD9"/>
                </a:solidFill>
                <a:latin typeface="Arial"/>
                <a:ea typeface="Arial"/>
                <a:cs typeface="Arial"/>
              </a:defRPr>
            </a:lvl5pPr>
            <a:lvl6pPr algn="l">
              <a:defRPr sz="2250" b="0">
                <a:solidFill>
                  <a:srgbClr val="E4DFD9"/>
                </a:solidFill>
                <a:latin typeface="Arial"/>
                <a:ea typeface="Arial"/>
                <a:cs typeface="Arial"/>
              </a:defRPr>
            </a:lvl6pPr>
            <a:lvl7pPr algn="l">
              <a:defRPr sz="2250" b="0">
                <a:solidFill>
                  <a:srgbClr val="E4DFD9"/>
                </a:solidFill>
                <a:latin typeface="Arial"/>
                <a:ea typeface="Arial"/>
                <a:cs typeface="Arial"/>
              </a:defRPr>
            </a:lvl7pPr>
            <a:lvl8pPr algn="l">
              <a:defRPr sz="2250" b="0">
                <a:solidFill>
                  <a:srgbClr val="E4DFD9"/>
                </a:solidFill>
                <a:latin typeface="Arial"/>
                <a:ea typeface="Arial"/>
                <a:cs typeface="Arial"/>
              </a:defRPr>
            </a:lvl8pPr>
            <a:lvl9pPr algn="l">
              <a:defRPr sz="2250" b="0">
                <a:solidFill>
                  <a:srgbClr val="E4DFD9"/>
                </a:solidFill>
                <a:latin typeface="Arial"/>
                <a:ea typeface="Arial"/>
                <a:cs typeface="Arial"/>
              </a:defRPr>
            </a:lvl9pPr>
          </a:lstStyle>
          <a:p xmlns:a="http://schemas.openxmlformats.org/drawingml/2006/main">
            <a:pPr algn="l">
              <a:defRPr sz="2250" b="0">
                <a:solidFill>
                  <a:srgbClr val="E4DFD9"/>
                </a:solidFill>
                <a:latin typeface="Arial"/>
                <a:ea typeface="Arial"/>
                <a:cs typeface="Arial"/>
              </a:defRPr>
            </a:pPr>
            <a:r>
              <a:rPr sz="2250" b="0">
                <a:solidFill>
                  <a:srgbClr val="E4DFD9"/>
                </a:solidFill>
                <a:latin typeface="Arial"/>
                <a:ea typeface="Arial"/>
                <a:cs typeface="Arial"/>
              </a:rPr>
              <a:t>Verified builders. Clear terms.</a:t>
            </a:r>
          </a:p>
          <a:p xmlns:a="http://schemas.openxmlformats.org/drawingml/2006/main">
            <a:pPr algn="l">
              <a:defRPr sz="2250" b="0">
                <a:solidFill>
                  <a:srgbClr val="E4DFD9"/>
                </a:solidFill>
                <a:latin typeface="Arial"/>
                <a:ea typeface="Arial"/>
                <a:cs typeface="Arial"/>
              </a:defRPr>
            </a:pPr>
            <a:r>
              <a:rPr sz="2250" b="0">
                <a:solidFill>
                  <a:srgbClr val="E4DFD9"/>
                </a:solidFill>
                <a:latin typeface="Arial"/>
                <a:ea typeface="Arial"/>
                <a:cs typeface="Arial"/>
              </a:rPr>
              <a:t>Shared upside.</a:t>
            </a:r>
          </a:p>
        </p:txBody>
      </p:sp>
      <p:sp>
        <p:nvSpPr>
          <p:cNvPr id="7" name="section-label">
            <a:extLst xmlns:a="http://schemas.openxmlformats.org/drawingml/2006/main">
              <a:ext uri="{FF2B5EF4-FFF2-40B4-BE49-F238E27FC236}">
                <a16:creationId xmlns:a16="http://schemas.microsoft.com/office/drawing/2014/main" id="{7ED268E0-6E20-499B-A844-710F47DFFAD2}"/>
              </a:ext>
            </a:extLst>
          </p:cNvPr>
          <p:cNvSpPr>
            <a:spLocks xmlns:a="http://schemas.openxmlformats.org/drawingml/2006/main" noGrp="1"/>
          </p:cNvSpPr>
          <p:nvPr/>
        </p:nvSpPr>
        <p:spPr>
          <a:xfrm xmlns:a="http://schemas.openxmlformats.org/drawingml/2006/main">
            <a:off x="1057275" y="50292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EC6BC"/>
                </a:solidFill>
                <a:latin typeface="Arial"/>
                <a:ea typeface="Arial"/>
                <a:cs typeface="Arial"/>
              </a:defRPr>
            </a:defPPr>
            <a:lvl1pPr algn="l">
              <a:defRPr sz="1050" b="0">
                <a:solidFill>
                  <a:srgbClr val="CEC6BC"/>
                </a:solidFill>
                <a:latin typeface="Arial"/>
                <a:ea typeface="Arial"/>
                <a:cs typeface="Arial"/>
              </a:defRPr>
            </a:lvl1pPr>
            <a:lvl2pPr algn="l">
              <a:defRPr sz="1050" b="0">
                <a:solidFill>
                  <a:srgbClr val="CEC6BC"/>
                </a:solidFill>
                <a:latin typeface="Arial"/>
                <a:ea typeface="Arial"/>
                <a:cs typeface="Arial"/>
              </a:defRPr>
            </a:lvl2pPr>
            <a:lvl3pPr algn="l">
              <a:defRPr sz="1050" b="0">
                <a:solidFill>
                  <a:srgbClr val="CEC6BC"/>
                </a:solidFill>
                <a:latin typeface="Arial"/>
                <a:ea typeface="Arial"/>
                <a:cs typeface="Arial"/>
              </a:defRPr>
            </a:lvl3pPr>
            <a:lvl4pPr algn="l">
              <a:defRPr sz="1050" b="0">
                <a:solidFill>
                  <a:srgbClr val="CEC6BC"/>
                </a:solidFill>
                <a:latin typeface="Arial"/>
                <a:ea typeface="Arial"/>
                <a:cs typeface="Arial"/>
              </a:defRPr>
            </a:lvl4pPr>
            <a:lvl5pPr algn="l">
              <a:defRPr sz="1050" b="0">
                <a:solidFill>
                  <a:srgbClr val="CEC6BC"/>
                </a:solidFill>
                <a:latin typeface="Arial"/>
                <a:ea typeface="Arial"/>
                <a:cs typeface="Arial"/>
              </a:defRPr>
            </a:lvl5pPr>
            <a:lvl6pPr algn="l">
              <a:defRPr sz="1050" b="0">
                <a:solidFill>
                  <a:srgbClr val="CEC6BC"/>
                </a:solidFill>
                <a:latin typeface="Arial"/>
                <a:ea typeface="Arial"/>
                <a:cs typeface="Arial"/>
              </a:defRPr>
            </a:lvl6pPr>
            <a:lvl7pPr algn="l">
              <a:defRPr sz="1050" b="0">
                <a:solidFill>
                  <a:srgbClr val="CEC6BC"/>
                </a:solidFill>
                <a:latin typeface="Arial"/>
                <a:ea typeface="Arial"/>
                <a:cs typeface="Arial"/>
              </a:defRPr>
            </a:lvl7pPr>
            <a:lvl8pPr algn="l">
              <a:defRPr sz="1050" b="0">
                <a:solidFill>
                  <a:srgbClr val="CEC6BC"/>
                </a:solidFill>
                <a:latin typeface="Arial"/>
                <a:ea typeface="Arial"/>
                <a:cs typeface="Arial"/>
              </a:defRPr>
            </a:lvl8pPr>
            <a:lvl9pPr algn="l">
              <a:defRPr sz="1050" b="0">
                <a:solidFill>
                  <a:srgbClr val="CEC6BC"/>
                </a:solidFill>
                <a:latin typeface="Arial"/>
                <a:ea typeface="Arial"/>
                <a:cs typeface="Arial"/>
              </a:defRPr>
            </a:lvl9pPr>
          </a:lstStyle>
          <a:p xmlns:a="http://schemas.openxmlformats.org/drawingml/2006/main">
            <a:pPr algn="l">
              <a:defRPr sz="1050" b="0">
                <a:solidFill>
                  <a:srgbClr val="CEC6BC"/>
                </a:solidFill>
                <a:latin typeface="Arial"/>
                <a:ea typeface="Arial"/>
                <a:cs typeface="Arial"/>
              </a:defRPr>
            </a:pPr>
            <a:r>
              <a:rPr sz="1050" b="0">
                <a:solidFill>
                  <a:srgbClr val="CEC6BC"/>
                </a:solidFill>
                <a:latin typeface="Arial"/>
                <a:ea typeface="Arial"/>
                <a:cs typeface="Arial"/>
              </a:rPr>
              <a:t>FOUNDERS  ×  BUILDERS  ×  EMERGING TALENT</a:t>
            </a:r>
          </a:p>
        </p:txBody>
      </p:sp>
      <p:sp>
        <p:nvSpPr>
          <p:cNvPr id="8" name="cover-boundary">
            <a:extLst xmlns:a="http://schemas.openxmlformats.org/drawingml/2006/main">
              <a:ext uri="{FF2B5EF4-FFF2-40B4-BE49-F238E27FC236}">
                <a16:creationId xmlns:a16="http://schemas.microsoft.com/office/drawing/2014/main" id="{1B31B06D-FBC1-45B9-8EF8-DD46DA0AD823}"/>
              </a:ext>
            </a:extLst>
          </p:cNvPr>
          <p:cNvSpPr>
            <a:spLocks xmlns:a="http://schemas.openxmlformats.org/drawingml/2006/main" noGrp="1"/>
          </p:cNvSpPr>
          <p:nvPr/>
        </p:nvSpPr>
        <p:spPr>
          <a:xfrm xmlns:a="http://schemas.openxmlformats.org/drawingml/2006/main">
            <a:off x="1057275" y="55149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EC6BC"/>
                </a:solidFill>
                <a:latin typeface="Arial"/>
                <a:ea typeface="Arial"/>
                <a:cs typeface="Arial"/>
              </a:defRPr>
            </a:defPPr>
            <a:lvl1pPr algn="l">
              <a:defRPr sz="1200" b="0">
                <a:solidFill>
                  <a:srgbClr val="CEC6BC"/>
                </a:solidFill>
                <a:latin typeface="Arial"/>
                <a:ea typeface="Arial"/>
                <a:cs typeface="Arial"/>
              </a:defRPr>
            </a:lvl1pPr>
            <a:lvl2pPr algn="l">
              <a:defRPr sz="1200" b="0">
                <a:solidFill>
                  <a:srgbClr val="CEC6BC"/>
                </a:solidFill>
                <a:latin typeface="Arial"/>
                <a:ea typeface="Arial"/>
                <a:cs typeface="Arial"/>
              </a:defRPr>
            </a:lvl2pPr>
            <a:lvl3pPr algn="l">
              <a:defRPr sz="1200" b="0">
                <a:solidFill>
                  <a:srgbClr val="CEC6BC"/>
                </a:solidFill>
                <a:latin typeface="Arial"/>
                <a:ea typeface="Arial"/>
                <a:cs typeface="Arial"/>
              </a:defRPr>
            </a:lvl3pPr>
            <a:lvl4pPr algn="l">
              <a:defRPr sz="1200" b="0">
                <a:solidFill>
                  <a:srgbClr val="CEC6BC"/>
                </a:solidFill>
                <a:latin typeface="Arial"/>
                <a:ea typeface="Arial"/>
                <a:cs typeface="Arial"/>
              </a:defRPr>
            </a:lvl4pPr>
            <a:lvl5pPr algn="l">
              <a:defRPr sz="1200" b="0">
                <a:solidFill>
                  <a:srgbClr val="CEC6BC"/>
                </a:solidFill>
                <a:latin typeface="Arial"/>
                <a:ea typeface="Arial"/>
                <a:cs typeface="Arial"/>
              </a:defRPr>
            </a:lvl5pPr>
            <a:lvl6pPr algn="l">
              <a:defRPr sz="1200" b="0">
                <a:solidFill>
                  <a:srgbClr val="CEC6BC"/>
                </a:solidFill>
                <a:latin typeface="Arial"/>
                <a:ea typeface="Arial"/>
                <a:cs typeface="Arial"/>
              </a:defRPr>
            </a:lvl6pPr>
            <a:lvl7pPr algn="l">
              <a:defRPr sz="1200" b="0">
                <a:solidFill>
                  <a:srgbClr val="CEC6BC"/>
                </a:solidFill>
                <a:latin typeface="Arial"/>
                <a:ea typeface="Arial"/>
                <a:cs typeface="Arial"/>
              </a:defRPr>
            </a:lvl7pPr>
            <a:lvl8pPr algn="l">
              <a:defRPr sz="1200" b="0">
                <a:solidFill>
                  <a:srgbClr val="CEC6BC"/>
                </a:solidFill>
                <a:latin typeface="Arial"/>
                <a:ea typeface="Arial"/>
                <a:cs typeface="Arial"/>
              </a:defRPr>
            </a:lvl8pPr>
            <a:lvl9pPr algn="l">
              <a:defRPr sz="1200" b="0">
                <a:solidFill>
                  <a:srgbClr val="CEC6BC"/>
                </a:solidFill>
                <a:latin typeface="Arial"/>
                <a:ea typeface="Arial"/>
                <a:cs typeface="Arial"/>
              </a:defRPr>
            </a:lvl9pPr>
          </a:lstStyle>
          <a:p xmlns:a="http://schemas.openxmlformats.org/drawingml/2006/main">
            <a:pPr algn="l">
              <a:defRPr sz="1200" b="0">
                <a:solidFill>
                  <a:srgbClr val="CEC6BC"/>
                </a:solidFill>
                <a:latin typeface="Arial"/>
                <a:ea typeface="Arial"/>
                <a:cs typeface="Arial"/>
              </a:defRPr>
            </a:pPr>
            <a:r>
              <a:rPr sz="1200" b="0">
                <a:solidFill>
                  <a:srgbClr val="CEC6BC"/>
                </a:solidFill>
                <a:latin typeface="Arial"/>
                <a:ea typeface="Arial"/>
                <a:cs typeface="Arial"/>
              </a:rPr>
              <a:t>A local prototype with sample partner and verification records</a:t>
            </a:r>
          </a:p>
        </p:txBody>
      </p:sp>
      <p:pic>
        <p:nvPicPr>
          <p:cNvPr id="9" name="">
            <a:extLst xmlns:a="http://schemas.openxmlformats.org/drawingml/2006/main">
              <a:ext uri="{FF2B5EF4-FFF2-40B4-BE49-F238E27FC236}">
                <a16:creationId xmlns:a16="http://schemas.microsoft.com/office/drawing/2014/main" id="{FD464F56-9D3A-4FEE-A477-7480B8EB93EC}"/>
              </a:ext>
            </a:extLst>
          </p:cNvPr>
          <p:cNvPicPr>
            <a:picLocks xmlns:a="http://schemas.openxmlformats.org/drawingml/2006/main" noChangeAspect="1"/>
          </p:cNvPicPr>
          <p:nvPr/>
        </p:nvPicPr>
        <p:blipFill>
          <a:blip xmlns:r="http://schemas.openxmlformats.org/officeDocument/2006/relationships" xmlns:a="http://schemas.openxmlformats.org/drawingml/2006/main" r:embed="Re8703ae72fb548cc"/>
          <a:srcRect xmlns:a="http://schemas.openxmlformats.org/drawingml/2006/main" l="57780" t="25000" r="13890" b="32000"/>
          <a:stretch xmlns:a="http://schemas.openxmlformats.org/drawingml/2006/main"/>
        </p:blipFill>
        <p:spPr>
          <a:xfrm xmlns:a="http://schemas.openxmlformats.org/drawingml/2006/main">
            <a:off x="7810500" y="2133600"/>
            <a:ext cx="3219450" cy="3390900"/>
          </a:xfrm>
          <a:prstGeom xmlns:a="http://schemas.openxmlformats.org/drawingml/2006/main" prst="roundRect">
            <a:avLst>
              <a:gd name="adj" fmla="val 4734"/>
            </a:avLst>
          </a:prstGeom>
        </p:spPr>
      </p:pic>
      <p:sp>
        <p:nvSpPr>
          <p:cNvPr id="10" name="context-note">
            <a:extLst xmlns:a="http://schemas.openxmlformats.org/drawingml/2006/main">
              <a:ext uri="{FF2B5EF4-FFF2-40B4-BE49-F238E27FC236}">
                <a16:creationId xmlns:a16="http://schemas.microsoft.com/office/drawing/2014/main" id="{4E3BB47F-551E-4A2E-AB00-118D27BDB095}"/>
              </a:ext>
            </a:extLst>
          </p:cNvPr>
          <p:cNvSpPr>
            <a:spLocks xmlns:a="http://schemas.openxmlformats.org/drawingml/2006/main" noGrp="1"/>
          </p:cNvSpPr>
          <p:nvPr/>
        </p:nvSpPr>
        <p:spPr>
          <a:xfrm xmlns:a="http://schemas.openxmlformats.org/drawingml/2006/main">
            <a:off x="609600" y="63817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Abdeslem · CK · Michio · Pradeep · Thu</a:t>
            </a:r>
          </a:p>
        </p:txBody>
      </p:sp>
    </p:spTree>
    <p:extLst>
      <p:ext uri="{BB962C8B-B14F-4D97-AF65-F5344CB8AC3E}">
        <p14:creationId xmlns:p14="http://schemas.microsoft.com/office/powerpoint/2010/main" val="809146152"/>
      </p:ext>
    </p:extLst>
  </p:cSld>
</p:sld>
</file>

<file path=ppt/slides/slide2.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4" name="brand-wordmark">
            <a:extLst xmlns:a="http://schemas.openxmlformats.org/drawingml/2006/main">
              <a:ext uri="{FF2B5EF4-FFF2-40B4-BE49-F238E27FC236}">
                <a16:creationId xmlns:a16="http://schemas.microsoft.com/office/drawing/2014/main" id="{0C53F741-BB2C-467A-8942-D2DA558DB38E}"/>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A142D287-D185-4416-860D-746BC93DFE31}"/>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02 / 11</a:t>
            </a:r>
          </a:p>
        </p:txBody>
      </p:sp>
      <p:sp>
        <p:nvSpPr>
          <p:cNvPr id="3" name="slide-title">
            <a:extLst xmlns:a="http://schemas.openxmlformats.org/drawingml/2006/main">
              <a:ext uri="{FF2B5EF4-FFF2-40B4-BE49-F238E27FC236}">
                <a16:creationId xmlns:a16="http://schemas.microsoft.com/office/drawing/2014/main" id="{39F6448E-D8FD-40B8-8AFF-46CA73340119}"/>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The problem</a:t>
            </a:r>
          </a:p>
        </p:txBody>
      </p:sp>
      <p:sp>
        <p:nvSpPr>
          <p:cNvPr id="4" name="text">
            <a:extLst xmlns:a="http://schemas.openxmlformats.org/drawingml/2006/main">
              <a:ext uri="{FF2B5EF4-FFF2-40B4-BE49-F238E27FC236}">
                <a16:creationId xmlns:a16="http://schemas.microsoft.com/office/drawing/2014/main" id="{ED0EE8B8-0241-4382-B1DB-9F4A28AEA037}"/>
              </a:ext>
            </a:extLst>
          </p:cNvPr>
          <p:cNvSpPr>
            <a:spLocks xmlns:a="http://schemas.openxmlformats.org/drawingml/2006/main" noGrp="1"/>
          </p:cNvSpPr>
          <p:nvPr/>
        </p:nvSpPr>
        <p:spPr>
          <a:xfrm xmlns:a="http://schemas.openxmlformats.org/drawingml/2006/main">
            <a:off x="609600" y="2066925"/>
            <a:ext cx="6096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71717"/>
                </a:solidFill>
                <a:latin typeface="Arial"/>
                <a:ea typeface="Arial"/>
                <a:cs typeface="Arial"/>
              </a:defRPr>
            </a:defPPr>
            <a:lvl1pPr algn="l">
              <a:defRPr sz="3450" b="0">
                <a:solidFill>
                  <a:srgbClr val="171717"/>
                </a:solidFill>
                <a:latin typeface="Arial"/>
                <a:ea typeface="Arial"/>
                <a:cs typeface="Arial"/>
              </a:defRPr>
            </a:lvl1pPr>
            <a:lvl2pPr algn="l">
              <a:defRPr sz="3450" b="0">
                <a:solidFill>
                  <a:srgbClr val="171717"/>
                </a:solidFill>
                <a:latin typeface="Arial"/>
                <a:ea typeface="Arial"/>
                <a:cs typeface="Arial"/>
              </a:defRPr>
            </a:lvl2pPr>
            <a:lvl3pPr algn="l">
              <a:defRPr sz="3450" b="0">
                <a:solidFill>
                  <a:srgbClr val="171717"/>
                </a:solidFill>
                <a:latin typeface="Arial"/>
                <a:ea typeface="Arial"/>
                <a:cs typeface="Arial"/>
              </a:defRPr>
            </a:lvl3pPr>
            <a:lvl4pPr algn="l">
              <a:defRPr sz="3450" b="0">
                <a:solidFill>
                  <a:srgbClr val="171717"/>
                </a:solidFill>
                <a:latin typeface="Arial"/>
                <a:ea typeface="Arial"/>
                <a:cs typeface="Arial"/>
              </a:defRPr>
            </a:lvl4pPr>
            <a:lvl5pPr algn="l">
              <a:defRPr sz="3450" b="0">
                <a:solidFill>
                  <a:srgbClr val="171717"/>
                </a:solidFill>
                <a:latin typeface="Arial"/>
                <a:ea typeface="Arial"/>
                <a:cs typeface="Arial"/>
              </a:defRPr>
            </a:lvl5pPr>
            <a:lvl6pPr algn="l">
              <a:defRPr sz="3450" b="0">
                <a:solidFill>
                  <a:srgbClr val="171717"/>
                </a:solidFill>
                <a:latin typeface="Arial"/>
                <a:ea typeface="Arial"/>
                <a:cs typeface="Arial"/>
              </a:defRPr>
            </a:lvl6pPr>
            <a:lvl7pPr algn="l">
              <a:defRPr sz="3450" b="0">
                <a:solidFill>
                  <a:srgbClr val="171717"/>
                </a:solidFill>
                <a:latin typeface="Arial"/>
                <a:ea typeface="Arial"/>
                <a:cs typeface="Arial"/>
              </a:defRPr>
            </a:lvl7pPr>
            <a:lvl8pPr algn="l">
              <a:defRPr sz="3450" b="0">
                <a:solidFill>
                  <a:srgbClr val="171717"/>
                </a:solidFill>
                <a:latin typeface="Arial"/>
                <a:ea typeface="Arial"/>
                <a:cs typeface="Arial"/>
              </a:defRPr>
            </a:lvl8pPr>
            <a:lvl9pPr algn="l">
              <a:defRPr sz="3450" b="0">
                <a:solidFill>
                  <a:srgbClr val="171717"/>
                </a:solidFill>
                <a:latin typeface="Arial"/>
                <a:ea typeface="Arial"/>
                <a:cs typeface="Arial"/>
              </a:defRPr>
            </a:lvl9pPr>
          </a:lstStyle>
          <a:p xmlns:a="http://schemas.openxmlformats.org/drawingml/2006/main">
            <a:pPr algn="l">
              <a:defRPr sz="3450" b="0">
                <a:solidFill>
                  <a:srgbClr val="171717"/>
                </a:solidFill>
                <a:latin typeface="Arial"/>
                <a:ea typeface="Arial"/>
                <a:cs typeface="Arial"/>
              </a:defRPr>
            </a:pPr>
            <a:r>
              <a:rPr sz="3450" b="0">
                <a:solidFill>
                  <a:srgbClr val="171717"/>
                </a:solidFill>
                <a:latin typeface="Arial"/>
                <a:ea typeface="Arial"/>
                <a:cs typeface="Arial"/>
              </a:rPr>
              <a:t>An idea needs a team</a:t>
            </a:r>
          </a:p>
          <a:p xmlns:a="http://schemas.openxmlformats.org/drawingml/2006/main">
            <a:pPr algn="l">
              <a:defRPr sz="3450" b="0">
                <a:solidFill>
                  <a:srgbClr val="171717"/>
                </a:solidFill>
                <a:latin typeface="Arial"/>
                <a:ea typeface="Arial"/>
                <a:cs typeface="Arial"/>
              </a:defRPr>
            </a:pPr>
            <a:r>
              <a:rPr sz="3450" b="0">
                <a:solidFill>
                  <a:srgbClr val="171717"/>
                </a:solidFill>
                <a:latin typeface="Arial"/>
                <a:ea typeface="Arial"/>
                <a:cs typeface="Arial"/>
              </a:rPr>
              <a:t>to become a business</a:t>
            </a:r>
          </a:p>
        </p:txBody>
      </p:sp>
      <p:sp>
        <p:nvSpPr>
          <p:cNvPr id="5" name="text">
            <a:extLst xmlns:a="http://schemas.openxmlformats.org/drawingml/2006/main">
              <a:ext uri="{FF2B5EF4-FFF2-40B4-BE49-F238E27FC236}">
                <a16:creationId xmlns:a16="http://schemas.microsoft.com/office/drawing/2014/main" id="{53ACFF51-59CC-488F-A36D-43BBAC385C49}"/>
              </a:ext>
            </a:extLst>
          </p:cNvPr>
          <p:cNvSpPr>
            <a:spLocks xmlns:a="http://schemas.openxmlformats.org/drawingml/2006/main" noGrp="1"/>
          </p:cNvSpPr>
          <p:nvPr/>
        </p:nvSpPr>
        <p:spPr>
          <a:xfrm xmlns:a="http://schemas.openxmlformats.org/drawingml/2006/main">
            <a:off x="609600" y="3552825"/>
            <a:ext cx="6238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25B54"/>
                </a:solidFill>
                <a:latin typeface="Arial"/>
                <a:ea typeface="Arial"/>
                <a:cs typeface="Arial"/>
              </a:defRPr>
            </a:defPPr>
            <a:lvl1pPr algn="l">
              <a:defRPr sz="2025" b="0">
                <a:solidFill>
                  <a:srgbClr val="625B54"/>
                </a:solidFill>
                <a:latin typeface="Arial"/>
                <a:ea typeface="Arial"/>
                <a:cs typeface="Arial"/>
              </a:defRPr>
            </a:lvl1pPr>
            <a:lvl2pPr algn="l">
              <a:defRPr sz="2025" b="0">
                <a:solidFill>
                  <a:srgbClr val="625B54"/>
                </a:solidFill>
                <a:latin typeface="Arial"/>
                <a:ea typeface="Arial"/>
                <a:cs typeface="Arial"/>
              </a:defRPr>
            </a:lvl2pPr>
            <a:lvl3pPr algn="l">
              <a:defRPr sz="2025" b="0">
                <a:solidFill>
                  <a:srgbClr val="625B54"/>
                </a:solidFill>
                <a:latin typeface="Arial"/>
                <a:ea typeface="Arial"/>
                <a:cs typeface="Arial"/>
              </a:defRPr>
            </a:lvl3pPr>
            <a:lvl4pPr algn="l">
              <a:defRPr sz="2025" b="0">
                <a:solidFill>
                  <a:srgbClr val="625B54"/>
                </a:solidFill>
                <a:latin typeface="Arial"/>
                <a:ea typeface="Arial"/>
                <a:cs typeface="Arial"/>
              </a:defRPr>
            </a:lvl4pPr>
            <a:lvl5pPr algn="l">
              <a:defRPr sz="2025" b="0">
                <a:solidFill>
                  <a:srgbClr val="625B54"/>
                </a:solidFill>
                <a:latin typeface="Arial"/>
                <a:ea typeface="Arial"/>
                <a:cs typeface="Arial"/>
              </a:defRPr>
            </a:lvl5pPr>
            <a:lvl6pPr algn="l">
              <a:defRPr sz="2025" b="0">
                <a:solidFill>
                  <a:srgbClr val="625B54"/>
                </a:solidFill>
                <a:latin typeface="Arial"/>
                <a:ea typeface="Arial"/>
                <a:cs typeface="Arial"/>
              </a:defRPr>
            </a:lvl6pPr>
            <a:lvl7pPr algn="l">
              <a:defRPr sz="2025" b="0">
                <a:solidFill>
                  <a:srgbClr val="625B54"/>
                </a:solidFill>
                <a:latin typeface="Arial"/>
                <a:ea typeface="Arial"/>
                <a:cs typeface="Arial"/>
              </a:defRPr>
            </a:lvl7pPr>
            <a:lvl8pPr algn="l">
              <a:defRPr sz="2025" b="0">
                <a:solidFill>
                  <a:srgbClr val="625B54"/>
                </a:solidFill>
                <a:latin typeface="Arial"/>
                <a:ea typeface="Arial"/>
                <a:cs typeface="Arial"/>
              </a:defRPr>
            </a:lvl8pPr>
            <a:lvl9pPr algn="l">
              <a:defRPr sz="2025" b="0">
                <a:solidFill>
                  <a:srgbClr val="625B54"/>
                </a:solidFill>
                <a:latin typeface="Arial"/>
                <a:ea typeface="Arial"/>
                <a:cs typeface="Arial"/>
              </a:defRPr>
            </a:lvl9pPr>
          </a:lstStyle>
          <a:p xmlns:a="http://schemas.openxmlformats.org/drawingml/2006/main">
            <a:pPr algn="l">
              <a:defRPr sz="2025" b="0">
                <a:solidFill>
                  <a:srgbClr val="625B54"/>
                </a:solidFill>
                <a:latin typeface="Arial"/>
                <a:ea typeface="Arial"/>
                <a:cs typeface="Arial"/>
              </a:defRPr>
            </a:pPr>
            <a:r>
              <a:rPr sz="2025" b="0">
                <a:solidFill>
                  <a:srgbClr val="625B54"/>
                </a:solidFill>
                <a:latin typeface="Arial"/>
                <a:ea typeface="Arial"/>
                <a:cs typeface="Arial"/>
              </a:rPr>
              <a:t>Founders struggle to turn an idea</a:t>
            </a:r>
          </a:p>
          <a:p xmlns:a="http://schemas.openxmlformats.org/drawingml/2006/main">
            <a:pPr algn="l">
              <a:defRPr sz="2025" b="0">
                <a:solidFill>
                  <a:srgbClr val="625B54"/>
                </a:solidFill>
                <a:latin typeface="Arial"/>
                <a:ea typeface="Arial"/>
                <a:cs typeface="Arial"/>
              </a:defRPr>
            </a:pPr>
            <a:r>
              <a:rPr sz="2025" b="0">
                <a:solidFill>
                  <a:srgbClr val="625B54"/>
                </a:solidFill>
                <a:latin typeface="Arial"/>
                <a:ea typeface="Arial"/>
                <a:cs typeface="Arial"/>
              </a:rPr>
              <a:t>into a product when the right people,</a:t>
            </a:r>
          </a:p>
          <a:p xmlns:a="http://schemas.openxmlformats.org/drawingml/2006/main">
            <a:pPr algn="l">
              <a:defRPr sz="2025" b="0">
                <a:solidFill>
                  <a:srgbClr val="625B54"/>
                </a:solidFill>
                <a:latin typeface="Arial"/>
                <a:ea typeface="Arial"/>
                <a:cs typeface="Arial"/>
              </a:defRPr>
            </a:pPr>
            <a:r>
              <a:rPr sz="2025" b="0">
                <a:solidFill>
                  <a:srgbClr val="625B54"/>
                </a:solidFill>
                <a:latin typeface="Arial"/>
                <a:ea typeface="Arial"/>
                <a:cs typeface="Arial"/>
              </a:rPr>
              <a:t>time and commitment are unclear.</a:t>
            </a:r>
          </a:p>
        </p:txBody>
      </p:sp>
      <p:pic>
        <p:nvPicPr>
          <p:cNvPr id="6" name="">
            <a:extLst xmlns:a="http://schemas.openxmlformats.org/drawingml/2006/main">
              <a:ext uri="{FF2B5EF4-FFF2-40B4-BE49-F238E27FC236}">
                <a16:creationId xmlns:a16="http://schemas.microsoft.com/office/drawing/2014/main" id="{E330CFA3-586F-41FE-A5A0-9A15268ED7E8}"/>
              </a:ext>
            </a:extLst>
          </p:cNvPr>
          <p:cNvPicPr>
            <a:picLocks xmlns:a="http://schemas.openxmlformats.org/drawingml/2006/main" noChangeAspect="1"/>
          </p:cNvPicPr>
          <p:nvPr/>
        </p:nvPicPr>
        <p:blipFill>
          <a:blip xmlns:r="http://schemas.openxmlformats.org/officeDocument/2006/relationships" xmlns:a="http://schemas.openxmlformats.org/drawingml/2006/main" r:embed="Rcc43c1167dff41b7"/>
          <a:srcRect xmlns:a="http://schemas.openxmlformats.org/drawingml/2006/main" l="470" t="0" r="470" b="0"/>
          <a:stretch xmlns:a="http://schemas.openxmlformats.org/drawingml/2006/main">
            <a:fillRect l="0" t="0" r="0" b="0"/>
          </a:stretch>
        </p:blipFill>
        <p:spPr>
          <a:xfrm xmlns:a="http://schemas.openxmlformats.org/drawingml/2006/main">
            <a:off x="7296150" y="2019300"/>
            <a:ext cx="4286250" cy="2886075"/>
          </a:xfrm>
          <a:prstGeom xmlns:a="http://schemas.openxmlformats.org/drawingml/2006/main" prst="roundRect">
            <a:avLst>
              <a:gd name="adj" fmla="val 6601"/>
            </a:avLst>
          </a:prstGeom>
        </p:spPr>
      </p:pic>
      <p:sp>
        <p:nvSpPr>
          <p:cNvPr id="7" name="section-label">
            <a:extLst xmlns:a="http://schemas.openxmlformats.org/drawingml/2006/main">
              <a:ext uri="{FF2B5EF4-FFF2-40B4-BE49-F238E27FC236}">
                <a16:creationId xmlns:a16="http://schemas.microsoft.com/office/drawing/2014/main" id="{20BDF3BD-B3FC-48B5-BD4E-CD1913374D76}"/>
              </a:ext>
            </a:extLst>
          </p:cNvPr>
          <p:cNvSpPr>
            <a:spLocks xmlns:a="http://schemas.openxmlformats.org/drawingml/2006/main" noGrp="1"/>
          </p:cNvSpPr>
          <p:nvPr/>
        </p:nvSpPr>
        <p:spPr>
          <a:xfrm xmlns:a="http://schemas.openxmlformats.org/drawingml/2006/main">
            <a:off x="7296150" y="5038725"/>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Illustrative workspace, not the team</a:t>
            </a:r>
          </a:p>
        </p:txBody>
      </p:sp>
      <p:sp>
        <p:nvSpPr>
          <p:cNvPr id="8" name="section-label">
            <a:extLst xmlns:a="http://schemas.openxmlformats.org/drawingml/2006/main">
              <a:ext uri="{FF2B5EF4-FFF2-40B4-BE49-F238E27FC236}">
                <a16:creationId xmlns:a16="http://schemas.microsoft.com/office/drawing/2014/main" id="{0F3B6111-7542-48D4-B107-BEF3497AAB57}"/>
              </a:ext>
            </a:extLst>
          </p:cNvPr>
          <p:cNvSpPr>
            <a:spLocks xmlns:a="http://schemas.openxmlformats.org/drawingml/2006/main" noGrp="1"/>
          </p:cNvSpPr>
          <p:nvPr/>
        </p:nvSpPr>
        <p:spPr>
          <a:xfrm xmlns:a="http://schemas.openxmlformats.org/drawingml/2006/main">
            <a:off x="609600" y="5591175"/>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SEARCH</a:t>
            </a:r>
          </a:p>
        </p:txBody>
      </p:sp>
      <p:sp>
        <p:nvSpPr>
          <p:cNvPr id="9" name="text">
            <a:extLst xmlns:a="http://schemas.openxmlformats.org/drawingml/2006/main">
              <a:ext uri="{FF2B5EF4-FFF2-40B4-BE49-F238E27FC236}">
                <a16:creationId xmlns:a16="http://schemas.microsoft.com/office/drawing/2014/main" id="{07814F15-3AFA-4187-B952-358E2D2A59FD}"/>
              </a:ext>
            </a:extLst>
          </p:cNvPr>
          <p:cNvSpPr>
            <a:spLocks xmlns:a="http://schemas.openxmlformats.org/drawingml/2006/main" noGrp="1"/>
          </p:cNvSpPr>
          <p:nvPr/>
        </p:nvSpPr>
        <p:spPr>
          <a:xfrm xmlns:a="http://schemas.openxmlformats.org/drawingml/2006/main">
            <a:off x="609600" y="59055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Weeks of cold outreach</a:t>
            </a:r>
          </a:p>
        </p:txBody>
      </p:sp>
      <p:sp>
        <p:nvSpPr>
          <p:cNvPr id="10" name="section-label">
            <a:extLst xmlns:a="http://schemas.openxmlformats.org/drawingml/2006/main">
              <a:ext uri="{FF2B5EF4-FFF2-40B4-BE49-F238E27FC236}">
                <a16:creationId xmlns:a16="http://schemas.microsoft.com/office/drawing/2014/main" id="{ED8D0B99-2C09-4DD8-A324-DD9F68E7D471}"/>
              </a:ext>
            </a:extLst>
          </p:cNvPr>
          <p:cNvSpPr>
            <a:spLocks xmlns:a="http://schemas.openxmlformats.org/drawingml/2006/main" noGrp="1"/>
          </p:cNvSpPr>
          <p:nvPr/>
        </p:nvSpPr>
        <p:spPr>
          <a:xfrm xmlns:a="http://schemas.openxmlformats.org/drawingml/2006/main">
            <a:off x="4419600" y="5591175"/>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OPPORTUNITY</a:t>
            </a:r>
          </a:p>
        </p:txBody>
      </p:sp>
      <p:sp>
        <p:nvSpPr>
          <p:cNvPr id="11" name="text">
            <a:extLst xmlns:a="http://schemas.openxmlformats.org/drawingml/2006/main">
              <a:ext uri="{FF2B5EF4-FFF2-40B4-BE49-F238E27FC236}">
                <a16:creationId xmlns:a16="http://schemas.microsoft.com/office/drawing/2014/main" id="{42EE30CD-4440-4AAE-A560-A0276B9A4E33}"/>
              </a:ext>
            </a:extLst>
          </p:cNvPr>
          <p:cNvSpPr>
            <a:spLocks xmlns:a="http://schemas.openxmlformats.org/drawingml/2006/main" noGrp="1"/>
          </p:cNvSpPr>
          <p:nvPr/>
        </p:nvSpPr>
        <p:spPr>
          <a:xfrm xmlns:a="http://schemas.openxmlformats.org/drawingml/2006/main">
            <a:off x="4419600" y="59055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Business potential is lost</a:t>
            </a:r>
          </a:p>
        </p:txBody>
      </p:sp>
      <p:sp>
        <p:nvSpPr>
          <p:cNvPr id="12" name="section-label">
            <a:extLst xmlns:a="http://schemas.openxmlformats.org/drawingml/2006/main">
              <a:ext uri="{FF2B5EF4-FFF2-40B4-BE49-F238E27FC236}">
                <a16:creationId xmlns:a16="http://schemas.microsoft.com/office/drawing/2014/main" id="{1F9CB811-104B-4248-AF75-23963C79E971}"/>
              </a:ext>
            </a:extLst>
          </p:cNvPr>
          <p:cNvSpPr>
            <a:spLocks xmlns:a="http://schemas.openxmlformats.org/drawingml/2006/main" noGrp="1"/>
          </p:cNvSpPr>
          <p:nvPr/>
        </p:nvSpPr>
        <p:spPr>
          <a:xfrm xmlns:a="http://schemas.openxmlformats.org/drawingml/2006/main">
            <a:off x="8229600" y="5591175"/>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CONTINUITY</a:t>
            </a:r>
          </a:p>
        </p:txBody>
      </p:sp>
      <p:sp>
        <p:nvSpPr>
          <p:cNvPr id="13" name="text">
            <a:extLst xmlns:a="http://schemas.openxmlformats.org/drawingml/2006/main">
              <a:ext uri="{FF2B5EF4-FFF2-40B4-BE49-F238E27FC236}">
                <a16:creationId xmlns:a16="http://schemas.microsoft.com/office/drawing/2014/main" id="{2BADBFA8-E1C6-4325-96A8-F83AD4095D61}"/>
              </a:ext>
            </a:extLst>
          </p:cNvPr>
          <p:cNvSpPr>
            <a:spLocks xmlns:a="http://schemas.openxmlformats.org/drawingml/2006/main" noGrp="1"/>
          </p:cNvSpPr>
          <p:nvPr/>
        </p:nvSpPr>
        <p:spPr>
          <a:xfrm xmlns:a="http://schemas.openxmlformats.org/drawingml/2006/main">
            <a:off x="8229600" y="59055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Ideas stall before launch</a:t>
            </a:r>
          </a:p>
        </p:txBody>
      </p:sp>
    </p:spTree>
    <p:extLst>
      <p:ext uri="{BB962C8B-B14F-4D97-AF65-F5344CB8AC3E}">
        <p14:creationId xmlns:p14="http://schemas.microsoft.com/office/powerpoint/2010/main" val="2024833119"/>
      </p:ext>
    </p:extLst>
  </p:cSld>
</p:sld>
</file>

<file path=ppt/slides/slide3.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5" name="brand-wordmark">
            <a:extLst xmlns:a="http://schemas.openxmlformats.org/drawingml/2006/main">
              <a:ext uri="{FF2B5EF4-FFF2-40B4-BE49-F238E27FC236}">
                <a16:creationId xmlns:a16="http://schemas.microsoft.com/office/drawing/2014/main" id="{02B6EE76-0A1A-4567-8215-E28F210F1E09}"/>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7B580610-0389-434D-9E2F-A23F0DB577C7}"/>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03 / 11</a:t>
            </a:r>
          </a:p>
        </p:txBody>
      </p:sp>
      <p:sp>
        <p:nvSpPr>
          <p:cNvPr id="3" name="slide-title">
            <a:extLst xmlns:a="http://schemas.openxmlformats.org/drawingml/2006/main">
              <a:ext uri="{FF2B5EF4-FFF2-40B4-BE49-F238E27FC236}">
                <a16:creationId xmlns:a16="http://schemas.microsoft.com/office/drawing/2014/main" id="{EB940487-5EC3-469C-BB1B-548F3F088CC3}"/>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Who we serve first</a:t>
            </a:r>
          </a:p>
        </p:txBody>
      </p:sp>
      <p:sp>
        <p:nvSpPr>
          <p:cNvPr id="4" name="text">
            <a:extLst xmlns:a="http://schemas.openxmlformats.org/drawingml/2006/main">
              <a:ext uri="{FF2B5EF4-FFF2-40B4-BE49-F238E27FC236}">
                <a16:creationId xmlns:a16="http://schemas.microsoft.com/office/drawing/2014/main" id="{C471DB73-A0F9-4623-9845-190234300301}"/>
              </a:ext>
            </a:extLst>
          </p:cNvPr>
          <p:cNvSpPr>
            <a:spLocks xmlns:a="http://schemas.openxmlformats.org/drawingml/2006/main" noGrp="1"/>
          </p:cNvSpPr>
          <p:nvPr/>
        </p:nvSpPr>
        <p:spPr>
          <a:xfrm xmlns:a="http://schemas.openxmlformats.org/drawingml/2006/main">
            <a:off x="609600" y="2076450"/>
            <a:ext cx="590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171717"/>
                </a:solidFill>
                <a:latin typeface="Arial"/>
                <a:ea typeface="Arial"/>
                <a:cs typeface="Arial"/>
              </a:defRPr>
            </a:defPPr>
            <a:lvl1pPr algn="l">
              <a:defRPr sz="3525" b="0">
                <a:solidFill>
                  <a:srgbClr val="171717"/>
                </a:solidFill>
                <a:latin typeface="Arial"/>
                <a:ea typeface="Arial"/>
                <a:cs typeface="Arial"/>
              </a:defRPr>
            </a:lvl1pPr>
            <a:lvl2pPr algn="l">
              <a:defRPr sz="3525" b="0">
                <a:solidFill>
                  <a:srgbClr val="171717"/>
                </a:solidFill>
                <a:latin typeface="Arial"/>
                <a:ea typeface="Arial"/>
                <a:cs typeface="Arial"/>
              </a:defRPr>
            </a:lvl2pPr>
            <a:lvl3pPr algn="l">
              <a:defRPr sz="3525" b="0">
                <a:solidFill>
                  <a:srgbClr val="171717"/>
                </a:solidFill>
                <a:latin typeface="Arial"/>
                <a:ea typeface="Arial"/>
                <a:cs typeface="Arial"/>
              </a:defRPr>
            </a:lvl3pPr>
            <a:lvl4pPr algn="l">
              <a:defRPr sz="3525" b="0">
                <a:solidFill>
                  <a:srgbClr val="171717"/>
                </a:solidFill>
                <a:latin typeface="Arial"/>
                <a:ea typeface="Arial"/>
                <a:cs typeface="Arial"/>
              </a:defRPr>
            </a:lvl4pPr>
            <a:lvl5pPr algn="l">
              <a:defRPr sz="3525" b="0">
                <a:solidFill>
                  <a:srgbClr val="171717"/>
                </a:solidFill>
                <a:latin typeface="Arial"/>
                <a:ea typeface="Arial"/>
                <a:cs typeface="Arial"/>
              </a:defRPr>
            </a:lvl5pPr>
            <a:lvl6pPr algn="l">
              <a:defRPr sz="3525" b="0">
                <a:solidFill>
                  <a:srgbClr val="171717"/>
                </a:solidFill>
                <a:latin typeface="Arial"/>
                <a:ea typeface="Arial"/>
                <a:cs typeface="Arial"/>
              </a:defRPr>
            </a:lvl6pPr>
            <a:lvl7pPr algn="l">
              <a:defRPr sz="3525" b="0">
                <a:solidFill>
                  <a:srgbClr val="171717"/>
                </a:solidFill>
                <a:latin typeface="Arial"/>
                <a:ea typeface="Arial"/>
                <a:cs typeface="Arial"/>
              </a:defRPr>
            </a:lvl7pPr>
            <a:lvl8pPr algn="l">
              <a:defRPr sz="3525" b="0">
                <a:solidFill>
                  <a:srgbClr val="171717"/>
                </a:solidFill>
                <a:latin typeface="Arial"/>
                <a:ea typeface="Arial"/>
                <a:cs typeface="Arial"/>
              </a:defRPr>
            </a:lvl8pPr>
            <a:lvl9pPr algn="l">
              <a:defRPr sz="3525" b="0">
                <a:solidFill>
                  <a:srgbClr val="171717"/>
                </a:solidFill>
                <a:latin typeface="Arial"/>
                <a:ea typeface="Arial"/>
                <a:cs typeface="Arial"/>
              </a:defRPr>
            </a:lvl9pPr>
          </a:lstStyle>
          <a:p xmlns:a="http://schemas.openxmlformats.org/drawingml/2006/main">
            <a:pPr algn="l">
              <a:defRPr sz="3525" b="0">
                <a:solidFill>
                  <a:srgbClr val="171717"/>
                </a:solidFill>
                <a:latin typeface="Arial"/>
                <a:ea typeface="Arial"/>
                <a:cs typeface="Arial"/>
              </a:defRPr>
            </a:pPr>
            <a:r>
              <a:rPr sz="3525" b="0">
                <a:solidFill>
                  <a:srgbClr val="171717"/>
                </a:solidFill>
                <a:latin typeface="Arial"/>
                <a:ea typeface="Arial"/>
                <a:cs typeface="Arial"/>
              </a:rPr>
              <a:t>Founders with an idea</a:t>
            </a:r>
          </a:p>
          <a:p xmlns:a="http://schemas.openxmlformats.org/drawingml/2006/main">
            <a:pPr algn="l">
              <a:defRPr sz="3525" b="0">
                <a:solidFill>
                  <a:srgbClr val="171717"/>
                </a:solidFill>
                <a:latin typeface="Arial"/>
                <a:ea typeface="Arial"/>
                <a:cs typeface="Arial"/>
              </a:defRPr>
            </a:pPr>
            <a:r>
              <a:rPr sz="3525" b="0">
                <a:solidFill>
                  <a:srgbClr val="171717"/>
                </a:solidFill>
                <a:latin typeface="Arial"/>
                <a:ea typeface="Arial"/>
                <a:cs typeface="Arial"/>
              </a:rPr>
              <a:t>and budget to build.</a:t>
            </a:r>
          </a:p>
        </p:txBody>
      </p:sp>
      <p:sp>
        <p:nvSpPr>
          <p:cNvPr id="5" name="text">
            <a:extLst xmlns:a="http://schemas.openxmlformats.org/drawingml/2006/main">
              <a:ext uri="{FF2B5EF4-FFF2-40B4-BE49-F238E27FC236}">
                <a16:creationId xmlns:a16="http://schemas.microsoft.com/office/drawing/2014/main" id="{FBBD65DD-3682-4625-84D3-03CDCAF267D2}"/>
              </a:ext>
            </a:extLst>
          </p:cNvPr>
          <p:cNvSpPr>
            <a:spLocks xmlns:a="http://schemas.openxmlformats.org/drawingml/2006/main" noGrp="1"/>
          </p:cNvSpPr>
          <p:nvPr/>
        </p:nvSpPr>
        <p:spPr>
          <a:xfrm xmlns:a="http://schemas.openxmlformats.org/drawingml/2006/main">
            <a:off x="609600" y="3724275"/>
            <a:ext cx="5810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25B54"/>
                </a:solidFill>
                <a:latin typeface="Arial"/>
                <a:ea typeface="Arial"/>
                <a:cs typeface="Arial"/>
              </a:defRPr>
            </a:defPPr>
            <a:lvl1pPr algn="l">
              <a:defRPr sz="2100" b="0">
                <a:solidFill>
                  <a:srgbClr val="625B54"/>
                </a:solidFill>
                <a:latin typeface="Arial"/>
                <a:ea typeface="Arial"/>
                <a:cs typeface="Arial"/>
              </a:defRPr>
            </a:lvl1pPr>
            <a:lvl2pPr algn="l">
              <a:defRPr sz="2100" b="0">
                <a:solidFill>
                  <a:srgbClr val="625B54"/>
                </a:solidFill>
                <a:latin typeface="Arial"/>
                <a:ea typeface="Arial"/>
                <a:cs typeface="Arial"/>
              </a:defRPr>
            </a:lvl2pPr>
            <a:lvl3pPr algn="l">
              <a:defRPr sz="2100" b="0">
                <a:solidFill>
                  <a:srgbClr val="625B54"/>
                </a:solidFill>
                <a:latin typeface="Arial"/>
                <a:ea typeface="Arial"/>
                <a:cs typeface="Arial"/>
              </a:defRPr>
            </a:lvl3pPr>
            <a:lvl4pPr algn="l">
              <a:defRPr sz="2100" b="0">
                <a:solidFill>
                  <a:srgbClr val="625B54"/>
                </a:solidFill>
                <a:latin typeface="Arial"/>
                <a:ea typeface="Arial"/>
                <a:cs typeface="Arial"/>
              </a:defRPr>
            </a:lvl4pPr>
            <a:lvl5pPr algn="l">
              <a:defRPr sz="2100" b="0">
                <a:solidFill>
                  <a:srgbClr val="625B54"/>
                </a:solidFill>
                <a:latin typeface="Arial"/>
                <a:ea typeface="Arial"/>
                <a:cs typeface="Arial"/>
              </a:defRPr>
            </a:lvl5pPr>
            <a:lvl6pPr algn="l">
              <a:defRPr sz="2100" b="0">
                <a:solidFill>
                  <a:srgbClr val="625B54"/>
                </a:solidFill>
                <a:latin typeface="Arial"/>
                <a:ea typeface="Arial"/>
                <a:cs typeface="Arial"/>
              </a:defRPr>
            </a:lvl6pPr>
            <a:lvl7pPr algn="l">
              <a:defRPr sz="2100" b="0">
                <a:solidFill>
                  <a:srgbClr val="625B54"/>
                </a:solidFill>
                <a:latin typeface="Arial"/>
                <a:ea typeface="Arial"/>
                <a:cs typeface="Arial"/>
              </a:defRPr>
            </a:lvl7pPr>
            <a:lvl8pPr algn="l">
              <a:defRPr sz="2100" b="0">
                <a:solidFill>
                  <a:srgbClr val="625B54"/>
                </a:solidFill>
                <a:latin typeface="Arial"/>
                <a:ea typeface="Arial"/>
                <a:cs typeface="Arial"/>
              </a:defRPr>
            </a:lvl8pPr>
            <a:lvl9pPr algn="l">
              <a:defRPr sz="2100" b="0">
                <a:solidFill>
                  <a:srgbClr val="625B54"/>
                </a:solidFill>
                <a:latin typeface="Arial"/>
                <a:ea typeface="Arial"/>
                <a:cs typeface="Arial"/>
              </a:defRPr>
            </a:lvl9pPr>
          </a:lstStyle>
          <a:p xmlns:a="http://schemas.openxmlformats.org/drawingml/2006/main">
            <a:pPr algn="l">
              <a:defRPr sz="2100" b="0">
                <a:solidFill>
                  <a:srgbClr val="625B54"/>
                </a:solidFill>
                <a:latin typeface="Arial"/>
                <a:ea typeface="Arial"/>
                <a:cs typeface="Arial"/>
              </a:defRPr>
            </a:pPr>
            <a:r>
              <a:rPr sz="2100" b="0">
                <a:solidFill>
                  <a:srgbClr val="625B54"/>
                </a:solidFill>
                <a:latin typeface="Arial"/>
                <a:ea typeface="Arial"/>
                <a:cs typeface="Arial"/>
              </a:rPr>
              <a:t>Find founders through events,</a:t>
            </a:r>
          </a:p>
          <a:p xmlns:a="http://schemas.openxmlformats.org/drawingml/2006/main">
            <a:pPr algn="l">
              <a:defRPr sz="2100" b="0">
                <a:solidFill>
                  <a:srgbClr val="625B54"/>
                </a:solidFill>
                <a:latin typeface="Arial"/>
                <a:ea typeface="Arial"/>
                <a:cs typeface="Arial"/>
              </a:defRPr>
            </a:pPr>
            <a:r>
              <a:rPr sz="2100" b="0">
                <a:solidFill>
                  <a:srgbClr val="625B54"/>
                </a:solidFill>
                <a:latin typeface="Arial"/>
                <a:ea typeface="Arial"/>
                <a:cs typeface="Arial"/>
              </a:rPr>
              <a:t>accelerators and campus networks.</a:t>
            </a:r>
          </a:p>
        </p:txBody>
      </p:sp>
      <p:sp>
        <p:nvSpPr>
          <p:cNvPr id="6" name="section-label">
            <a:extLst xmlns:a="http://schemas.openxmlformats.org/drawingml/2006/main">
              <a:ext uri="{FF2B5EF4-FFF2-40B4-BE49-F238E27FC236}">
                <a16:creationId xmlns:a16="http://schemas.microsoft.com/office/drawing/2014/main" id="{229A222A-8633-4074-867C-C197FB443A0F}"/>
              </a:ext>
            </a:extLst>
          </p:cNvPr>
          <p:cNvSpPr>
            <a:spLocks xmlns:a="http://schemas.openxmlformats.org/drawingml/2006/main" noGrp="1"/>
          </p:cNvSpPr>
          <p:nvPr/>
        </p:nvSpPr>
        <p:spPr>
          <a:xfrm xmlns:a="http://schemas.openxmlformats.org/drawingml/2006/main">
            <a:off x="609600" y="4953000"/>
            <a:ext cx="585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POTENTIAL PILOT CHANNELS  /  NOT SIGNED PARTNERS</a:t>
            </a:r>
          </a:p>
        </p:txBody>
      </p:sp>
      <p:sp>
        <p:nvSpPr>
          <p:cNvPr id="7" name="text">
            <a:extLst xmlns:a="http://schemas.openxmlformats.org/drawingml/2006/main">
              <a:ext uri="{FF2B5EF4-FFF2-40B4-BE49-F238E27FC236}">
                <a16:creationId xmlns:a16="http://schemas.microsoft.com/office/drawing/2014/main" id="{2081C900-1D1D-49B2-A3D2-AF58905C9F2E}"/>
              </a:ext>
            </a:extLst>
          </p:cNvPr>
          <p:cNvSpPr>
            <a:spLocks xmlns:a="http://schemas.openxmlformats.org/drawingml/2006/main" noGrp="1"/>
          </p:cNvSpPr>
          <p:nvPr/>
        </p:nvSpPr>
        <p:spPr>
          <a:xfrm xmlns:a="http://schemas.openxmlformats.org/drawingml/2006/main">
            <a:off x="609600" y="5314950"/>
            <a:ext cx="581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Platform Calgary · Tech Hub · AI Tinkerers</a:t>
            </a:r>
          </a:p>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University business clubs and mentors</a:t>
            </a:r>
          </a:p>
        </p:txBody>
      </p:sp>
      <p:sp>
        <p:nvSpPr>
          <p:cNvPr id="8" name="audience-surface">
            <a:extLst xmlns:a="http://schemas.openxmlformats.org/drawingml/2006/main">
              <a:ext uri="{FF2B5EF4-FFF2-40B4-BE49-F238E27FC236}">
                <a16:creationId xmlns:a16="http://schemas.microsoft.com/office/drawing/2014/main" id="{7E109CD6-13F6-491B-8D1F-48C2F0A4C88A}"/>
              </a:ext>
            </a:extLst>
          </p:cNvPr>
          <p:cNvSpPr>
            <a:spLocks xmlns:a="http://schemas.openxmlformats.org/drawingml/2006/main" noGrp="1"/>
          </p:cNvSpPr>
          <p:nvPr/>
        </p:nvSpPr>
        <p:spPr>
          <a:xfrm xmlns:a="http://schemas.openxmlformats.org/drawingml/2006/main">
            <a:off x="7172325" y="2047875"/>
            <a:ext cx="4410075" cy="390525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0">
            <a:noFill/>
          </a:ln>
        </p:spPr>
      </p:sp>
      <p:sp>
        <p:nvSpPr>
          <p:cNvPr id="9" name="section-label">
            <a:extLst xmlns:a="http://schemas.openxmlformats.org/drawingml/2006/main">
              <a:ext uri="{FF2B5EF4-FFF2-40B4-BE49-F238E27FC236}">
                <a16:creationId xmlns:a16="http://schemas.microsoft.com/office/drawing/2014/main" id="{E4195FDD-3621-49F9-9360-8DC92011A53C}"/>
              </a:ext>
            </a:extLst>
          </p:cNvPr>
          <p:cNvSpPr>
            <a:spLocks xmlns:a="http://schemas.openxmlformats.org/drawingml/2006/main" noGrp="1"/>
          </p:cNvSpPr>
          <p:nvPr/>
        </p:nvSpPr>
        <p:spPr>
          <a:xfrm xmlns:a="http://schemas.openxmlformats.org/drawingml/2006/main">
            <a:off x="7534275" y="237172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USERS</a:t>
            </a:r>
          </a:p>
        </p:txBody>
      </p:sp>
      <p:sp>
        <p:nvSpPr>
          <p:cNvPr id="10" name="text">
            <a:extLst xmlns:a="http://schemas.openxmlformats.org/drawingml/2006/main">
              <a:ext uri="{FF2B5EF4-FFF2-40B4-BE49-F238E27FC236}">
                <a16:creationId xmlns:a16="http://schemas.microsoft.com/office/drawing/2014/main" id="{76027D59-0929-477C-B1CB-EE78B6A63008}"/>
              </a:ext>
            </a:extLst>
          </p:cNvPr>
          <p:cNvSpPr>
            <a:spLocks xmlns:a="http://schemas.openxmlformats.org/drawingml/2006/main" noGrp="1"/>
          </p:cNvSpPr>
          <p:nvPr/>
        </p:nvSpPr>
        <p:spPr>
          <a:xfrm xmlns:a="http://schemas.openxmlformats.org/drawingml/2006/main">
            <a:off x="7534275" y="2705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1717"/>
                </a:solidFill>
                <a:latin typeface="Arial"/>
                <a:ea typeface="Arial"/>
                <a:cs typeface="Arial"/>
              </a:defRPr>
            </a:defPPr>
            <a:lvl1pPr algn="l">
              <a:defRPr sz="2400" b="0">
                <a:solidFill>
                  <a:srgbClr val="171717"/>
                </a:solidFill>
                <a:latin typeface="Arial"/>
                <a:ea typeface="Arial"/>
                <a:cs typeface="Arial"/>
              </a:defRPr>
            </a:lvl1pPr>
            <a:lvl2pPr algn="l">
              <a:defRPr sz="2400" b="0">
                <a:solidFill>
                  <a:srgbClr val="171717"/>
                </a:solidFill>
                <a:latin typeface="Arial"/>
                <a:ea typeface="Arial"/>
                <a:cs typeface="Arial"/>
              </a:defRPr>
            </a:lvl2pPr>
            <a:lvl3pPr algn="l">
              <a:defRPr sz="2400" b="0">
                <a:solidFill>
                  <a:srgbClr val="171717"/>
                </a:solidFill>
                <a:latin typeface="Arial"/>
                <a:ea typeface="Arial"/>
                <a:cs typeface="Arial"/>
              </a:defRPr>
            </a:lvl3pPr>
            <a:lvl4pPr algn="l">
              <a:defRPr sz="2400" b="0">
                <a:solidFill>
                  <a:srgbClr val="171717"/>
                </a:solidFill>
                <a:latin typeface="Arial"/>
                <a:ea typeface="Arial"/>
                <a:cs typeface="Arial"/>
              </a:defRPr>
            </a:lvl4pPr>
            <a:lvl5pPr algn="l">
              <a:defRPr sz="2400" b="0">
                <a:solidFill>
                  <a:srgbClr val="171717"/>
                </a:solidFill>
                <a:latin typeface="Arial"/>
                <a:ea typeface="Arial"/>
                <a:cs typeface="Arial"/>
              </a:defRPr>
            </a:lvl5pPr>
            <a:lvl6pPr algn="l">
              <a:defRPr sz="2400" b="0">
                <a:solidFill>
                  <a:srgbClr val="171717"/>
                </a:solidFill>
                <a:latin typeface="Arial"/>
                <a:ea typeface="Arial"/>
                <a:cs typeface="Arial"/>
              </a:defRPr>
            </a:lvl6pPr>
            <a:lvl7pPr algn="l">
              <a:defRPr sz="2400" b="0">
                <a:solidFill>
                  <a:srgbClr val="171717"/>
                </a:solidFill>
                <a:latin typeface="Arial"/>
                <a:ea typeface="Arial"/>
                <a:cs typeface="Arial"/>
              </a:defRPr>
            </a:lvl7pPr>
            <a:lvl8pPr algn="l">
              <a:defRPr sz="2400" b="0">
                <a:solidFill>
                  <a:srgbClr val="171717"/>
                </a:solidFill>
                <a:latin typeface="Arial"/>
                <a:ea typeface="Arial"/>
                <a:cs typeface="Arial"/>
              </a:defRPr>
            </a:lvl8pPr>
            <a:lvl9pPr algn="l">
              <a:defRPr sz="2400" b="0">
                <a:solidFill>
                  <a:srgbClr val="171717"/>
                </a:solidFill>
                <a:latin typeface="Arial"/>
                <a:ea typeface="Arial"/>
                <a:cs typeface="Arial"/>
              </a:defRPr>
            </a:lvl9pPr>
          </a:lstStyle>
          <a:p xmlns:a="http://schemas.openxmlformats.org/drawingml/2006/main">
            <a:pPr algn="l">
              <a:defRPr sz="2400" b="0">
                <a:solidFill>
                  <a:srgbClr val="171717"/>
                </a:solidFill>
                <a:latin typeface="Arial"/>
                <a:ea typeface="Arial"/>
                <a:cs typeface="Arial"/>
              </a:defRPr>
            </a:pPr>
            <a:r>
              <a:rPr sz="2400" b="0">
                <a:solidFill>
                  <a:srgbClr val="171717"/>
                </a:solidFill>
                <a:latin typeface="Arial"/>
                <a:ea typeface="Arial"/>
                <a:cs typeface="Arial"/>
              </a:rPr>
              <a:t>Founders + builders</a:t>
            </a:r>
          </a:p>
        </p:txBody>
      </p:sp>
      <p:sp>
        <p:nvSpPr>
          <p:cNvPr id="11" name="text">
            <a:extLst xmlns:a="http://schemas.openxmlformats.org/drawingml/2006/main">
              <a:ext uri="{FF2B5EF4-FFF2-40B4-BE49-F238E27FC236}">
                <a16:creationId xmlns:a16="http://schemas.microsoft.com/office/drawing/2014/main" id="{5705144D-3D54-4056-8861-C81FB98769A4}"/>
              </a:ext>
            </a:extLst>
          </p:cNvPr>
          <p:cNvSpPr>
            <a:spLocks xmlns:a="http://schemas.openxmlformats.org/drawingml/2006/main" noGrp="1"/>
          </p:cNvSpPr>
          <p:nvPr/>
        </p:nvSpPr>
        <p:spPr>
          <a:xfrm xmlns:a="http://schemas.openxmlformats.org/drawingml/2006/main">
            <a:off x="7534275" y="3305175"/>
            <a:ext cx="3695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5B54"/>
                </a:solidFill>
                <a:latin typeface="Arial"/>
                <a:ea typeface="Arial"/>
                <a:cs typeface="Arial"/>
              </a:defRPr>
            </a:defPPr>
            <a:lvl1pPr algn="l">
              <a:defRPr sz="1875" b="0">
                <a:solidFill>
                  <a:srgbClr val="625B54"/>
                </a:solidFill>
                <a:latin typeface="Arial"/>
                <a:ea typeface="Arial"/>
                <a:cs typeface="Arial"/>
              </a:defRPr>
            </a:lvl1pPr>
            <a:lvl2pPr algn="l">
              <a:defRPr sz="1875" b="0">
                <a:solidFill>
                  <a:srgbClr val="625B54"/>
                </a:solidFill>
                <a:latin typeface="Arial"/>
                <a:ea typeface="Arial"/>
                <a:cs typeface="Arial"/>
              </a:defRPr>
            </a:lvl2pPr>
            <a:lvl3pPr algn="l">
              <a:defRPr sz="1875" b="0">
                <a:solidFill>
                  <a:srgbClr val="625B54"/>
                </a:solidFill>
                <a:latin typeface="Arial"/>
                <a:ea typeface="Arial"/>
                <a:cs typeface="Arial"/>
              </a:defRPr>
            </a:lvl3pPr>
            <a:lvl4pPr algn="l">
              <a:defRPr sz="1875" b="0">
                <a:solidFill>
                  <a:srgbClr val="625B54"/>
                </a:solidFill>
                <a:latin typeface="Arial"/>
                <a:ea typeface="Arial"/>
                <a:cs typeface="Arial"/>
              </a:defRPr>
            </a:lvl4pPr>
            <a:lvl5pPr algn="l">
              <a:defRPr sz="1875" b="0">
                <a:solidFill>
                  <a:srgbClr val="625B54"/>
                </a:solidFill>
                <a:latin typeface="Arial"/>
                <a:ea typeface="Arial"/>
                <a:cs typeface="Arial"/>
              </a:defRPr>
            </a:lvl5pPr>
            <a:lvl6pPr algn="l">
              <a:defRPr sz="1875" b="0">
                <a:solidFill>
                  <a:srgbClr val="625B54"/>
                </a:solidFill>
                <a:latin typeface="Arial"/>
                <a:ea typeface="Arial"/>
                <a:cs typeface="Arial"/>
              </a:defRPr>
            </a:lvl6pPr>
            <a:lvl7pPr algn="l">
              <a:defRPr sz="1875" b="0">
                <a:solidFill>
                  <a:srgbClr val="625B54"/>
                </a:solidFill>
                <a:latin typeface="Arial"/>
                <a:ea typeface="Arial"/>
                <a:cs typeface="Arial"/>
              </a:defRPr>
            </a:lvl7pPr>
            <a:lvl8pPr algn="l">
              <a:defRPr sz="1875" b="0">
                <a:solidFill>
                  <a:srgbClr val="625B54"/>
                </a:solidFill>
                <a:latin typeface="Arial"/>
                <a:ea typeface="Arial"/>
                <a:cs typeface="Arial"/>
              </a:defRPr>
            </a:lvl8pPr>
            <a:lvl9pPr algn="l">
              <a:defRPr sz="1875" b="0">
                <a:solidFill>
                  <a:srgbClr val="625B54"/>
                </a:solidFill>
                <a:latin typeface="Arial"/>
                <a:ea typeface="Arial"/>
                <a:cs typeface="Arial"/>
              </a:defRPr>
            </a:lvl9pPr>
          </a:lstStyle>
          <a:p xmlns:a="http://schemas.openxmlformats.org/drawingml/2006/main">
            <a:pPr algn="l">
              <a:defRPr sz="1875" b="0">
                <a:solidFill>
                  <a:srgbClr val="625B54"/>
                </a:solidFill>
                <a:latin typeface="Arial"/>
                <a:ea typeface="Arial"/>
                <a:cs typeface="Arial"/>
              </a:defRPr>
            </a:pPr>
            <a:r>
              <a:rPr sz="1875" b="0">
                <a:solidFill>
                  <a:srgbClr val="625B54"/>
                </a:solidFill>
                <a:latin typeface="Arial"/>
                <a:ea typeface="Arial"/>
                <a:cs typeface="Arial"/>
              </a:rPr>
              <a:t>Build a product, find a first role,</a:t>
            </a:r>
          </a:p>
          <a:p xmlns:a="http://schemas.openxmlformats.org/drawingml/2006/main">
            <a:pPr algn="l">
              <a:defRPr sz="1875" b="0">
                <a:solidFill>
                  <a:srgbClr val="625B54"/>
                </a:solidFill>
                <a:latin typeface="Arial"/>
                <a:ea typeface="Arial"/>
                <a:cs typeface="Arial"/>
              </a:defRPr>
            </a:pPr>
            <a:r>
              <a:rPr sz="1875" b="0">
                <a:solidFill>
                  <a:srgbClr val="625B54"/>
                </a:solidFill>
                <a:latin typeface="Arial"/>
                <a:ea typeface="Arial"/>
                <a:cs typeface="Arial"/>
              </a:rPr>
              <a:t>or grow a long-term team.</a:t>
            </a:r>
          </a:p>
        </p:txBody>
      </p:sp>
      <p:sp>
        <p:nvSpPr>
          <p:cNvPr id="12" name="section-label">
            <a:extLst xmlns:a="http://schemas.openxmlformats.org/drawingml/2006/main">
              <a:ext uri="{FF2B5EF4-FFF2-40B4-BE49-F238E27FC236}">
                <a16:creationId xmlns:a16="http://schemas.microsoft.com/office/drawing/2014/main" id="{7D7DB90A-42B8-4D7A-9E42-D9B1D2CBB970}"/>
              </a:ext>
            </a:extLst>
          </p:cNvPr>
          <p:cNvSpPr>
            <a:spLocks xmlns:a="http://schemas.openxmlformats.org/drawingml/2006/main" noGrp="1"/>
          </p:cNvSpPr>
          <p:nvPr/>
        </p:nvSpPr>
        <p:spPr>
          <a:xfrm xmlns:a="http://schemas.openxmlformats.org/drawingml/2006/main">
            <a:off x="7534275" y="443865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BUYER HYPOTHESIS</a:t>
            </a:r>
          </a:p>
        </p:txBody>
      </p:sp>
      <p:sp>
        <p:nvSpPr>
          <p:cNvPr id="13" name="text">
            <a:extLst xmlns:a="http://schemas.openxmlformats.org/drawingml/2006/main">
              <a:ext uri="{FF2B5EF4-FFF2-40B4-BE49-F238E27FC236}">
                <a16:creationId xmlns:a16="http://schemas.microsoft.com/office/drawing/2014/main" id="{25F9C32E-4ADC-4C9B-90FD-346302489F88}"/>
              </a:ext>
            </a:extLst>
          </p:cNvPr>
          <p:cNvSpPr>
            <a:spLocks xmlns:a="http://schemas.openxmlformats.org/drawingml/2006/main" noGrp="1"/>
          </p:cNvSpPr>
          <p:nvPr/>
        </p:nvSpPr>
        <p:spPr>
          <a:xfrm xmlns:a="http://schemas.openxmlformats.org/drawingml/2006/main">
            <a:off x="7534275" y="4781550"/>
            <a:ext cx="3695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1717"/>
                </a:solidFill>
                <a:latin typeface="Arial"/>
                <a:ea typeface="Arial"/>
                <a:cs typeface="Arial"/>
              </a:defRPr>
            </a:defPPr>
            <a:lvl1pPr algn="l">
              <a:defRPr sz="2400" b="0">
                <a:solidFill>
                  <a:srgbClr val="171717"/>
                </a:solidFill>
                <a:latin typeface="Arial"/>
                <a:ea typeface="Arial"/>
                <a:cs typeface="Arial"/>
              </a:defRPr>
            </a:lvl1pPr>
            <a:lvl2pPr algn="l">
              <a:defRPr sz="2400" b="0">
                <a:solidFill>
                  <a:srgbClr val="171717"/>
                </a:solidFill>
                <a:latin typeface="Arial"/>
                <a:ea typeface="Arial"/>
                <a:cs typeface="Arial"/>
              </a:defRPr>
            </a:lvl2pPr>
            <a:lvl3pPr algn="l">
              <a:defRPr sz="2400" b="0">
                <a:solidFill>
                  <a:srgbClr val="171717"/>
                </a:solidFill>
                <a:latin typeface="Arial"/>
                <a:ea typeface="Arial"/>
                <a:cs typeface="Arial"/>
              </a:defRPr>
            </a:lvl3pPr>
            <a:lvl4pPr algn="l">
              <a:defRPr sz="2400" b="0">
                <a:solidFill>
                  <a:srgbClr val="171717"/>
                </a:solidFill>
                <a:latin typeface="Arial"/>
                <a:ea typeface="Arial"/>
                <a:cs typeface="Arial"/>
              </a:defRPr>
            </a:lvl4pPr>
            <a:lvl5pPr algn="l">
              <a:defRPr sz="2400" b="0">
                <a:solidFill>
                  <a:srgbClr val="171717"/>
                </a:solidFill>
                <a:latin typeface="Arial"/>
                <a:ea typeface="Arial"/>
                <a:cs typeface="Arial"/>
              </a:defRPr>
            </a:lvl5pPr>
            <a:lvl6pPr algn="l">
              <a:defRPr sz="2400" b="0">
                <a:solidFill>
                  <a:srgbClr val="171717"/>
                </a:solidFill>
                <a:latin typeface="Arial"/>
                <a:ea typeface="Arial"/>
                <a:cs typeface="Arial"/>
              </a:defRPr>
            </a:lvl6pPr>
            <a:lvl7pPr algn="l">
              <a:defRPr sz="2400" b="0">
                <a:solidFill>
                  <a:srgbClr val="171717"/>
                </a:solidFill>
                <a:latin typeface="Arial"/>
                <a:ea typeface="Arial"/>
                <a:cs typeface="Arial"/>
              </a:defRPr>
            </a:lvl7pPr>
            <a:lvl8pPr algn="l">
              <a:defRPr sz="2400" b="0">
                <a:solidFill>
                  <a:srgbClr val="171717"/>
                </a:solidFill>
                <a:latin typeface="Arial"/>
                <a:ea typeface="Arial"/>
                <a:cs typeface="Arial"/>
              </a:defRPr>
            </a:lvl8pPr>
            <a:lvl9pPr algn="l">
              <a:defRPr sz="2400" b="0">
                <a:solidFill>
                  <a:srgbClr val="171717"/>
                </a:solidFill>
                <a:latin typeface="Arial"/>
                <a:ea typeface="Arial"/>
                <a:cs typeface="Arial"/>
              </a:defRPr>
            </a:lvl9pPr>
          </a:lstStyle>
          <a:p xmlns:a="http://schemas.openxmlformats.org/drawingml/2006/main">
            <a:pPr algn="l">
              <a:defRPr sz="2400" b="0">
                <a:solidFill>
                  <a:srgbClr val="171717"/>
                </a:solidFill>
                <a:latin typeface="Arial"/>
                <a:ea typeface="Arial"/>
                <a:cs typeface="Arial"/>
              </a:defRPr>
            </a:pPr>
            <a:r>
              <a:rPr sz="2400" b="0">
                <a:solidFill>
                  <a:srgbClr val="171717"/>
                </a:solidFill>
                <a:latin typeface="Arial"/>
                <a:ea typeface="Arial"/>
                <a:cs typeface="Arial"/>
              </a:rPr>
              <a:t>Programme operator</a:t>
            </a:r>
          </a:p>
        </p:txBody>
      </p:sp>
      <p:sp>
        <p:nvSpPr>
          <p:cNvPr id="14" name="text">
            <a:extLst xmlns:a="http://schemas.openxmlformats.org/drawingml/2006/main">
              <a:ext uri="{FF2B5EF4-FFF2-40B4-BE49-F238E27FC236}">
                <a16:creationId xmlns:a16="http://schemas.microsoft.com/office/drawing/2014/main" id="{887AF376-A598-43C2-B0DE-5722D9A2E529}"/>
              </a:ext>
            </a:extLst>
          </p:cNvPr>
          <p:cNvSpPr>
            <a:spLocks xmlns:a="http://schemas.openxmlformats.org/drawingml/2006/main" noGrp="1"/>
          </p:cNvSpPr>
          <p:nvPr/>
        </p:nvSpPr>
        <p:spPr>
          <a:xfrm xmlns:a="http://schemas.openxmlformats.org/drawingml/2006/main">
            <a:off x="7534275" y="5372100"/>
            <a:ext cx="3695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Cohort licence. Builders join free.</a:t>
            </a:r>
          </a:p>
        </p:txBody>
      </p:sp>
    </p:spTree>
    <p:extLst>
      <p:ext uri="{BB962C8B-B14F-4D97-AF65-F5344CB8AC3E}">
        <p14:creationId xmlns:p14="http://schemas.microsoft.com/office/powerpoint/2010/main" val="1651888981"/>
      </p:ext>
    </p:extLst>
  </p:cSld>
</p:sld>
</file>

<file path=ppt/slides/slide4.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8" name="brand-wordmark">
            <a:extLst xmlns:a="http://schemas.openxmlformats.org/drawingml/2006/main">
              <a:ext uri="{FF2B5EF4-FFF2-40B4-BE49-F238E27FC236}">
                <a16:creationId xmlns:a16="http://schemas.microsoft.com/office/drawing/2014/main" id="{6A40BF92-F5F7-4702-B25C-DA897353BEBE}"/>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0FD26A9C-67FA-4956-9C54-14BA86323299}"/>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04 / 11</a:t>
            </a:r>
          </a:p>
        </p:txBody>
      </p:sp>
      <p:sp>
        <p:nvSpPr>
          <p:cNvPr id="3" name="slide-title">
            <a:extLst xmlns:a="http://schemas.openxmlformats.org/drawingml/2006/main">
              <a:ext uri="{FF2B5EF4-FFF2-40B4-BE49-F238E27FC236}">
                <a16:creationId xmlns:a16="http://schemas.microsoft.com/office/drawing/2014/main" id="{2D956F50-7B59-47B4-AE84-9AE45B3CB29D}"/>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Verified teams, clear commitments</a:t>
            </a:r>
          </a:p>
        </p:txBody>
      </p:sp>
      <p:sp>
        <p:nvSpPr>
          <p:cNvPr id="4" name="text">
            <a:extLst xmlns:a="http://schemas.openxmlformats.org/drawingml/2006/main">
              <a:ext uri="{FF2B5EF4-FFF2-40B4-BE49-F238E27FC236}">
                <a16:creationId xmlns:a16="http://schemas.microsoft.com/office/drawing/2014/main" id="{510A5EB1-C481-4D87-8BD1-E8ED5BF25DD2}"/>
              </a:ext>
            </a:extLst>
          </p:cNvPr>
          <p:cNvSpPr>
            <a:spLocks xmlns:a="http://schemas.openxmlformats.org/drawingml/2006/main" noGrp="1"/>
          </p:cNvSpPr>
          <p:nvPr/>
        </p:nvSpPr>
        <p:spPr>
          <a:xfrm xmlns:a="http://schemas.openxmlformats.org/drawingml/2006/main">
            <a:off x="609600" y="2076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5B54"/>
                </a:solidFill>
                <a:latin typeface="Arial"/>
                <a:ea typeface="Arial"/>
                <a:cs typeface="Arial"/>
              </a:defRPr>
            </a:defPPr>
            <a:lvl1pPr algn="l">
              <a:defRPr sz="1875" b="0">
                <a:solidFill>
                  <a:srgbClr val="625B54"/>
                </a:solidFill>
                <a:latin typeface="Arial"/>
                <a:ea typeface="Arial"/>
                <a:cs typeface="Arial"/>
              </a:defRPr>
            </a:lvl1pPr>
            <a:lvl2pPr algn="l">
              <a:defRPr sz="1875" b="0">
                <a:solidFill>
                  <a:srgbClr val="625B54"/>
                </a:solidFill>
                <a:latin typeface="Arial"/>
                <a:ea typeface="Arial"/>
                <a:cs typeface="Arial"/>
              </a:defRPr>
            </a:lvl2pPr>
            <a:lvl3pPr algn="l">
              <a:defRPr sz="1875" b="0">
                <a:solidFill>
                  <a:srgbClr val="625B54"/>
                </a:solidFill>
                <a:latin typeface="Arial"/>
                <a:ea typeface="Arial"/>
                <a:cs typeface="Arial"/>
              </a:defRPr>
            </a:lvl3pPr>
            <a:lvl4pPr algn="l">
              <a:defRPr sz="1875" b="0">
                <a:solidFill>
                  <a:srgbClr val="625B54"/>
                </a:solidFill>
                <a:latin typeface="Arial"/>
                <a:ea typeface="Arial"/>
                <a:cs typeface="Arial"/>
              </a:defRPr>
            </a:lvl4pPr>
            <a:lvl5pPr algn="l">
              <a:defRPr sz="1875" b="0">
                <a:solidFill>
                  <a:srgbClr val="625B54"/>
                </a:solidFill>
                <a:latin typeface="Arial"/>
                <a:ea typeface="Arial"/>
                <a:cs typeface="Arial"/>
              </a:defRPr>
            </a:lvl5pPr>
            <a:lvl6pPr algn="l">
              <a:defRPr sz="1875" b="0">
                <a:solidFill>
                  <a:srgbClr val="625B54"/>
                </a:solidFill>
                <a:latin typeface="Arial"/>
                <a:ea typeface="Arial"/>
                <a:cs typeface="Arial"/>
              </a:defRPr>
            </a:lvl6pPr>
            <a:lvl7pPr algn="l">
              <a:defRPr sz="1875" b="0">
                <a:solidFill>
                  <a:srgbClr val="625B54"/>
                </a:solidFill>
                <a:latin typeface="Arial"/>
                <a:ea typeface="Arial"/>
                <a:cs typeface="Arial"/>
              </a:defRPr>
            </a:lvl7pPr>
            <a:lvl8pPr algn="l">
              <a:defRPr sz="1875" b="0">
                <a:solidFill>
                  <a:srgbClr val="625B54"/>
                </a:solidFill>
                <a:latin typeface="Arial"/>
                <a:ea typeface="Arial"/>
                <a:cs typeface="Arial"/>
              </a:defRPr>
            </a:lvl8pPr>
            <a:lvl9pPr algn="l">
              <a:defRPr sz="1875" b="0">
                <a:solidFill>
                  <a:srgbClr val="625B54"/>
                </a:solidFill>
                <a:latin typeface="Arial"/>
                <a:ea typeface="Arial"/>
                <a:cs typeface="Arial"/>
              </a:defRPr>
            </a:lvl9pPr>
          </a:lstStyle>
          <a:p xmlns:a="http://schemas.openxmlformats.org/drawingml/2006/main">
            <a:pPr algn="l">
              <a:defRPr sz="1875" b="0">
                <a:solidFill>
                  <a:srgbClr val="625B54"/>
                </a:solidFill>
                <a:latin typeface="Arial"/>
                <a:ea typeface="Arial"/>
                <a:cs typeface="Arial"/>
              </a:defRPr>
            </a:pPr>
            <a:r>
              <a:rPr sz="1875" b="0">
                <a:solidFill>
                  <a:srgbClr val="625B54"/>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6FEA9863-08DB-4727-851B-8F55E336B410}"/>
              </a:ext>
            </a:extLst>
          </p:cNvPr>
          <p:cNvSpPr>
            <a:spLocks xmlns:a="http://schemas.openxmlformats.org/drawingml/2006/main" noGrp="1"/>
          </p:cNvSpPr>
          <p:nvPr/>
        </p:nvSpPr>
        <p:spPr>
          <a:xfrm xmlns:a="http://schemas.openxmlformats.org/drawingml/2006/main">
            <a:off x="1428750" y="2047875"/>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Recommend</a:t>
            </a:r>
          </a:p>
        </p:txBody>
      </p:sp>
      <p:sp>
        <p:nvSpPr>
          <p:cNvPr id="6" name="text">
            <a:extLst xmlns:a="http://schemas.openxmlformats.org/drawingml/2006/main">
              <a:ext uri="{FF2B5EF4-FFF2-40B4-BE49-F238E27FC236}">
                <a16:creationId xmlns:a16="http://schemas.microsoft.com/office/drawing/2014/main" id="{2FC9D8BF-038A-4D0E-A7AF-C10B50DD435A}"/>
              </a:ext>
            </a:extLst>
          </p:cNvPr>
          <p:cNvSpPr>
            <a:spLocks xmlns:a="http://schemas.openxmlformats.org/drawingml/2006/main" noGrp="1"/>
          </p:cNvSpPr>
          <p:nvPr/>
        </p:nvSpPr>
        <p:spPr>
          <a:xfrm xmlns:a="http://schemas.openxmlformats.org/drawingml/2006/main">
            <a:off x="1428750" y="2486025"/>
            <a:ext cx="6238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Venture idea → relevant skills, current capacity and preferences.</a:t>
            </a:r>
          </a:p>
        </p:txBody>
      </p:sp>
      <p:sp>
        <p:nvSpPr>
          <p:cNvPr id="7" name="text">
            <a:extLst xmlns:a="http://schemas.openxmlformats.org/drawingml/2006/main">
              <a:ext uri="{FF2B5EF4-FFF2-40B4-BE49-F238E27FC236}">
                <a16:creationId xmlns:a16="http://schemas.microsoft.com/office/drawing/2014/main" id="{CBFC0219-38CA-4398-9DC8-57D1D46BC5EB}"/>
              </a:ext>
            </a:extLst>
          </p:cNvPr>
          <p:cNvSpPr>
            <a:spLocks xmlns:a="http://schemas.openxmlformats.org/drawingml/2006/main" noGrp="1"/>
          </p:cNvSpPr>
          <p:nvPr/>
        </p:nvSpPr>
        <p:spPr>
          <a:xfrm xmlns:a="http://schemas.openxmlformats.org/drawingml/2006/main">
            <a:off x="609600" y="31146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5B54"/>
                </a:solidFill>
                <a:latin typeface="Arial"/>
                <a:ea typeface="Arial"/>
                <a:cs typeface="Arial"/>
              </a:defRPr>
            </a:defPPr>
            <a:lvl1pPr algn="l">
              <a:defRPr sz="1875" b="0">
                <a:solidFill>
                  <a:srgbClr val="625B54"/>
                </a:solidFill>
                <a:latin typeface="Arial"/>
                <a:ea typeface="Arial"/>
                <a:cs typeface="Arial"/>
              </a:defRPr>
            </a:lvl1pPr>
            <a:lvl2pPr algn="l">
              <a:defRPr sz="1875" b="0">
                <a:solidFill>
                  <a:srgbClr val="625B54"/>
                </a:solidFill>
                <a:latin typeface="Arial"/>
                <a:ea typeface="Arial"/>
                <a:cs typeface="Arial"/>
              </a:defRPr>
            </a:lvl2pPr>
            <a:lvl3pPr algn="l">
              <a:defRPr sz="1875" b="0">
                <a:solidFill>
                  <a:srgbClr val="625B54"/>
                </a:solidFill>
                <a:latin typeface="Arial"/>
                <a:ea typeface="Arial"/>
                <a:cs typeface="Arial"/>
              </a:defRPr>
            </a:lvl3pPr>
            <a:lvl4pPr algn="l">
              <a:defRPr sz="1875" b="0">
                <a:solidFill>
                  <a:srgbClr val="625B54"/>
                </a:solidFill>
                <a:latin typeface="Arial"/>
                <a:ea typeface="Arial"/>
                <a:cs typeface="Arial"/>
              </a:defRPr>
            </a:lvl4pPr>
            <a:lvl5pPr algn="l">
              <a:defRPr sz="1875" b="0">
                <a:solidFill>
                  <a:srgbClr val="625B54"/>
                </a:solidFill>
                <a:latin typeface="Arial"/>
                <a:ea typeface="Arial"/>
                <a:cs typeface="Arial"/>
              </a:defRPr>
            </a:lvl5pPr>
            <a:lvl6pPr algn="l">
              <a:defRPr sz="1875" b="0">
                <a:solidFill>
                  <a:srgbClr val="625B54"/>
                </a:solidFill>
                <a:latin typeface="Arial"/>
                <a:ea typeface="Arial"/>
                <a:cs typeface="Arial"/>
              </a:defRPr>
            </a:lvl6pPr>
            <a:lvl7pPr algn="l">
              <a:defRPr sz="1875" b="0">
                <a:solidFill>
                  <a:srgbClr val="625B54"/>
                </a:solidFill>
                <a:latin typeface="Arial"/>
                <a:ea typeface="Arial"/>
                <a:cs typeface="Arial"/>
              </a:defRPr>
            </a:lvl7pPr>
            <a:lvl8pPr algn="l">
              <a:defRPr sz="1875" b="0">
                <a:solidFill>
                  <a:srgbClr val="625B54"/>
                </a:solidFill>
                <a:latin typeface="Arial"/>
                <a:ea typeface="Arial"/>
                <a:cs typeface="Arial"/>
              </a:defRPr>
            </a:lvl8pPr>
            <a:lvl9pPr algn="l">
              <a:defRPr sz="1875" b="0">
                <a:solidFill>
                  <a:srgbClr val="625B54"/>
                </a:solidFill>
                <a:latin typeface="Arial"/>
                <a:ea typeface="Arial"/>
                <a:cs typeface="Arial"/>
              </a:defRPr>
            </a:lvl9pPr>
          </a:lstStyle>
          <a:p xmlns:a="http://schemas.openxmlformats.org/drawingml/2006/main">
            <a:pPr algn="l">
              <a:defRPr sz="1875" b="0">
                <a:solidFill>
                  <a:srgbClr val="625B54"/>
                </a:solidFill>
                <a:latin typeface="Arial"/>
                <a:ea typeface="Arial"/>
                <a:cs typeface="Arial"/>
              </a:defRPr>
            </a:pPr>
            <a:r>
              <a:rPr sz="1875" b="0">
                <a:solidFill>
                  <a:srgbClr val="625B54"/>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8DB914F9-7905-4ACE-9970-BC6C14204D0D}"/>
              </a:ext>
            </a:extLst>
          </p:cNvPr>
          <p:cNvSpPr>
            <a:spLocks xmlns:a="http://schemas.openxmlformats.org/drawingml/2006/main" noGrp="1"/>
          </p:cNvSpPr>
          <p:nvPr/>
        </p:nvSpPr>
        <p:spPr>
          <a:xfrm xmlns:a="http://schemas.openxmlformats.org/drawingml/2006/main">
            <a:off x="1428750" y="30861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Interview</a:t>
            </a:r>
          </a:p>
        </p:txBody>
      </p:sp>
      <p:sp>
        <p:nvSpPr>
          <p:cNvPr id="9" name="text">
            <a:extLst xmlns:a="http://schemas.openxmlformats.org/drawingml/2006/main">
              <a:ext uri="{FF2B5EF4-FFF2-40B4-BE49-F238E27FC236}">
                <a16:creationId xmlns:a16="http://schemas.microsoft.com/office/drawing/2014/main" id="{4362590E-769C-40C9-A04B-C60E057BF90A}"/>
              </a:ext>
            </a:extLst>
          </p:cNvPr>
          <p:cNvSpPr>
            <a:spLocks xmlns:a="http://schemas.openxmlformats.org/drawingml/2006/main" noGrp="1"/>
          </p:cNvSpPr>
          <p:nvPr/>
        </p:nvSpPr>
        <p:spPr>
          <a:xfrm xmlns:a="http://schemas.openxmlformats.org/drawingml/2006/main">
            <a:off x="1428750" y="3524250"/>
            <a:ext cx="6238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Review project evidence, affiliation and mutual fit.</a:t>
            </a:r>
          </a:p>
        </p:txBody>
      </p:sp>
      <p:sp>
        <p:nvSpPr>
          <p:cNvPr id="10" name="text">
            <a:extLst xmlns:a="http://schemas.openxmlformats.org/drawingml/2006/main">
              <a:ext uri="{FF2B5EF4-FFF2-40B4-BE49-F238E27FC236}">
                <a16:creationId xmlns:a16="http://schemas.microsoft.com/office/drawing/2014/main" id="{B7077B90-94F3-4C3E-ABB9-E3681F1A58B4}"/>
              </a:ext>
            </a:extLst>
          </p:cNvPr>
          <p:cNvSpPr>
            <a:spLocks xmlns:a="http://schemas.openxmlformats.org/drawingml/2006/main" noGrp="1"/>
          </p:cNvSpPr>
          <p:nvPr/>
        </p:nvSpPr>
        <p:spPr>
          <a:xfrm xmlns:a="http://schemas.openxmlformats.org/drawingml/2006/main">
            <a:off x="609600" y="41529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5B54"/>
                </a:solidFill>
                <a:latin typeface="Arial"/>
                <a:ea typeface="Arial"/>
                <a:cs typeface="Arial"/>
              </a:defRPr>
            </a:defPPr>
            <a:lvl1pPr algn="l">
              <a:defRPr sz="1875" b="0">
                <a:solidFill>
                  <a:srgbClr val="625B54"/>
                </a:solidFill>
                <a:latin typeface="Arial"/>
                <a:ea typeface="Arial"/>
                <a:cs typeface="Arial"/>
              </a:defRPr>
            </a:lvl1pPr>
            <a:lvl2pPr algn="l">
              <a:defRPr sz="1875" b="0">
                <a:solidFill>
                  <a:srgbClr val="625B54"/>
                </a:solidFill>
                <a:latin typeface="Arial"/>
                <a:ea typeface="Arial"/>
                <a:cs typeface="Arial"/>
              </a:defRPr>
            </a:lvl2pPr>
            <a:lvl3pPr algn="l">
              <a:defRPr sz="1875" b="0">
                <a:solidFill>
                  <a:srgbClr val="625B54"/>
                </a:solidFill>
                <a:latin typeface="Arial"/>
                <a:ea typeface="Arial"/>
                <a:cs typeface="Arial"/>
              </a:defRPr>
            </a:lvl3pPr>
            <a:lvl4pPr algn="l">
              <a:defRPr sz="1875" b="0">
                <a:solidFill>
                  <a:srgbClr val="625B54"/>
                </a:solidFill>
                <a:latin typeface="Arial"/>
                <a:ea typeface="Arial"/>
                <a:cs typeface="Arial"/>
              </a:defRPr>
            </a:lvl4pPr>
            <a:lvl5pPr algn="l">
              <a:defRPr sz="1875" b="0">
                <a:solidFill>
                  <a:srgbClr val="625B54"/>
                </a:solidFill>
                <a:latin typeface="Arial"/>
                <a:ea typeface="Arial"/>
                <a:cs typeface="Arial"/>
              </a:defRPr>
            </a:lvl5pPr>
            <a:lvl6pPr algn="l">
              <a:defRPr sz="1875" b="0">
                <a:solidFill>
                  <a:srgbClr val="625B54"/>
                </a:solidFill>
                <a:latin typeface="Arial"/>
                <a:ea typeface="Arial"/>
                <a:cs typeface="Arial"/>
              </a:defRPr>
            </a:lvl6pPr>
            <a:lvl7pPr algn="l">
              <a:defRPr sz="1875" b="0">
                <a:solidFill>
                  <a:srgbClr val="625B54"/>
                </a:solidFill>
                <a:latin typeface="Arial"/>
                <a:ea typeface="Arial"/>
                <a:cs typeface="Arial"/>
              </a:defRPr>
            </a:lvl7pPr>
            <a:lvl8pPr algn="l">
              <a:defRPr sz="1875" b="0">
                <a:solidFill>
                  <a:srgbClr val="625B54"/>
                </a:solidFill>
                <a:latin typeface="Arial"/>
                <a:ea typeface="Arial"/>
                <a:cs typeface="Arial"/>
              </a:defRPr>
            </a:lvl8pPr>
            <a:lvl9pPr algn="l">
              <a:defRPr sz="1875" b="0">
                <a:solidFill>
                  <a:srgbClr val="625B54"/>
                </a:solidFill>
                <a:latin typeface="Arial"/>
                <a:ea typeface="Arial"/>
                <a:cs typeface="Arial"/>
              </a:defRPr>
            </a:lvl9pPr>
          </a:lstStyle>
          <a:p xmlns:a="http://schemas.openxmlformats.org/drawingml/2006/main">
            <a:pPr algn="l">
              <a:defRPr sz="1875" b="0">
                <a:solidFill>
                  <a:srgbClr val="625B54"/>
                </a:solidFill>
                <a:latin typeface="Arial"/>
                <a:ea typeface="Arial"/>
                <a:cs typeface="Arial"/>
              </a:defRPr>
            </a:pPr>
            <a:r>
              <a:rPr sz="1875" b="0">
                <a:solidFill>
                  <a:srgbClr val="625B54"/>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18454B10-0703-40D4-B129-0EA405092D4C}"/>
              </a:ext>
            </a:extLst>
          </p:cNvPr>
          <p:cNvSpPr>
            <a:spLocks xmlns:a="http://schemas.openxmlformats.org/drawingml/2006/main" noGrp="1"/>
          </p:cNvSpPr>
          <p:nvPr/>
        </p:nvSpPr>
        <p:spPr>
          <a:xfrm xmlns:a="http://schemas.openxmlformats.org/drawingml/2006/main">
            <a:off x="1428750" y="4124325"/>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Agree</a:t>
            </a:r>
          </a:p>
        </p:txBody>
      </p:sp>
      <p:sp>
        <p:nvSpPr>
          <p:cNvPr id="12" name="text">
            <a:extLst xmlns:a="http://schemas.openxmlformats.org/drawingml/2006/main">
              <a:ext uri="{FF2B5EF4-FFF2-40B4-BE49-F238E27FC236}">
                <a16:creationId xmlns:a16="http://schemas.microsoft.com/office/drawing/2014/main" id="{5E7EDB1E-AA48-46F8-9DFA-00645C62A7DE}"/>
              </a:ext>
            </a:extLst>
          </p:cNvPr>
          <p:cNvSpPr>
            <a:spLocks xmlns:a="http://schemas.openxmlformats.org/drawingml/2006/main" noGrp="1"/>
          </p:cNvSpPr>
          <p:nvPr/>
        </p:nvSpPr>
        <p:spPr>
          <a:xfrm xmlns:a="http://schemas.openxmlformats.org/drawingml/2006/main">
            <a:off x="1428750" y="4562475"/>
            <a:ext cx="6238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Paid terms, optional equity and versioned acceptance.</a:t>
            </a:r>
          </a:p>
        </p:txBody>
      </p:sp>
      <p:sp>
        <p:nvSpPr>
          <p:cNvPr id="13" name="text">
            <a:extLst xmlns:a="http://schemas.openxmlformats.org/drawingml/2006/main">
              <a:ext uri="{FF2B5EF4-FFF2-40B4-BE49-F238E27FC236}">
                <a16:creationId xmlns:a16="http://schemas.microsoft.com/office/drawing/2014/main" id="{4638B0E1-010A-48F8-9B32-E5431806AEF9}"/>
              </a:ext>
            </a:extLst>
          </p:cNvPr>
          <p:cNvSpPr>
            <a:spLocks xmlns:a="http://schemas.openxmlformats.org/drawingml/2006/main" noGrp="1"/>
          </p:cNvSpPr>
          <p:nvPr/>
        </p:nvSpPr>
        <p:spPr>
          <a:xfrm xmlns:a="http://schemas.openxmlformats.org/drawingml/2006/main">
            <a:off x="609600" y="51911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5B54"/>
                </a:solidFill>
                <a:latin typeface="Arial"/>
                <a:ea typeface="Arial"/>
                <a:cs typeface="Arial"/>
              </a:defRPr>
            </a:defPPr>
            <a:lvl1pPr algn="l">
              <a:defRPr sz="1875" b="0">
                <a:solidFill>
                  <a:srgbClr val="625B54"/>
                </a:solidFill>
                <a:latin typeface="Arial"/>
                <a:ea typeface="Arial"/>
                <a:cs typeface="Arial"/>
              </a:defRPr>
            </a:lvl1pPr>
            <a:lvl2pPr algn="l">
              <a:defRPr sz="1875" b="0">
                <a:solidFill>
                  <a:srgbClr val="625B54"/>
                </a:solidFill>
                <a:latin typeface="Arial"/>
                <a:ea typeface="Arial"/>
                <a:cs typeface="Arial"/>
              </a:defRPr>
            </a:lvl2pPr>
            <a:lvl3pPr algn="l">
              <a:defRPr sz="1875" b="0">
                <a:solidFill>
                  <a:srgbClr val="625B54"/>
                </a:solidFill>
                <a:latin typeface="Arial"/>
                <a:ea typeface="Arial"/>
                <a:cs typeface="Arial"/>
              </a:defRPr>
            </a:lvl3pPr>
            <a:lvl4pPr algn="l">
              <a:defRPr sz="1875" b="0">
                <a:solidFill>
                  <a:srgbClr val="625B54"/>
                </a:solidFill>
                <a:latin typeface="Arial"/>
                <a:ea typeface="Arial"/>
                <a:cs typeface="Arial"/>
              </a:defRPr>
            </a:lvl4pPr>
            <a:lvl5pPr algn="l">
              <a:defRPr sz="1875" b="0">
                <a:solidFill>
                  <a:srgbClr val="625B54"/>
                </a:solidFill>
                <a:latin typeface="Arial"/>
                <a:ea typeface="Arial"/>
                <a:cs typeface="Arial"/>
              </a:defRPr>
            </a:lvl5pPr>
            <a:lvl6pPr algn="l">
              <a:defRPr sz="1875" b="0">
                <a:solidFill>
                  <a:srgbClr val="625B54"/>
                </a:solidFill>
                <a:latin typeface="Arial"/>
                <a:ea typeface="Arial"/>
                <a:cs typeface="Arial"/>
              </a:defRPr>
            </a:lvl6pPr>
            <a:lvl7pPr algn="l">
              <a:defRPr sz="1875" b="0">
                <a:solidFill>
                  <a:srgbClr val="625B54"/>
                </a:solidFill>
                <a:latin typeface="Arial"/>
                <a:ea typeface="Arial"/>
                <a:cs typeface="Arial"/>
              </a:defRPr>
            </a:lvl7pPr>
            <a:lvl8pPr algn="l">
              <a:defRPr sz="1875" b="0">
                <a:solidFill>
                  <a:srgbClr val="625B54"/>
                </a:solidFill>
                <a:latin typeface="Arial"/>
                <a:ea typeface="Arial"/>
                <a:cs typeface="Arial"/>
              </a:defRPr>
            </a:lvl8pPr>
            <a:lvl9pPr algn="l">
              <a:defRPr sz="1875" b="0">
                <a:solidFill>
                  <a:srgbClr val="625B54"/>
                </a:solidFill>
                <a:latin typeface="Arial"/>
                <a:ea typeface="Arial"/>
                <a:cs typeface="Arial"/>
              </a:defRPr>
            </a:lvl9pPr>
          </a:lstStyle>
          <a:p xmlns:a="http://schemas.openxmlformats.org/drawingml/2006/main">
            <a:pPr algn="l">
              <a:defRPr sz="1875" b="0">
                <a:solidFill>
                  <a:srgbClr val="625B54"/>
                </a:solidFill>
                <a:latin typeface="Arial"/>
                <a:ea typeface="Arial"/>
                <a:cs typeface="Arial"/>
              </a:defRPr>
            </a:pPr>
            <a:r>
              <a:rPr sz="1875" b="0">
                <a:solidFill>
                  <a:srgbClr val="625B54"/>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F0A50FBD-8D64-4062-B844-1C5ABDE3A3D4}"/>
              </a:ext>
            </a:extLst>
          </p:cNvPr>
          <p:cNvSpPr>
            <a:spLocks xmlns:a="http://schemas.openxmlformats.org/drawingml/2006/main" noGrp="1"/>
          </p:cNvSpPr>
          <p:nvPr/>
        </p:nvSpPr>
        <p:spPr>
          <a:xfrm xmlns:a="http://schemas.openxmlformats.org/drawingml/2006/main">
            <a:off x="1428750" y="516255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Grow</a:t>
            </a:r>
          </a:p>
        </p:txBody>
      </p:sp>
      <p:sp>
        <p:nvSpPr>
          <p:cNvPr id="15" name="text">
            <a:extLst xmlns:a="http://schemas.openxmlformats.org/drawingml/2006/main">
              <a:ext uri="{FF2B5EF4-FFF2-40B4-BE49-F238E27FC236}">
                <a16:creationId xmlns:a16="http://schemas.microsoft.com/office/drawing/2014/main" id="{7C7FE9EF-0298-46A2-B88B-6FEAE3375112}"/>
              </a:ext>
            </a:extLst>
          </p:cNvPr>
          <p:cNvSpPr>
            <a:spLocks xmlns:a="http://schemas.openxmlformats.org/drawingml/2006/main" noGrp="1"/>
          </p:cNvSpPr>
          <p:nvPr/>
        </p:nvSpPr>
        <p:spPr>
          <a:xfrm xmlns:a="http://schemas.openxmlformats.org/drawingml/2006/main">
            <a:off x="1428750" y="5600700"/>
            <a:ext cx="6238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Long-term roles and mentored internships.</a:t>
            </a:r>
          </a:p>
        </p:txBody>
      </p:sp>
      <p:pic>
        <p:nvPicPr>
          <p:cNvPr id="16" name="">
            <a:extLst xmlns:a="http://schemas.openxmlformats.org/drawingml/2006/main">
              <a:ext uri="{FF2B5EF4-FFF2-40B4-BE49-F238E27FC236}">
                <a16:creationId xmlns:a16="http://schemas.microsoft.com/office/drawing/2014/main" id="{D6654491-E1BC-4977-8CD5-356E37C9D66F}"/>
              </a:ext>
            </a:extLst>
          </p:cNvPr>
          <p:cNvPicPr>
            <a:picLocks xmlns:a="http://schemas.openxmlformats.org/drawingml/2006/main" noChangeAspect="1"/>
          </p:cNvPicPr>
          <p:nvPr/>
        </p:nvPicPr>
        <p:blipFill>
          <a:blip xmlns:r="http://schemas.openxmlformats.org/officeDocument/2006/relationships" xmlns:a="http://schemas.openxmlformats.org/drawingml/2006/main" r:embed="R875aac1a66c14330"/>
          <a:srcRect xmlns:a="http://schemas.openxmlformats.org/drawingml/2006/main" l="10260" t="13630" r="10260" b="17300"/>
          <a:stretch xmlns:a="http://schemas.openxmlformats.org/drawingml/2006/main"/>
        </p:blipFill>
        <p:spPr>
          <a:xfrm xmlns:a="http://schemas.openxmlformats.org/drawingml/2006/main">
            <a:off x="8572500" y="1962150"/>
            <a:ext cx="2190750" cy="4124325"/>
          </a:xfrm>
          <a:prstGeom xmlns:a="http://schemas.openxmlformats.org/drawingml/2006/main" prst="roundRect">
            <a:avLst>
              <a:gd name="adj" fmla="val 7826"/>
            </a:avLst>
          </a:prstGeom>
        </p:spPr>
      </p:pic>
      <p:sp>
        <p:nvSpPr>
          <p:cNvPr id="17" name="section-label">
            <a:extLst xmlns:a="http://schemas.openxmlformats.org/drawingml/2006/main">
              <a:ext uri="{FF2B5EF4-FFF2-40B4-BE49-F238E27FC236}">
                <a16:creationId xmlns:a16="http://schemas.microsoft.com/office/drawing/2014/main" id="{E3530F3F-7509-4C27-B2FA-EA6B87CB6D47}"/>
              </a:ext>
            </a:extLst>
          </p:cNvPr>
          <p:cNvSpPr>
            <a:spLocks xmlns:a="http://schemas.openxmlformats.org/drawingml/2006/main" noGrp="1"/>
          </p:cNvSpPr>
          <p:nvPr/>
        </p:nvSpPr>
        <p:spPr>
          <a:xfrm xmlns:a="http://schemas.openxmlformats.org/drawingml/2006/main">
            <a:off x="8420100" y="62198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Sample verification dossier</a:t>
            </a:r>
          </a:p>
        </p:txBody>
      </p:sp>
    </p:spTree>
    <p:extLst>
      <p:ext uri="{BB962C8B-B14F-4D97-AF65-F5344CB8AC3E}">
        <p14:creationId xmlns:p14="http://schemas.microsoft.com/office/powerpoint/2010/main" val="1383469200"/>
      </p:ext>
    </p:extLst>
  </p:cSld>
</p:sld>
</file>

<file path=ppt/slides/slide5.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7" name="brand-wordmark">
            <a:extLst xmlns:a="http://schemas.openxmlformats.org/drawingml/2006/main">
              <a:ext uri="{FF2B5EF4-FFF2-40B4-BE49-F238E27FC236}">
                <a16:creationId xmlns:a16="http://schemas.microsoft.com/office/drawing/2014/main" id="{AA7D955F-DADF-4892-B9A6-4725243E43A7}"/>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C08978F5-AE3C-4B64-99C6-C04C47B38D42}"/>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05 / 11</a:t>
            </a:r>
          </a:p>
        </p:txBody>
      </p:sp>
      <p:sp>
        <p:nvSpPr>
          <p:cNvPr id="3" name="slide-title">
            <a:extLst xmlns:a="http://schemas.openxmlformats.org/drawingml/2006/main">
              <a:ext uri="{FF2B5EF4-FFF2-40B4-BE49-F238E27FC236}">
                <a16:creationId xmlns:a16="http://schemas.microsoft.com/office/drawing/2014/main" id="{FD1CC020-8CD8-4E7C-AFF8-E49FE63D2606}"/>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Market opportunity</a:t>
            </a:r>
          </a:p>
        </p:txBody>
      </p:sp>
      <p:sp>
        <p:nvSpPr>
          <p:cNvPr id="4" name="section-label">
            <a:extLst xmlns:a="http://schemas.openxmlformats.org/drawingml/2006/main">
              <a:ext uri="{FF2B5EF4-FFF2-40B4-BE49-F238E27FC236}">
                <a16:creationId xmlns:a16="http://schemas.microsoft.com/office/drawing/2014/main" id="{6C83C182-B48A-44EC-BCD7-C2C7937F0ED2}"/>
              </a:ext>
            </a:extLst>
          </p:cNvPr>
          <p:cNvSpPr>
            <a:spLocks xmlns:a="http://schemas.openxmlformats.org/drawingml/2006/main" noGrp="1"/>
          </p:cNvSpPr>
          <p:nvPr/>
        </p:nvSpPr>
        <p:spPr>
          <a:xfrm xmlns:a="http://schemas.openxmlformats.org/drawingml/2006/main">
            <a:off x="609600" y="18954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LATEST TEAM MODEL  /  UNVALIDATED INPUTS</a:t>
            </a:r>
          </a:p>
        </p:txBody>
      </p:sp>
      <p:sp>
        <p:nvSpPr>
          <p:cNvPr id="5" name="text">
            <a:extLst xmlns:a="http://schemas.openxmlformats.org/drawingml/2006/main">
              <a:ext uri="{FF2B5EF4-FFF2-40B4-BE49-F238E27FC236}">
                <a16:creationId xmlns:a16="http://schemas.microsoft.com/office/drawing/2014/main" id="{B58FFDAF-4496-46F9-9027-729B264B1BD3}"/>
              </a:ext>
            </a:extLst>
          </p:cNvPr>
          <p:cNvSpPr>
            <a:spLocks xmlns:a="http://schemas.openxmlformats.org/drawingml/2006/main" noGrp="1"/>
          </p:cNvSpPr>
          <p:nvPr/>
        </p:nvSpPr>
        <p:spPr>
          <a:xfrm xmlns:a="http://schemas.openxmlformats.org/drawingml/2006/main">
            <a:off x="609600" y="2400300"/>
            <a:ext cx="3381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0">
                <a:solidFill>
                  <a:srgbClr val="171717"/>
                </a:solidFill>
                <a:latin typeface="Arial"/>
                <a:ea typeface="Arial"/>
                <a:cs typeface="Arial"/>
              </a:defRPr>
            </a:defPPr>
            <a:lvl1pPr algn="l">
              <a:defRPr sz="5100" b="0">
                <a:solidFill>
                  <a:srgbClr val="171717"/>
                </a:solidFill>
                <a:latin typeface="Arial"/>
                <a:ea typeface="Arial"/>
                <a:cs typeface="Arial"/>
              </a:defRPr>
            </a:lvl1pPr>
            <a:lvl2pPr algn="l">
              <a:defRPr sz="5100" b="0">
                <a:solidFill>
                  <a:srgbClr val="171717"/>
                </a:solidFill>
                <a:latin typeface="Arial"/>
                <a:ea typeface="Arial"/>
                <a:cs typeface="Arial"/>
              </a:defRPr>
            </a:lvl2pPr>
            <a:lvl3pPr algn="l">
              <a:defRPr sz="5100" b="0">
                <a:solidFill>
                  <a:srgbClr val="171717"/>
                </a:solidFill>
                <a:latin typeface="Arial"/>
                <a:ea typeface="Arial"/>
                <a:cs typeface="Arial"/>
              </a:defRPr>
            </a:lvl3pPr>
            <a:lvl4pPr algn="l">
              <a:defRPr sz="5100" b="0">
                <a:solidFill>
                  <a:srgbClr val="171717"/>
                </a:solidFill>
                <a:latin typeface="Arial"/>
                <a:ea typeface="Arial"/>
                <a:cs typeface="Arial"/>
              </a:defRPr>
            </a:lvl4pPr>
            <a:lvl5pPr algn="l">
              <a:defRPr sz="5100" b="0">
                <a:solidFill>
                  <a:srgbClr val="171717"/>
                </a:solidFill>
                <a:latin typeface="Arial"/>
                <a:ea typeface="Arial"/>
                <a:cs typeface="Arial"/>
              </a:defRPr>
            </a:lvl5pPr>
            <a:lvl6pPr algn="l">
              <a:defRPr sz="5100" b="0">
                <a:solidFill>
                  <a:srgbClr val="171717"/>
                </a:solidFill>
                <a:latin typeface="Arial"/>
                <a:ea typeface="Arial"/>
                <a:cs typeface="Arial"/>
              </a:defRPr>
            </a:lvl6pPr>
            <a:lvl7pPr algn="l">
              <a:defRPr sz="5100" b="0">
                <a:solidFill>
                  <a:srgbClr val="171717"/>
                </a:solidFill>
                <a:latin typeface="Arial"/>
                <a:ea typeface="Arial"/>
                <a:cs typeface="Arial"/>
              </a:defRPr>
            </a:lvl7pPr>
            <a:lvl8pPr algn="l">
              <a:defRPr sz="5100" b="0">
                <a:solidFill>
                  <a:srgbClr val="171717"/>
                </a:solidFill>
                <a:latin typeface="Arial"/>
                <a:ea typeface="Arial"/>
                <a:cs typeface="Arial"/>
              </a:defRPr>
            </a:lvl8pPr>
            <a:lvl9pPr algn="l">
              <a:defRPr sz="5100" b="0">
                <a:solidFill>
                  <a:srgbClr val="171717"/>
                </a:solidFill>
                <a:latin typeface="Arial"/>
                <a:ea typeface="Arial"/>
                <a:cs typeface="Arial"/>
              </a:defRPr>
            </a:lvl9pPr>
          </a:lstStyle>
          <a:p xmlns:a="http://schemas.openxmlformats.org/drawingml/2006/main">
            <a:pPr algn="l">
              <a:defRPr sz="5100" b="0">
                <a:solidFill>
                  <a:srgbClr val="171717"/>
                </a:solidFill>
                <a:latin typeface="Arial"/>
                <a:ea typeface="Arial"/>
                <a:cs typeface="Arial"/>
              </a:defRPr>
            </a:pPr>
            <a:r>
              <a:rPr sz="5100" b="0">
                <a:solidFill>
                  <a:srgbClr val="171717"/>
                </a:solidFill>
                <a:latin typeface="Arial"/>
                <a:ea typeface="Arial"/>
                <a:cs typeface="Arial"/>
              </a:rPr>
              <a:t>~$1.2B</a:t>
            </a:r>
          </a:p>
        </p:txBody>
      </p:sp>
      <p:sp>
        <p:nvSpPr>
          <p:cNvPr id="6" name="text">
            <a:extLst xmlns:a="http://schemas.openxmlformats.org/drawingml/2006/main">
              <a:ext uri="{FF2B5EF4-FFF2-40B4-BE49-F238E27FC236}">
                <a16:creationId xmlns:a16="http://schemas.microsoft.com/office/drawing/2014/main" id="{76D70D0E-4728-4A98-8122-CC9581E4E850}"/>
              </a:ext>
            </a:extLst>
          </p:cNvPr>
          <p:cNvSpPr>
            <a:spLocks xmlns:a="http://schemas.openxmlformats.org/drawingml/2006/main" noGrp="1"/>
          </p:cNvSpPr>
          <p:nvPr/>
        </p:nvSpPr>
        <p:spPr>
          <a:xfrm xmlns:a="http://schemas.openxmlformats.org/drawingml/2006/main">
            <a:off x="609600" y="34766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Canada / draft TAM</a:t>
            </a:r>
          </a:p>
        </p:txBody>
      </p:sp>
      <p:sp>
        <p:nvSpPr>
          <p:cNvPr id="7" name="text">
            <a:extLst xmlns:a="http://schemas.openxmlformats.org/drawingml/2006/main">
              <a:ext uri="{FF2B5EF4-FFF2-40B4-BE49-F238E27FC236}">
                <a16:creationId xmlns:a16="http://schemas.microsoft.com/office/drawing/2014/main" id="{4EB9EFA4-5C34-442D-843E-678D0741D244}"/>
              </a:ext>
            </a:extLst>
          </p:cNvPr>
          <p:cNvSpPr>
            <a:spLocks xmlns:a="http://schemas.openxmlformats.org/drawingml/2006/main" noGrp="1"/>
          </p:cNvSpPr>
          <p:nvPr/>
        </p:nvSpPr>
        <p:spPr>
          <a:xfrm xmlns:a="http://schemas.openxmlformats.org/drawingml/2006/main">
            <a:off x="609600" y="4010025"/>
            <a:ext cx="338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5B54"/>
                </a:solidFill>
                <a:latin typeface="Arial"/>
                <a:ea typeface="Arial"/>
                <a:cs typeface="Arial"/>
              </a:defRPr>
            </a:defPPr>
            <a:lvl1pPr algn="l">
              <a:defRPr sz="1800" b="0">
                <a:solidFill>
                  <a:srgbClr val="625B54"/>
                </a:solidFill>
                <a:latin typeface="Arial"/>
                <a:ea typeface="Arial"/>
                <a:cs typeface="Arial"/>
              </a:defRPr>
            </a:lvl1pPr>
            <a:lvl2pPr algn="l">
              <a:defRPr sz="1800" b="0">
                <a:solidFill>
                  <a:srgbClr val="625B54"/>
                </a:solidFill>
                <a:latin typeface="Arial"/>
                <a:ea typeface="Arial"/>
                <a:cs typeface="Arial"/>
              </a:defRPr>
            </a:lvl2pPr>
            <a:lvl3pPr algn="l">
              <a:defRPr sz="1800" b="0">
                <a:solidFill>
                  <a:srgbClr val="625B54"/>
                </a:solidFill>
                <a:latin typeface="Arial"/>
                <a:ea typeface="Arial"/>
                <a:cs typeface="Arial"/>
              </a:defRPr>
            </a:lvl3pPr>
            <a:lvl4pPr algn="l">
              <a:defRPr sz="1800" b="0">
                <a:solidFill>
                  <a:srgbClr val="625B54"/>
                </a:solidFill>
                <a:latin typeface="Arial"/>
                <a:ea typeface="Arial"/>
                <a:cs typeface="Arial"/>
              </a:defRPr>
            </a:lvl4pPr>
            <a:lvl5pPr algn="l">
              <a:defRPr sz="1800" b="0">
                <a:solidFill>
                  <a:srgbClr val="625B54"/>
                </a:solidFill>
                <a:latin typeface="Arial"/>
                <a:ea typeface="Arial"/>
                <a:cs typeface="Arial"/>
              </a:defRPr>
            </a:lvl5pPr>
            <a:lvl6pPr algn="l">
              <a:defRPr sz="1800" b="0">
                <a:solidFill>
                  <a:srgbClr val="625B54"/>
                </a:solidFill>
                <a:latin typeface="Arial"/>
                <a:ea typeface="Arial"/>
                <a:cs typeface="Arial"/>
              </a:defRPr>
            </a:lvl6pPr>
            <a:lvl7pPr algn="l">
              <a:defRPr sz="1800" b="0">
                <a:solidFill>
                  <a:srgbClr val="625B54"/>
                </a:solidFill>
                <a:latin typeface="Arial"/>
                <a:ea typeface="Arial"/>
                <a:cs typeface="Arial"/>
              </a:defRPr>
            </a:lvl7pPr>
            <a:lvl8pPr algn="l">
              <a:defRPr sz="1800" b="0">
                <a:solidFill>
                  <a:srgbClr val="625B54"/>
                </a:solidFill>
                <a:latin typeface="Arial"/>
                <a:ea typeface="Arial"/>
                <a:cs typeface="Arial"/>
              </a:defRPr>
            </a:lvl8pPr>
            <a:lvl9pPr algn="l">
              <a:defRPr sz="1800" b="0">
                <a:solidFill>
                  <a:srgbClr val="625B54"/>
                </a:solidFill>
                <a:latin typeface="Arial"/>
                <a:ea typeface="Arial"/>
                <a:cs typeface="Arial"/>
              </a:defRPr>
            </a:lvl9pPr>
          </a:lstStyle>
          <a:p xmlns:a="http://schemas.openxmlformats.org/drawingml/2006/main">
            <a:pPr algn="l">
              <a:defRPr sz="1800" b="0">
                <a:solidFill>
                  <a:srgbClr val="625B54"/>
                </a:solidFill>
                <a:latin typeface="Arial"/>
                <a:ea typeface="Arial"/>
                <a:cs typeface="Arial"/>
              </a:defRPr>
            </a:pPr>
            <a:r>
              <a:rPr sz="1800" b="0">
                <a:solidFill>
                  <a:srgbClr val="625B54"/>
                </a:solidFill>
                <a:latin typeface="Arial"/>
                <a:ea typeface="Arial"/>
                <a:cs typeface="Arial"/>
              </a:rPr>
              <a:t>8.4M assumed users</a:t>
            </a:r>
          </a:p>
          <a:p xmlns:a="http://schemas.openxmlformats.org/drawingml/2006/main">
            <a:pPr algn="l">
              <a:defRPr sz="1800" b="0">
                <a:solidFill>
                  <a:srgbClr val="625B54"/>
                </a:solidFill>
                <a:latin typeface="Arial"/>
                <a:ea typeface="Arial"/>
                <a:cs typeface="Arial"/>
              </a:defRPr>
            </a:pPr>
            <a:r>
              <a:rPr sz="1800" b="0">
                <a:solidFill>
                  <a:srgbClr val="625B54"/>
                </a:solidFill>
                <a:latin typeface="Arial"/>
                <a:ea typeface="Arial"/>
                <a:cs typeface="Arial"/>
              </a:rPr>
              <a:t>× $144 per year</a:t>
            </a:r>
          </a:p>
        </p:txBody>
      </p:sp>
      <p:sp>
        <p:nvSpPr>
          <p:cNvPr id="8" name="text">
            <a:extLst xmlns:a="http://schemas.openxmlformats.org/drawingml/2006/main">
              <a:ext uri="{FF2B5EF4-FFF2-40B4-BE49-F238E27FC236}">
                <a16:creationId xmlns:a16="http://schemas.microsoft.com/office/drawing/2014/main" id="{3497F45A-9A55-41BC-B91E-A6D8B398E561}"/>
              </a:ext>
            </a:extLst>
          </p:cNvPr>
          <p:cNvSpPr>
            <a:spLocks xmlns:a="http://schemas.openxmlformats.org/drawingml/2006/main" noGrp="1"/>
          </p:cNvSpPr>
          <p:nvPr/>
        </p:nvSpPr>
        <p:spPr>
          <a:xfrm xmlns:a="http://schemas.openxmlformats.org/drawingml/2006/main">
            <a:off x="4448175" y="2400300"/>
            <a:ext cx="3381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0">
                <a:solidFill>
                  <a:srgbClr val="171717"/>
                </a:solidFill>
                <a:latin typeface="Arial"/>
                <a:ea typeface="Arial"/>
                <a:cs typeface="Arial"/>
              </a:defRPr>
            </a:defPPr>
            <a:lvl1pPr algn="l">
              <a:defRPr sz="5100" b="0">
                <a:solidFill>
                  <a:srgbClr val="171717"/>
                </a:solidFill>
                <a:latin typeface="Arial"/>
                <a:ea typeface="Arial"/>
                <a:cs typeface="Arial"/>
              </a:defRPr>
            </a:lvl1pPr>
            <a:lvl2pPr algn="l">
              <a:defRPr sz="5100" b="0">
                <a:solidFill>
                  <a:srgbClr val="171717"/>
                </a:solidFill>
                <a:latin typeface="Arial"/>
                <a:ea typeface="Arial"/>
                <a:cs typeface="Arial"/>
              </a:defRPr>
            </a:lvl2pPr>
            <a:lvl3pPr algn="l">
              <a:defRPr sz="5100" b="0">
                <a:solidFill>
                  <a:srgbClr val="171717"/>
                </a:solidFill>
                <a:latin typeface="Arial"/>
                <a:ea typeface="Arial"/>
                <a:cs typeface="Arial"/>
              </a:defRPr>
            </a:lvl3pPr>
            <a:lvl4pPr algn="l">
              <a:defRPr sz="5100" b="0">
                <a:solidFill>
                  <a:srgbClr val="171717"/>
                </a:solidFill>
                <a:latin typeface="Arial"/>
                <a:ea typeface="Arial"/>
                <a:cs typeface="Arial"/>
              </a:defRPr>
            </a:lvl4pPr>
            <a:lvl5pPr algn="l">
              <a:defRPr sz="5100" b="0">
                <a:solidFill>
                  <a:srgbClr val="171717"/>
                </a:solidFill>
                <a:latin typeface="Arial"/>
                <a:ea typeface="Arial"/>
                <a:cs typeface="Arial"/>
              </a:defRPr>
            </a:lvl5pPr>
            <a:lvl6pPr algn="l">
              <a:defRPr sz="5100" b="0">
                <a:solidFill>
                  <a:srgbClr val="171717"/>
                </a:solidFill>
                <a:latin typeface="Arial"/>
                <a:ea typeface="Arial"/>
                <a:cs typeface="Arial"/>
              </a:defRPr>
            </a:lvl6pPr>
            <a:lvl7pPr algn="l">
              <a:defRPr sz="5100" b="0">
                <a:solidFill>
                  <a:srgbClr val="171717"/>
                </a:solidFill>
                <a:latin typeface="Arial"/>
                <a:ea typeface="Arial"/>
                <a:cs typeface="Arial"/>
              </a:defRPr>
            </a:lvl7pPr>
            <a:lvl8pPr algn="l">
              <a:defRPr sz="5100" b="0">
                <a:solidFill>
                  <a:srgbClr val="171717"/>
                </a:solidFill>
                <a:latin typeface="Arial"/>
                <a:ea typeface="Arial"/>
                <a:cs typeface="Arial"/>
              </a:defRPr>
            </a:lvl8pPr>
            <a:lvl9pPr algn="l">
              <a:defRPr sz="5100" b="0">
                <a:solidFill>
                  <a:srgbClr val="171717"/>
                </a:solidFill>
                <a:latin typeface="Arial"/>
                <a:ea typeface="Arial"/>
                <a:cs typeface="Arial"/>
              </a:defRPr>
            </a:lvl9pPr>
          </a:lstStyle>
          <a:p xmlns:a="http://schemas.openxmlformats.org/drawingml/2006/main">
            <a:pPr algn="l">
              <a:defRPr sz="5100" b="0">
                <a:solidFill>
                  <a:srgbClr val="171717"/>
                </a:solidFill>
                <a:latin typeface="Arial"/>
                <a:ea typeface="Arial"/>
                <a:cs typeface="Arial"/>
              </a:defRPr>
            </a:pPr>
            <a:r>
              <a:rPr sz="5100" b="0">
                <a:solidFill>
                  <a:srgbClr val="171717"/>
                </a:solidFill>
                <a:latin typeface="Arial"/>
                <a:ea typeface="Arial"/>
                <a:cs typeface="Arial"/>
              </a:rPr>
              <a:t>~$22M</a:t>
            </a:r>
          </a:p>
        </p:txBody>
      </p:sp>
      <p:sp>
        <p:nvSpPr>
          <p:cNvPr id="9" name="text">
            <a:extLst xmlns:a="http://schemas.openxmlformats.org/drawingml/2006/main">
              <a:ext uri="{FF2B5EF4-FFF2-40B4-BE49-F238E27FC236}">
                <a16:creationId xmlns:a16="http://schemas.microsoft.com/office/drawing/2014/main" id="{6B99AD5C-C00D-441C-A278-05955A2562ED}"/>
              </a:ext>
            </a:extLst>
          </p:cNvPr>
          <p:cNvSpPr>
            <a:spLocks xmlns:a="http://schemas.openxmlformats.org/drawingml/2006/main" noGrp="1"/>
          </p:cNvSpPr>
          <p:nvPr/>
        </p:nvSpPr>
        <p:spPr>
          <a:xfrm xmlns:a="http://schemas.openxmlformats.org/drawingml/2006/main">
            <a:off x="4448175" y="34766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Alberta / draft SAM</a:t>
            </a:r>
          </a:p>
        </p:txBody>
      </p:sp>
      <p:sp>
        <p:nvSpPr>
          <p:cNvPr id="10" name="text">
            <a:extLst xmlns:a="http://schemas.openxmlformats.org/drawingml/2006/main">
              <a:ext uri="{FF2B5EF4-FFF2-40B4-BE49-F238E27FC236}">
                <a16:creationId xmlns:a16="http://schemas.microsoft.com/office/drawing/2014/main" id="{28A5A581-6732-476A-81B6-10B378273114}"/>
              </a:ext>
            </a:extLst>
          </p:cNvPr>
          <p:cNvSpPr>
            <a:spLocks xmlns:a="http://schemas.openxmlformats.org/drawingml/2006/main" noGrp="1"/>
          </p:cNvSpPr>
          <p:nvPr/>
        </p:nvSpPr>
        <p:spPr>
          <a:xfrm xmlns:a="http://schemas.openxmlformats.org/drawingml/2006/main">
            <a:off x="4448175" y="4010025"/>
            <a:ext cx="338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5B54"/>
                </a:solidFill>
                <a:latin typeface="Arial"/>
                <a:ea typeface="Arial"/>
                <a:cs typeface="Arial"/>
              </a:defRPr>
            </a:defPPr>
            <a:lvl1pPr algn="l">
              <a:defRPr sz="1800" b="0">
                <a:solidFill>
                  <a:srgbClr val="625B54"/>
                </a:solidFill>
                <a:latin typeface="Arial"/>
                <a:ea typeface="Arial"/>
                <a:cs typeface="Arial"/>
              </a:defRPr>
            </a:lvl1pPr>
            <a:lvl2pPr algn="l">
              <a:defRPr sz="1800" b="0">
                <a:solidFill>
                  <a:srgbClr val="625B54"/>
                </a:solidFill>
                <a:latin typeface="Arial"/>
                <a:ea typeface="Arial"/>
                <a:cs typeface="Arial"/>
              </a:defRPr>
            </a:lvl2pPr>
            <a:lvl3pPr algn="l">
              <a:defRPr sz="1800" b="0">
                <a:solidFill>
                  <a:srgbClr val="625B54"/>
                </a:solidFill>
                <a:latin typeface="Arial"/>
                <a:ea typeface="Arial"/>
                <a:cs typeface="Arial"/>
              </a:defRPr>
            </a:lvl3pPr>
            <a:lvl4pPr algn="l">
              <a:defRPr sz="1800" b="0">
                <a:solidFill>
                  <a:srgbClr val="625B54"/>
                </a:solidFill>
                <a:latin typeface="Arial"/>
                <a:ea typeface="Arial"/>
                <a:cs typeface="Arial"/>
              </a:defRPr>
            </a:lvl4pPr>
            <a:lvl5pPr algn="l">
              <a:defRPr sz="1800" b="0">
                <a:solidFill>
                  <a:srgbClr val="625B54"/>
                </a:solidFill>
                <a:latin typeface="Arial"/>
                <a:ea typeface="Arial"/>
                <a:cs typeface="Arial"/>
              </a:defRPr>
            </a:lvl5pPr>
            <a:lvl6pPr algn="l">
              <a:defRPr sz="1800" b="0">
                <a:solidFill>
                  <a:srgbClr val="625B54"/>
                </a:solidFill>
                <a:latin typeface="Arial"/>
                <a:ea typeface="Arial"/>
                <a:cs typeface="Arial"/>
              </a:defRPr>
            </a:lvl6pPr>
            <a:lvl7pPr algn="l">
              <a:defRPr sz="1800" b="0">
                <a:solidFill>
                  <a:srgbClr val="625B54"/>
                </a:solidFill>
                <a:latin typeface="Arial"/>
                <a:ea typeface="Arial"/>
                <a:cs typeface="Arial"/>
              </a:defRPr>
            </a:lvl7pPr>
            <a:lvl8pPr algn="l">
              <a:defRPr sz="1800" b="0">
                <a:solidFill>
                  <a:srgbClr val="625B54"/>
                </a:solidFill>
                <a:latin typeface="Arial"/>
                <a:ea typeface="Arial"/>
                <a:cs typeface="Arial"/>
              </a:defRPr>
            </a:lvl8pPr>
            <a:lvl9pPr algn="l">
              <a:defRPr sz="1800" b="0">
                <a:solidFill>
                  <a:srgbClr val="625B54"/>
                </a:solidFill>
                <a:latin typeface="Arial"/>
                <a:ea typeface="Arial"/>
                <a:cs typeface="Arial"/>
              </a:defRPr>
            </a:lvl9pPr>
          </a:lstStyle>
          <a:p xmlns:a="http://schemas.openxmlformats.org/drawingml/2006/main">
            <a:pPr algn="l">
              <a:defRPr sz="1800" b="0">
                <a:solidFill>
                  <a:srgbClr val="625B54"/>
                </a:solidFill>
                <a:latin typeface="Arial"/>
                <a:ea typeface="Arial"/>
                <a:cs typeface="Arial"/>
              </a:defRPr>
            </a:pPr>
            <a:r>
              <a:rPr sz="1800" b="0">
                <a:solidFill>
                  <a:srgbClr val="625B54"/>
                </a:solidFill>
                <a:latin typeface="Arial"/>
                <a:ea typeface="Arial"/>
                <a:cs typeface="Arial"/>
              </a:rPr>
              <a:t>153K assumed users</a:t>
            </a:r>
          </a:p>
          <a:p xmlns:a="http://schemas.openxmlformats.org/drawingml/2006/main">
            <a:pPr algn="l">
              <a:defRPr sz="1800" b="0">
                <a:solidFill>
                  <a:srgbClr val="625B54"/>
                </a:solidFill>
                <a:latin typeface="Arial"/>
                <a:ea typeface="Arial"/>
                <a:cs typeface="Arial"/>
              </a:defRPr>
            </a:pPr>
            <a:r>
              <a:rPr sz="1800" b="0">
                <a:solidFill>
                  <a:srgbClr val="625B54"/>
                </a:solidFill>
                <a:latin typeface="Arial"/>
                <a:ea typeface="Arial"/>
                <a:cs typeface="Arial"/>
              </a:rPr>
              <a:t>× $144 per year</a:t>
            </a:r>
          </a:p>
        </p:txBody>
      </p:sp>
      <p:sp>
        <p:nvSpPr>
          <p:cNvPr id="11" name="text">
            <a:extLst xmlns:a="http://schemas.openxmlformats.org/drawingml/2006/main">
              <a:ext uri="{FF2B5EF4-FFF2-40B4-BE49-F238E27FC236}">
                <a16:creationId xmlns:a16="http://schemas.microsoft.com/office/drawing/2014/main" id="{0F6895EF-8A78-4C06-8C09-FDE34017E874}"/>
              </a:ext>
            </a:extLst>
          </p:cNvPr>
          <p:cNvSpPr>
            <a:spLocks xmlns:a="http://schemas.openxmlformats.org/drawingml/2006/main" noGrp="1"/>
          </p:cNvSpPr>
          <p:nvPr/>
        </p:nvSpPr>
        <p:spPr>
          <a:xfrm xmlns:a="http://schemas.openxmlformats.org/drawingml/2006/main">
            <a:off x="8286750" y="2400300"/>
            <a:ext cx="3381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0">
                <a:solidFill>
                  <a:srgbClr val="171717"/>
                </a:solidFill>
                <a:latin typeface="Arial"/>
                <a:ea typeface="Arial"/>
                <a:cs typeface="Arial"/>
              </a:defRPr>
            </a:defPPr>
            <a:lvl1pPr algn="l">
              <a:defRPr sz="5100" b="0">
                <a:solidFill>
                  <a:srgbClr val="171717"/>
                </a:solidFill>
                <a:latin typeface="Arial"/>
                <a:ea typeface="Arial"/>
                <a:cs typeface="Arial"/>
              </a:defRPr>
            </a:lvl1pPr>
            <a:lvl2pPr algn="l">
              <a:defRPr sz="5100" b="0">
                <a:solidFill>
                  <a:srgbClr val="171717"/>
                </a:solidFill>
                <a:latin typeface="Arial"/>
                <a:ea typeface="Arial"/>
                <a:cs typeface="Arial"/>
              </a:defRPr>
            </a:lvl2pPr>
            <a:lvl3pPr algn="l">
              <a:defRPr sz="5100" b="0">
                <a:solidFill>
                  <a:srgbClr val="171717"/>
                </a:solidFill>
                <a:latin typeface="Arial"/>
                <a:ea typeface="Arial"/>
                <a:cs typeface="Arial"/>
              </a:defRPr>
            </a:lvl3pPr>
            <a:lvl4pPr algn="l">
              <a:defRPr sz="5100" b="0">
                <a:solidFill>
                  <a:srgbClr val="171717"/>
                </a:solidFill>
                <a:latin typeface="Arial"/>
                <a:ea typeface="Arial"/>
                <a:cs typeface="Arial"/>
              </a:defRPr>
            </a:lvl4pPr>
            <a:lvl5pPr algn="l">
              <a:defRPr sz="5100" b="0">
                <a:solidFill>
                  <a:srgbClr val="171717"/>
                </a:solidFill>
                <a:latin typeface="Arial"/>
                <a:ea typeface="Arial"/>
                <a:cs typeface="Arial"/>
              </a:defRPr>
            </a:lvl5pPr>
            <a:lvl6pPr algn="l">
              <a:defRPr sz="5100" b="0">
                <a:solidFill>
                  <a:srgbClr val="171717"/>
                </a:solidFill>
                <a:latin typeface="Arial"/>
                <a:ea typeface="Arial"/>
                <a:cs typeface="Arial"/>
              </a:defRPr>
            </a:lvl6pPr>
            <a:lvl7pPr algn="l">
              <a:defRPr sz="5100" b="0">
                <a:solidFill>
                  <a:srgbClr val="171717"/>
                </a:solidFill>
                <a:latin typeface="Arial"/>
                <a:ea typeface="Arial"/>
                <a:cs typeface="Arial"/>
              </a:defRPr>
            </a:lvl7pPr>
            <a:lvl8pPr algn="l">
              <a:defRPr sz="5100" b="0">
                <a:solidFill>
                  <a:srgbClr val="171717"/>
                </a:solidFill>
                <a:latin typeface="Arial"/>
                <a:ea typeface="Arial"/>
                <a:cs typeface="Arial"/>
              </a:defRPr>
            </a:lvl8pPr>
            <a:lvl9pPr algn="l">
              <a:defRPr sz="5100" b="0">
                <a:solidFill>
                  <a:srgbClr val="171717"/>
                </a:solidFill>
                <a:latin typeface="Arial"/>
                <a:ea typeface="Arial"/>
                <a:cs typeface="Arial"/>
              </a:defRPr>
            </a:lvl9pPr>
          </a:lstStyle>
          <a:p xmlns:a="http://schemas.openxmlformats.org/drawingml/2006/main">
            <a:pPr algn="l">
              <a:defRPr sz="5100" b="0">
                <a:solidFill>
                  <a:srgbClr val="171717"/>
                </a:solidFill>
                <a:latin typeface="Arial"/>
                <a:ea typeface="Arial"/>
                <a:cs typeface="Arial"/>
              </a:defRPr>
            </a:pPr>
            <a:r>
              <a:rPr sz="5100" b="0">
                <a:solidFill>
                  <a:srgbClr val="171717"/>
                </a:solidFill>
                <a:latin typeface="Arial"/>
                <a:ea typeface="Arial"/>
                <a:cs typeface="Arial"/>
              </a:rPr>
              <a:t>~$0.5M</a:t>
            </a:r>
          </a:p>
        </p:txBody>
      </p:sp>
      <p:sp>
        <p:nvSpPr>
          <p:cNvPr id="12" name="text">
            <a:extLst xmlns:a="http://schemas.openxmlformats.org/drawingml/2006/main">
              <a:ext uri="{FF2B5EF4-FFF2-40B4-BE49-F238E27FC236}">
                <a16:creationId xmlns:a16="http://schemas.microsoft.com/office/drawing/2014/main" id="{99388323-085E-408E-BAEC-4DED767300A7}"/>
              </a:ext>
            </a:extLst>
          </p:cNvPr>
          <p:cNvSpPr>
            <a:spLocks xmlns:a="http://schemas.openxmlformats.org/drawingml/2006/main" noGrp="1"/>
          </p:cNvSpPr>
          <p:nvPr/>
        </p:nvSpPr>
        <p:spPr>
          <a:xfrm xmlns:a="http://schemas.openxmlformats.org/drawingml/2006/main">
            <a:off x="8286750" y="34766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Alberta / draft SOM</a:t>
            </a:r>
          </a:p>
        </p:txBody>
      </p:sp>
      <p:sp>
        <p:nvSpPr>
          <p:cNvPr id="13" name="text">
            <a:extLst xmlns:a="http://schemas.openxmlformats.org/drawingml/2006/main">
              <a:ext uri="{FF2B5EF4-FFF2-40B4-BE49-F238E27FC236}">
                <a16:creationId xmlns:a16="http://schemas.microsoft.com/office/drawing/2014/main" id="{88448E0F-9507-4F10-9D86-116CFF0286E4}"/>
              </a:ext>
            </a:extLst>
          </p:cNvPr>
          <p:cNvSpPr>
            <a:spLocks xmlns:a="http://schemas.openxmlformats.org/drawingml/2006/main" noGrp="1"/>
          </p:cNvSpPr>
          <p:nvPr/>
        </p:nvSpPr>
        <p:spPr>
          <a:xfrm xmlns:a="http://schemas.openxmlformats.org/drawingml/2006/main">
            <a:off x="8286750" y="4010025"/>
            <a:ext cx="338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25B54"/>
                </a:solidFill>
                <a:latin typeface="Arial"/>
                <a:ea typeface="Arial"/>
                <a:cs typeface="Arial"/>
              </a:defRPr>
            </a:defPPr>
            <a:lvl1pPr algn="l">
              <a:defRPr sz="1800" b="0">
                <a:solidFill>
                  <a:srgbClr val="625B54"/>
                </a:solidFill>
                <a:latin typeface="Arial"/>
                <a:ea typeface="Arial"/>
                <a:cs typeface="Arial"/>
              </a:defRPr>
            </a:lvl1pPr>
            <a:lvl2pPr algn="l">
              <a:defRPr sz="1800" b="0">
                <a:solidFill>
                  <a:srgbClr val="625B54"/>
                </a:solidFill>
                <a:latin typeface="Arial"/>
                <a:ea typeface="Arial"/>
                <a:cs typeface="Arial"/>
              </a:defRPr>
            </a:lvl2pPr>
            <a:lvl3pPr algn="l">
              <a:defRPr sz="1800" b="0">
                <a:solidFill>
                  <a:srgbClr val="625B54"/>
                </a:solidFill>
                <a:latin typeface="Arial"/>
                <a:ea typeface="Arial"/>
                <a:cs typeface="Arial"/>
              </a:defRPr>
            </a:lvl3pPr>
            <a:lvl4pPr algn="l">
              <a:defRPr sz="1800" b="0">
                <a:solidFill>
                  <a:srgbClr val="625B54"/>
                </a:solidFill>
                <a:latin typeface="Arial"/>
                <a:ea typeface="Arial"/>
                <a:cs typeface="Arial"/>
              </a:defRPr>
            </a:lvl4pPr>
            <a:lvl5pPr algn="l">
              <a:defRPr sz="1800" b="0">
                <a:solidFill>
                  <a:srgbClr val="625B54"/>
                </a:solidFill>
                <a:latin typeface="Arial"/>
                <a:ea typeface="Arial"/>
                <a:cs typeface="Arial"/>
              </a:defRPr>
            </a:lvl5pPr>
            <a:lvl6pPr algn="l">
              <a:defRPr sz="1800" b="0">
                <a:solidFill>
                  <a:srgbClr val="625B54"/>
                </a:solidFill>
                <a:latin typeface="Arial"/>
                <a:ea typeface="Arial"/>
                <a:cs typeface="Arial"/>
              </a:defRPr>
            </a:lvl6pPr>
            <a:lvl7pPr algn="l">
              <a:defRPr sz="1800" b="0">
                <a:solidFill>
                  <a:srgbClr val="625B54"/>
                </a:solidFill>
                <a:latin typeface="Arial"/>
                <a:ea typeface="Arial"/>
                <a:cs typeface="Arial"/>
              </a:defRPr>
            </a:lvl7pPr>
            <a:lvl8pPr algn="l">
              <a:defRPr sz="1800" b="0">
                <a:solidFill>
                  <a:srgbClr val="625B54"/>
                </a:solidFill>
                <a:latin typeface="Arial"/>
                <a:ea typeface="Arial"/>
                <a:cs typeface="Arial"/>
              </a:defRPr>
            </a:lvl8pPr>
            <a:lvl9pPr algn="l">
              <a:defRPr sz="1800" b="0">
                <a:solidFill>
                  <a:srgbClr val="625B54"/>
                </a:solidFill>
                <a:latin typeface="Arial"/>
                <a:ea typeface="Arial"/>
                <a:cs typeface="Arial"/>
              </a:defRPr>
            </a:lvl9pPr>
          </a:lstStyle>
          <a:p xmlns:a="http://schemas.openxmlformats.org/drawingml/2006/main">
            <a:pPr algn="l">
              <a:defRPr sz="1800" b="0">
                <a:solidFill>
                  <a:srgbClr val="625B54"/>
                </a:solidFill>
                <a:latin typeface="Arial"/>
                <a:ea typeface="Arial"/>
                <a:cs typeface="Arial"/>
              </a:defRPr>
            </a:pPr>
            <a:r>
              <a:rPr sz="1800" b="0">
                <a:solidFill>
                  <a:srgbClr val="625B54"/>
                </a:solidFill>
                <a:latin typeface="Arial"/>
                <a:ea typeface="Arial"/>
                <a:cs typeface="Arial"/>
              </a:rPr>
              <a:t>3,500 assumed paid founders</a:t>
            </a:r>
          </a:p>
          <a:p xmlns:a="http://schemas.openxmlformats.org/drawingml/2006/main">
            <a:pPr algn="l">
              <a:defRPr sz="1800" b="0">
                <a:solidFill>
                  <a:srgbClr val="625B54"/>
                </a:solidFill>
                <a:latin typeface="Arial"/>
                <a:ea typeface="Arial"/>
                <a:cs typeface="Arial"/>
              </a:defRPr>
            </a:pPr>
            <a:r>
              <a:rPr sz="1800" b="0">
                <a:solidFill>
                  <a:srgbClr val="625B54"/>
                </a:solidFill>
                <a:latin typeface="Arial"/>
                <a:ea typeface="Arial"/>
                <a:cs typeface="Arial"/>
              </a:rPr>
              <a:t>× $144 = $504K per year</a:t>
            </a:r>
          </a:p>
        </p:txBody>
      </p:sp>
      <p:sp>
        <p:nvSpPr>
          <p:cNvPr id="14" name="model-note-surface">
            <a:extLst xmlns:a="http://schemas.openxmlformats.org/drawingml/2006/main">
              <a:ext uri="{FF2B5EF4-FFF2-40B4-BE49-F238E27FC236}">
                <a16:creationId xmlns:a16="http://schemas.microsoft.com/office/drawing/2014/main" id="{E789D6BE-2E65-4AC2-9A92-C1F3367F1DA1}"/>
              </a:ext>
            </a:extLst>
          </p:cNvPr>
          <p:cNvSpPr>
            <a:spLocks xmlns:a="http://schemas.openxmlformats.org/drawingml/2006/main" noGrp="1"/>
          </p:cNvSpPr>
          <p:nvPr/>
        </p:nvSpPr>
        <p:spPr>
          <a:xfrm xmlns:a="http://schemas.openxmlformats.org/drawingml/2006/main">
            <a:off x="609600" y="5219700"/>
            <a:ext cx="10972800" cy="800100"/>
          </a:xfrm>
          <a:prstGeom xmlns:a="http://schemas.openxmlformats.org/drawingml/2006/main" prst="roundRect">
            <a:avLst>
              <a:gd name="adj" fmla="val 21429"/>
            </a:avLst>
          </a:prstGeom>
          <a:solidFill xmlns:a="http://schemas.openxmlformats.org/drawingml/2006/main">
            <a:srgbClr val="171717"/>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60412F2-A226-4CC8-9C7F-251526A17B30}"/>
              </a:ext>
            </a:extLst>
          </p:cNvPr>
          <p:cNvSpPr>
            <a:spLocks xmlns:a="http://schemas.openxmlformats.org/drawingml/2006/main" noGrp="1"/>
          </p:cNvSpPr>
          <p:nvPr/>
        </p:nvSpPr>
        <p:spPr>
          <a:xfrm xmlns:a="http://schemas.openxmlformats.org/drawingml/2006/main">
            <a:off x="866775" y="5419725"/>
            <a:ext cx="1042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Illustrative annual revenue model. Market size, adoption and willingness to pay still need validation.</a:t>
            </a:r>
          </a:p>
        </p:txBody>
      </p:sp>
      <p:sp>
        <p:nvSpPr>
          <p:cNvPr id="16" name="context-note">
            <a:extLst xmlns:a="http://schemas.openxmlformats.org/drawingml/2006/main">
              <a:ext uri="{FF2B5EF4-FFF2-40B4-BE49-F238E27FC236}">
                <a16:creationId xmlns:a16="http://schemas.microsoft.com/office/drawing/2014/main" id="{4BED44E1-9A07-420D-A9D8-5795370F5A1D}"/>
              </a:ext>
            </a:extLst>
          </p:cNvPr>
          <p:cNvSpPr>
            <a:spLocks xmlns:a="http://schemas.openxmlformats.org/drawingml/2006/main" noGrp="1"/>
          </p:cNvSpPr>
          <p:nvPr/>
        </p:nvSpPr>
        <p:spPr>
          <a:xfrm xmlns:a="http://schemas.openxmlformats.org/drawingml/2006/main">
            <a:off x="609600" y="63817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Displayed arithmetic uses founder subscriptions; programme and transaction revenue are not included.</a:t>
            </a:r>
          </a:p>
        </p:txBody>
      </p:sp>
    </p:spTree>
    <p:extLst>
      <p:ext uri="{BB962C8B-B14F-4D97-AF65-F5344CB8AC3E}">
        <p14:creationId xmlns:p14="http://schemas.microsoft.com/office/powerpoint/2010/main" val="544490272"/>
      </p:ext>
    </p:extLst>
  </p:cSld>
</p:sld>
</file>

<file path=ppt/slides/slide6.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8" name="brand-wordmark">
            <a:extLst xmlns:a="http://schemas.openxmlformats.org/drawingml/2006/main">
              <a:ext uri="{FF2B5EF4-FFF2-40B4-BE49-F238E27FC236}">
                <a16:creationId xmlns:a16="http://schemas.microsoft.com/office/drawing/2014/main" id="{204BA226-3B1A-4268-898D-7A695B0C99AD}"/>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0835B080-583D-4E11-A228-73C96A93C40E}"/>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06 / 11</a:t>
            </a:r>
          </a:p>
        </p:txBody>
      </p:sp>
      <p:sp>
        <p:nvSpPr>
          <p:cNvPr id="3" name="slide-title">
            <a:extLst xmlns:a="http://schemas.openxmlformats.org/drawingml/2006/main">
              <a:ext uri="{FF2B5EF4-FFF2-40B4-BE49-F238E27FC236}">
                <a16:creationId xmlns:a16="http://schemas.microsoft.com/office/drawing/2014/main" id="{6CD63926-CB00-45A4-ABB9-9661550D7D55}"/>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Competition &amp; differentiation</a:t>
            </a:r>
          </a:p>
        </p:txBody>
      </p:sp>
      <p:sp>
        <p:nvSpPr>
          <p:cNvPr id="4" name="section-label">
            <a:extLst xmlns:a="http://schemas.openxmlformats.org/drawingml/2006/main">
              <a:ext uri="{FF2B5EF4-FFF2-40B4-BE49-F238E27FC236}">
                <a16:creationId xmlns:a16="http://schemas.microsoft.com/office/drawing/2014/main" id="{416958BC-B24B-408A-9577-F39A4D82BE16}"/>
              </a:ext>
            </a:extLst>
          </p:cNvPr>
          <p:cNvSpPr>
            <a:spLocks xmlns:a="http://schemas.openxmlformats.org/drawingml/2006/main" noGrp="1"/>
          </p:cNvSpPr>
          <p:nvPr/>
        </p:nvSpPr>
        <p:spPr>
          <a:xfrm xmlns:a="http://schemas.openxmlformats.org/drawingml/2006/main">
            <a:off x="609600" y="18859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TEAM POSITIONING ASSESSMENT  /  TO VALIDATE</a:t>
            </a:r>
          </a:p>
        </p:txBody>
      </p:sp>
      <p:graphicFrame>
        <p:nvGraphicFramePr>
          <p:cNvPr id="5" name="">
            <a:extLst xmlns:a="http://schemas.openxmlformats.org/drawingml/2006/main">
              <a:ext uri="{FF2B5EF4-FFF2-40B4-BE49-F238E27FC236}">
                <a16:creationId xmlns:a16="http://schemas.microsoft.com/office/drawing/2014/main" id="{60AC070B-09DA-4FB4-AC2F-1D049CEF5634}"/>
              </a:ext>
            </a:extLst>
          </p:cNvPr>
          <p:cNvGraphicFramePr/>
          <p:nvPr/>
        </p:nvGraphicFramePr>
        <p:xfrm>
          <a:off xmlns:a="http://schemas.openxmlformats.org/drawingml/2006/main" x="609600" y="2428875"/>
          <a:ext xmlns:a="http://schemas.openxmlformats.org/drawingml/2006/main" cx="10972800" cy="2838450"/>
        </p:xfrm>
        <a:graphic xmlns:a="http://schemas.openxmlformats.org/drawingml/2006/main">
          <a:graphicData uri="http://schemas.openxmlformats.org/drawingml/2006/table">
            <a:tbl>
              <a:tblPr/>
              <a:tblGrid>
                <a:gridCol w="2667000"/>
                <a:gridCol w="2076450"/>
                <a:gridCol w="2076450"/>
                <a:gridCol w="2076450"/>
                <a:gridCol w="2076450"/>
              </a:tblGrid>
              <a:tr h="723900">
                <a:tc>
                  <a:txBody>
                    <a:bodyPr lIns="152400" tIns="114300" rIns="152400" bIns="76200"/>
                    <a:lstStyle/>
                    <a:p>
                      <a:r>
                        <a:rPr sz="1650" b="1">
                          <a:solidFill>
                            <a:srgbClr val="FFFFFF"/>
                          </a:solidFill>
                          <a:latin typeface="Arial"/>
                          <a:ea typeface="Arial"/>
                          <a:cs typeface="Arial"/>
                        </a:rPr>
                        <a:t>Criterion</a:t>
                      </a:r>
                    </a:p>
                  </a:txBody>
                  <a:tcPr marL="91440" marR="91440" marT="45720" marB="45720" anchor="ctr">
                    <a:lnL w="9525">
                      <a:solidFill>
                        <a:srgbClr val="C7BFB5"/>
                      </a:solidFill>
                      <a:prstDash val="solid"/>
                    </a:lnL>
                    <a:lnR w="9525">
                      <a:solidFill>
                        <a:srgbClr val="C7BFB5"/>
                      </a:solidFill>
                      <a:prstDash val="solid"/>
                    </a:lnR>
                    <a:lnT w="9525">
                      <a:solidFill>
                        <a:srgbClr val="C7BFB5"/>
                      </a:solidFill>
                      <a:prstDash val="solid"/>
                    </a:lnT>
                    <a:lnB w="9525">
                      <a:solidFill>
                        <a:srgbClr val="C7BFB5"/>
                      </a:solidFill>
                      <a:prstDash val="solid"/>
                    </a:lnB>
                    <a:solidFill>
                      <a:srgbClr val="171717"/>
                    </a:solidFill>
                  </a:tcPr>
                </a:tc>
                <a:tc>
                  <a:txBody>
                    <a:bodyPr lIns="152400" tIns="114300" rIns="152400" bIns="76200"/>
                    <a:lstStyle/>
                    <a:p>
                      <a:r>
                        <a:rPr sz="1650" b="1">
                          <a:solidFill>
                            <a:srgbClr val="FFFFFF"/>
                          </a:solidFill>
                          <a:latin typeface="Arial"/>
                          <a:ea typeface="Arial"/>
                          <a:cs typeface="Arial"/>
                        </a:rPr>
                        <a:t>BizBazooka</a:t>
                      </a:r>
                    </a:p>
                    <a:p>
                      <a:r>
                        <a:rPr sz="1650" b="1">
                          <a:solidFill>
                            <a:srgbClr val="FFFFFF"/>
                          </a:solidFill>
                          <a:latin typeface="Arial"/>
                          <a:ea typeface="Arial"/>
                          <a:cs typeface="Arial"/>
                        </a:rPr>
                        <a:t>prototype</a:t>
                      </a:r>
                    </a:p>
                  </a:txBody>
                  <a:tcPr marL="91440" marR="91440" marT="45720" marB="45720" anchor="ctr">
                    <a:lnR w="9525">
                      <a:solidFill>
                        <a:srgbClr val="C7BFB5"/>
                      </a:solidFill>
                      <a:prstDash val="solid"/>
                    </a:lnR>
                    <a:lnT w="9525">
                      <a:solidFill>
                        <a:srgbClr val="C7BFB5"/>
                      </a:solidFill>
                      <a:prstDash val="solid"/>
                    </a:lnT>
                    <a:lnB w="9525">
                      <a:solidFill>
                        <a:srgbClr val="C7BFB5"/>
                      </a:solidFill>
                      <a:prstDash val="solid"/>
                    </a:lnB>
                    <a:solidFill>
                      <a:srgbClr val="171717"/>
                    </a:solidFill>
                  </a:tcPr>
                </a:tc>
                <a:tc>
                  <a:txBody>
                    <a:bodyPr lIns="152400" tIns="114300" rIns="152400" bIns="76200"/>
                    <a:lstStyle/>
                    <a:p>
                      <a:r>
                        <a:rPr sz="1650" b="1">
                          <a:solidFill>
                            <a:srgbClr val="FFFFFF"/>
                          </a:solidFill>
                          <a:latin typeface="Arial"/>
                          <a:ea typeface="Arial"/>
                          <a:cs typeface="Arial"/>
                        </a:rPr>
                        <a:t>ICTC /</a:t>
                      </a:r>
                    </a:p>
                    <a:p>
                      <a:r>
                        <a:rPr sz="1650" b="1">
                          <a:solidFill>
                            <a:srgbClr val="FFFFFF"/>
                          </a:solidFill>
                          <a:latin typeface="Arial"/>
                          <a:ea typeface="Arial"/>
                          <a:cs typeface="Arial"/>
                        </a:rPr>
                        <a:t>TalentED</a:t>
                      </a:r>
                    </a:p>
                  </a:txBody>
                  <a:tcPr marL="91440" marR="91440" marT="45720" marB="45720" anchor="ctr">
                    <a:lnR w="9525">
                      <a:solidFill>
                        <a:srgbClr val="C7BFB5"/>
                      </a:solidFill>
                      <a:prstDash val="solid"/>
                    </a:lnR>
                    <a:lnT w="9525">
                      <a:solidFill>
                        <a:srgbClr val="C7BFB5"/>
                      </a:solidFill>
                      <a:prstDash val="solid"/>
                    </a:lnT>
                    <a:lnB w="9525">
                      <a:solidFill>
                        <a:srgbClr val="C7BFB5"/>
                      </a:solidFill>
                      <a:prstDash val="solid"/>
                    </a:lnB>
                    <a:solidFill>
                      <a:srgbClr val="171717"/>
                    </a:solidFill>
                  </a:tcPr>
                </a:tc>
                <a:tc>
                  <a:txBody>
                    <a:bodyPr lIns="152400" tIns="114300" rIns="152400" bIns="76200"/>
                    <a:lstStyle/>
                    <a:p>
                      <a:r>
                        <a:rPr sz="1650" b="1">
                          <a:solidFill>
                            <a:srgbClr val="FFFFFF"/>
                          </a:solidFill>
                          <a:latin typeface="Arial"/>
                          <a:ea typeface="Arial"/>
                          <a:cs typeface="Arial"/>
                        </a:rPr>
                        <a:t>College</a:t>
                      </a:r>
                    </a:p>
                    <a:p>
                      <a:r>
                        <a:rPr sz="1650" b="1">
                          <a:solidFill>
                            <a:srgbClr val="FFFFFF"/>
                          </a:solidFill>
                          <a:latin typeface="Arial"/>
                          <a:ea typeface="Arial"/>
                          <a:cs typeface="Arial"/>
                        </a:rPr>
                        <a:t>programmes</a:t>
                      </a:r>
                    </a:p>
                  </a:txBody>
                  <a:tcPr marL="91440" marR="91440" marT="45720" marB="45720" anchor="ctr">
                    <a:lnR w="9525">
                      <a:solidFill>
                        <a:srgbClr val="C7BFB5"/>
                      </a:solidFill>
                      <a:prstDash val="solid"/>
                    </a:lnR>
                    <a:lnT w="9525">
                      <a:solidFill>
                        <a:srgbClr val="C7BFB5"/>
                      </a:solidFill>
                      <a:prstDash val="solid"/>
                    </a:lnT>
                    <a:lnB w="9525">
                      <a:solidFill>
                        <a:srgbClr val="C7BFB5"/>
                      </a:solidFill>
                      <a:prstDash val="solid"/>
                    </a:lnB>
                    <a:solidFill>
                      <a:srgbClr val="171717"/>
                    </a:solidFill>
                  </a:tcPr>
                </a:tc>
                <a:tc>
                  <a:txBody>
                    <a:bodyPr lIns="152400" tIns="114300" rIns="152400" bIns="76200"/>
                    <a:lstStyle/>
                    <a:p>
                      <a:r>
                        <a:rPr sz="1650" b="1">
                          <a:solidFill>
                            <a:srgbClr val="FFFFFF"/>
                          </a:solidFill>
                          <a:latin typeface="Arial"/>
                          <a:ea typeface="Arial"/>
                          <a:cs typeface="Arial"/>
                        </a:rPr>
                        <a:t>Recruiters /</a:t>
                      </a:r>
                    </a:p>
                    <a:p>
                      <a:r>
                        <a:rPr sz="1650" b="1">
                          <a:solidFill>
                            <a:srgbClr val="FFFFFF"/>
                          </a:solidFill>
                          <a:latin typeface="Arial"/>
                          <a:ea typeface="Arial"/>
                          <a:cs typeface="Arial"/>
                        </a:rPr>
                        <a:t>Fiverr</a:t>
                      </a:r>
                    </a:p>
                  </a:txBody>
                  <a:tcPr marL="91440" marR="91440" marT="45720" marB="45720" anchor="ctr">
                    <a:lnR w="9525">
                      <a:solidFill>
                        <a:srgbClr val="C7BFB5"/>
                      </a:solidFill>
                      <a:prstDash val="solid"/>
                    </a:lnR>
                    <a:lnT w="9525">
                      <a:solidFill>
                        <a:srgbClr val="C7BFB5"/>
                      </a:solidFill>
                      <a:prstDash val="solid"/>
                    </a:lnT>
                    <a:lnB w="9525">
                      <a:solidFill>
                        <a:srgbClr val="C7BFB5"/>
                      </a:solidFill>
                      <a:prstDash val="solid"/>
                    </a:lnB>
                    <a:solidFill>
                      <a:srgbClr val="171717"/>
                    </a:solidFill>
                  </a:tcPr>
                </a:tc>
              </a:tr>
              <a:tr h="704850">
                <a:tc>
                  <a:txBody>
                    <a:bodyPr lIns="152400" tIns="114300" rIns="152400" bIns="76200"/>
                    <a:lstStyle/>
                    <a:p>
                      <a:r>
                        <a:rPr sz="1650" b="0">
                          <a:solidFill>
                            <a:srgbClr val="171717"/>
                          </a:solidFill>
                          <a:latin typeface="Arial"/>
                          <a:ea typeface="Arial"/>
                          <a:cs typeface="Arial"/>
                        </a:rPr>
                        <a:t>Local &amp; verified</a:t>
                      </a:r>
                    </a:p>
                    <a:p>
                      <a:r>
                        <a:rPr sz="1650" b="0">
                          <a:solidFill>
                            <a:srgbClr val="171717"/>
                          </a:solidFill>
                          <a:latin typeface="Arial"/>
                          <a:ea typeface="Arial"/>
                          <a:cs typeface="Arial"/>
                        </a:rPr>
                        <a:t>expertise</a:t>
                      </a:r>
                    </a:p>
                  </a:txBody>
                  <a:tcPr marL="91440" marR="91440" marT="45720" marB="45720" anchor="ctr">
                    <a:lnL w="9525">
                      <a:solidFill>
                        <a:srgbClr val="C7BFB5"/>
                      </a:solidFill>
                      <a:prstDash val="solid"/>
                    </a:lnL>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1">
                          <a:solidFill>
                            <a:srgbClr val="171717"/>
                          </a:solidFill>
                          <a:latin typeface="Arial"/>
                          <a:ea typeface="Arial"/>
                          <a:cs typeface="Arial"/>
                        </a:rPr>
                        <a:t>Strong</a:t>
                      </a:r>
                    </a:p>
                  </a:txBody>
                  <a:tcPr marL="91440" marR="91440" marT="45720" marB="45720" anchor="ctr">
                    <a:lnR w="9525">
                      <a:solidFill>
                        <a:srgbClr val="C7BFB5"/>
                      </a:solidFill>
                      <a:prstDash val="solid"/>
                    </a:lnR>
                    <a:lnB w="9525">
                      <a:solidFill>
                        <a:srgbClr val="C7BFB5"/>
                      </a:solidFill>
                      <a:prstDash val="solid"/>
                    </a:lnB>
                    <a:solidFill>
                      <a:srgbClr val="EDE4D7"/>
                    </a:solidFill>
                  </a:tcPr>
                </a:tc>
                <a:tc>
                  <a:txBody>
                    <a:bodyPr lIns="152400" tIns="114300" rIns="152400" bIns="76200"/>
                    <a:lstStyle/>
                    <a:p>
                      <a:r>
                        <a:rPr sz="1650" b="0">
                          <a:solidFill>
                            <a:srgbClr val="171717"/>
                          </a:solidFill>
                          <a:latin typeface="Arial"/>
                          <a:ea typeface="Arial"/>
                          <a:cs typeface="Arial"/>
                        </a:rPr>
                        <a:t>—</a:t>
                      </a:r>
                    </a:p>
                  </a:txBody>
                  <a:tcPr marL="91440" marR="91440" marT="45720" marB="45720" anchor="ctr">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0">
                          <a:solidFill>
                            <a:srgbClr val="171717"/>
                          </a:solidFill>
                          <a:latin typeface="Arial"/>
                          <a:ea typeface="Arial"/>
                          <a:cs typeface="Arial"/>
                        </a:rPr>
                        <a:t>Strong</a:t>
                      </a:r>
                    </a:p>
                  </a:txBody>
                  <a:tcPr marL="91440" marR="91440" marT="45720" marB="45720" anchor="ctr">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0">
                          <a:solidFill>
                            <a:srgbClr val="171717"/>
                          </a:solidFill>
                          <a:latin typeface="Arial"/>
                          <a:ea typeface="Arial"/>
                          <a:cs typeface="Arial"/>
                        </a:rPr>
                        <a:t>—</a:t>
                      </a:r>
                    </a:p>
                  </a:txBody>
                  <a:tcPr marL="91440" marR="91440" marT="45720" marB="45720" anchor="ctr">
                    <a:lnR w="9525">
                      <a:solidFill>
                        <a:srgbClr val="C7BFB5"/>
                      </a:solidFill>
                      <a:prstDash val="solid"/>
                    </a:lnR>
                    <a:lnB w="9525">
                      <a:solidFill>
                        <a:srgbClr val="C7BFB5"/>
                      </a:solidFill>
                      <a:prstDash val="solid"/>
                    </a:lnB>
                    <a:solidFill>
                      <a:srgbClr val="FFFFFF"/>
                    </a:solidFill>
                  </a:tcPr>
                </a:tc>
              </a:tr>
              <a:tr h="704850">
                <a:tc>
                  <a:txBody>
                    <a:bodyPr lIns="152400" tIns="114300" rIns="152400" bIns="76200"/>
                    <a:lstStyle/>
                    <a:p>
                      <a:r>
                        <a:rPr sz="1650" b="0">
                          <a:solidFill>
                            <a:srgbClr val="171717"/>
                          </a:solidFill>
                          <a:latin typeface="Arial"/>
                          <a:ea typeface="Arial"/>
                          <a:cs typeface="Arial"/>
                        </a:rPr>
                        <a:t>Cost effectiveness</a:t>
                      </a:r>
                    </a:p>
                  </a:txBody>
                  <a:tcPr marL="91440" marR="91440" marT="45720" marB="45720" anchor="ctr">
                    <a:lnL w="9525">
                      <a:solidFill>
                        <a:srgbClr val="C7BFB5"/>
                      </a:solidFill>
                      <a:prstDash val="solid"/>
                    </a:lnL>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1">
                          <a:solidFill>
                            <a:srgbClr val="171717"/>
                          </a:solidFill>
                          <a:latin typeface="Arial"/>
                          <a:ea typeface="Arial"/>
                          <a:cs typeface="Arial"/>
                        </a:rPr>
                        <a:t>Strong</a:t>
                      </a:r>
                    </a:p>
                  </a:txBody>
                  <a:tcPr marL="91440" marR="91440" marT="45720" marB="45720" anchor="ctr">
                    <a:lnR w="9525">
                      <a:solidFill>
                        <a:srgbClr val="C7BFB5"/>
                      </a:solidFill>
                      <a:prstDash val="solid"/>
                    </a:lnR>
                    <a:lnB w="9525">
                      <a:solidFill>
                        <a:srgbClr val="C7BFB5"/>
                      </a:solidFill>
                      <a:prstDash val="solid"/>
                    </a:lnB>
                    <a:solidFill>
                      <a:srgbClr val="EDE4D7"/>
                    </a:solidFill>
                  </a:tcPr>
                </a:tc>
                <a:tc>
                  <a:txBody>
                    <a:bodyPr lIns="152400" tIns="114300" rIns="152400" bIns="76200"/>
                    <a:lstStyle/>
                    <a:p>
                      <a:r>
                        <a:rPr sz="1650" b="0">
                          <a:solidFill>
                            <a:srgbClr val="171717"/>
                          </a:solidFill>
                          <a:latin typeface="Arial"/>
                          <a:ea typeface="Arial"/>
                          <a:cs typeface="Arial"/>
                        </a:rPr>
                        <a:t>Some</a:t>
                      </a:r>
                    </a:p>
                  </a:txBody>
                  <a:tcPr marL="91440" marR="91440" marT="45720" marB="45720" anchor="ctr">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0">
                          <a:solidFill>
                            <a:srgbClr val="171717"/>
                          </a:solidFill>
                          <a:latin typeface="Arial"/>
                          <a:ea typeface="Arial"/>
                          <a:cs typeface="Arial"/>
                        </a:rPr>
                        <a:t>—</a:t>
                      </a:r>
                    </a:p>
                  </a:txBody>
                  <a:tcPr marL="91440" marR="91440" marT="45720" marB="45720" anchor="ctr">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0">
                          <a:solidFill>
                            <a:srgbClr val="171717"/>
                          </a:solidFill>
                          <a:latin typeface="Arial"/>
                          <a:ea typeface="Arial"/>
                          <a:cs typeface="Arial"/>
                        </a:rPr>
                        <a:t>Good</a:t>
                      </a:r>
                    </a:p>
                  </a:txBody>
                  <a:tcPr marL="91440" marR="91440" marT="45720" marB="45720" anchor="ctr">
                    <a:lnR w="9525">
                      <a:solidFill>
                        <a:srgbClr val="C7BFB5"/>
                      </a:solidFill>
                      <a:prstDash val="solid"/>
                    </a:lnR>
                    <a:lnB w="9525">
                      <a:solidFill>
                        <a:srgbClr val="C7BFB5"/>
                      </a:solidFill>
                      <a:prstDash val="solid"/>
                    </a:lnB>
                    <a:solidFill>
                      <a:srgbClr val="FFFFFF"/>
                    </a:solidFill>
                  </a:tcPr>
                </a:tc>
              </a:tr>
              <a:tr h="704850">
                <a:tc>
                  <a:txBody>
                    <a:bodyPr lIns="152400" tIns="114300" rIns="152400" bIns="76200"/>
                    <a:lstStyle/>
                    <a:p>
                      <a:r>
                        <a:rPr sz="1650" b="0">
                          <a:solidFill>
                            <a:srgbClr val="171717"/>
                          </a:solidFill>
                          <a:latin typeface="Arial"/>
                          <a:ea typeface="Arial"/>
                          <a:cs typeface="Arial"/>
                        </a:rPr>
                        <a:t>Founder-to-builder</a:t>
                      </a:r>
                    </a:p>
                    <a:p>
                      <a:r>
                        <a:rPr sz="1650" b="0">
                          <a:solidFill>
                            <a:srgbClr val="171717"/>
                          </a:solidFill>
                          <a:latin typeface="Arial"/>
                          <a:ea typeface="Arial"/>
                          <a:cs typeface="Arial"/>
                        </a:rPr>
                        <a:t>match</a:t>
                      </a:r>
                    </a:p>
                  </a:txBody>
                  <a:tcPr marL="91440" marR="91440" marT="45720" marB="45720" anchor="ctr">
                    <a:lnL w="9525">
                      <a:solidFill>
                        <a:srgbClr val="C7BFB5"/>
                      </a:solidFill>
                      <a:prstDash val="solid"/>
                    </a:lnL>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1">
                          <a:solidFill>
                            <a:srgbClr val="171717"/>
                          </a:solidFill>
                          <a:latin typeface="Arial"/>
                          <a:ea typeface="Arial"/>
                          <a:cs typeface="Arial"/>
                        </a:rPr>
                        <a:t>Strong</a:t>
                      </a:r>
                    </a:p>
                  </a:txBody>
                  <a:tcPr marL="91440" marR="91440" marT="45720" marB="45720" anchor="ctr">
                    <a:lnR w="9525">
                      <a:solidFill>
                        <a:srgbClr val="C7BFB5"/>
                      </a:solidFill>
                      <a:prstDash val="solid"/>
                    </a:lnR>
                    <a:lnB w="9525">
                      <a:solidFill>
                        <a:srgbClr val="C7BFB5"/>
                      </a:solidFill>
                      <a:prstDash val="solid"/>
                    </a:lnB>
                    <a:solidFill>
                      <a:srgbClr val="EDE4D7"/>
                    </a:solidFill>
                  </a:tcPr>
                </a:tc>
                <a:tc>
                  <a:txBody>
                    <a:bodyPr lIns="152400" tIns="114300" rIns="152400" bIns="76200"/>
                    <a:lstStyle/>
                    <a:p>
                      <a:r>
                        <a:rPr sz="1650" b="0">
                          <a:solidFill>
                            <a:srgbClr val="171717"/>
                          </a:solidFill>
                          <a:latin typeface="Arial"/>
                          <a:ea typeface="Arial"/>
                          <a:cs typeface="Arial"/>
                        </a:rPr>
                        <a:t>Good</a:t>
                      </a:r>
                    </a:p>
                  </a:txBody>
                  <a:tcPr marL="91440" marR="91440" marT="45720" marB="45720" anchor="ctr">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0">
                          <a:solidFill>
                            <a:srgbClr val="171717"/>
                          </a:solidFill>
                          <a:latin typeface="Arial"/>
                          <a:ea typeface="Arial"/>
                          <a:cs typeface="Arial"/>
                        </a:rPr>
                        <a:t>Some</a:t>
                      </a:r>
                    </a:p>
                  </a:txBody>
                  <a:tcPr marL="91440" marR="91440" marT="45720" marB="45720" anchor="ctr">
                    <a:lnR w="9525">
                      <a:solidFill>
                        <a:srgbClr val="C7BFB5"/>
                      </a:solidFill>
                      <a:prstDash val="solid"/>
                    </a:lnR>
                    <a:lnB w="9525">
                      <a:solidFill>
                        <a:srgbClr val="C7BFB5"/>
                      </a:solidFill>
                      <a:prstDash val="solid"/>
                    </a:lnB>
                    <a:solidFill>
                      <a:srgbClr val="FFFFFF"/>
                    </a:solidFill>
                  </a:tcPr>
                </a:tc>
                <a:tc>
                  <a:txBody>
                    <a:bodyPr lIns="152400" tIns="114300" rIns="152400" bIns="76200"/>
                    <a:lstStyle/>
                    <a:p>
                      <a:r>
                        <a:rPr sz="1650" b="0">
                          <a:solidFill>
                            <a:srgbClr val="171717"/>
                          </a:solidFill>
                          <a:latin typeface="Arial"/>
                          <a:ea typeface="Arial"/>
                          <a:cs typeface="Arial"/>
                        </a:rPr>
                        <a:t>—</a:t>
                      </a:r>
                    </a:p>
                  </a:txBody>
                  <a:tcPr marL="91440" marR="91440" marT="45720" marB="45720" anchor="ctr">
                    <a:lnR w="9525">
                      <a:solidFill>
                        <a:srgbClr val="C7BFB5"/>
                      </a:solidFill>
                      <a:prstDash val="solid"/>
                    </a:lnR>
                    <a:lnB w="9525">
                      <a:solidFill>
                        <a:srgbClr val="C7BFB5"/>
                      </a:solidFill>
                      <a:prstDash val="solid"/>
                    </a:lnB>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8446E78C-1B16-48D9-B879-8DD632582F81}"/>
              </a:ext>
            </a:extLst>
          </p:cNvPr>
          <p:cNvSpPr>
            <a:spLocks xmlns:a="http://schemas.openxmlformats.org/drawingml/2006/main" noGrp="1"/>
          </p:cNvSpPr>
          <p:nvPr/>
        </p:nvSpPr>
        <p:spPr>
          <a:xfrm xmlns:a="http://schemas.openxmlformats.org/drawingml/2006/main">
            <a:off x="609600" y="5629275"/>
            <a:ext cx="10906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7"/>
                </a:solidFill>
                <a:latin typeface="Arial"/>
                <a:ea typeface="Arial"/>
                <a:cs typeface="Arial"/>
              </a:defRPr>
            </a:defPPr>
            <a:lvl1pPr algn="l">
              <a:defRPr sz="2175" b="0">
                <a:solidFill>
                  <a:srgbClr val="171717"/>
                </a:solidFill>
                <a:latin typeface="Arial"/>
                <a:ea typeface="Arial"/>
                <a:cs typeface="Arial"/>
              </a:defRPr>
            </a:lvl1pPr>
            <a:lvl2pPr algn="l">
              <a:defRPr sz="2175" b="0">
                <a:solidFill>
                  <a:srgbClr val="171717"/>
                </a:solidFill>
                <a:latin typeface="Arial"/>
                <a:ea typeface="Arial"/>
                <a:cs typeface="Arial"/>
              </a:defRPr>
            </a:lvl2pPr>
            <a:lvl3pPr algn="l">
              <a:defRPr sz="2175" b="0">
                <a:solidFill>
                  <a:srgbClr val="171717"/>
                </a:solidFill>
                <a:latin typeface="Arial"/>
                <a:ea typeface="Arial"/>
                <a:cs typeface="Arial"/>
              </a:defRPr>
            </a:lvl3pPr>
            <a:lvl4pPr algn="l">
              <a:defRPr sz="2175" b="0">
                <a:solidFill>
                  <a:srgbClr val="171717"/>
                </a:solidFill>
                <a:latin typeface="Arial"/>
                <a:ea typeface="Arial"/>
                <a:cs typeface="Arial"/>
              </a:defRPr>
            </a:lvl4pPr>
            <a:lvl5pPr algn="l">
              <a:defRPr sz="2175" b="0">
                <a:solidFill>
                  <a:srgbClr val="171717"/>
                </a:solidFill>
                <a:latin typeface="Arial"/>
                <a:ea typeface="Arial"/>
                <a:cs typeface="Arial"/>
              </a:defRPr>
            </a:lvl5pPr>
            <a:lvl6pPr algn="l">
              <a:defRPr sz="2175" b="0">
                <a:solidFill>
                  <a:srgbClr val="171717"/>
                </a:solidFill>
                <a:latin typeface="Arial"/>
                <a:ea typeface="Arial"/>
                <a:cs typeface="Arial"/>
              </a:defRPr>
            </a:lvl6pPr>
            <a:lvl7pPr algn="l">
              <a:defRPr sz="2175" b="0">
                <a:solidFill>
                  <a:srgbClr val="171717"/>
                </a:solidFill>
                <a:latin typeface="Arial"/>
                <a:ea typeface="Arial"/>
                <a:cs typeface="Arial"/>
              </a:defRPr>
            </a:lvl7pPr>
            <a:lvl8pPr algn="l">
              <a:defRPr sz="2175" b="0">
                <a:solidFill>
                  <a:srgbClr val="171717"/>
                </a:solidFill>
                <a:latin typeface="Arial"/>
                <a:ea typeface="Arial"/>
                <a:cs typeface="Arial"/>
              </a:defRPr>
            </a:lvl8pPr>
            <a:lvl9pPr algn="l">
              <a:defRPr sz="2175" b="0">
                <a:solidFill>
                  <a:srgbClr val="171717"/>
                </a:solidFill>
                <a:latin typeface="Arial"/>
                <a:ea typeface="Arial"/>
                <a:cs typeface="Arial"/>
              </a:defRPr>
            </a:lvl9pPr>
          </a:lstStyle>
          <a:p xmlns:a="http://schemas.openxmlformats.org/drawingml/2006/main">
            <a:pPr algn="l">
              <a:defRPr sz="2175" b="0">
                <a:solidFill>
                  <a:srgbClr val="171717"/>
                </a:solidFill>
                <a:latin typeface="Arial"/>
                <a:ea typeface="Arial"/>
                <a:cs typeface="Arial"/>
              </a:defRPr>
            </a:pPr>
            <a:r>
              <a:rPr sz="2175" b="0">
                <a:solidFill>
                  <a:srgbClr val="171717"/>
                </a:solidFill>
                <a:latin typeface="Arial"/>
                <a:ea typeface="Arial"/>
                <a:cs typeface="Arial"/>
              </a:rPr>
              <a:t>Our focus: reviewed evidence, current capacity and clear paid or equity terms</a:t>
            </a:r>
          </a:p>
        </p:txBody>
      </p:sp>
      <p:sp>
        <p:nvSpPr>
          <p:cNvPr id="7" name="context-note">
            <a:extLst xmlns:a="http://schemas.openxmlformats.org/drawingml/2006/main">
              <a:ext uri="{FF2B5EF4-FFF2-40B4-BE49-F238E27FC236}">
                <a16:creationId xmlns:a16="http://schemas.microsoft.com/office/drawing/2014/main" id="{0320A895-C8EC-4C55-A47D-FB16337368B9}"/>
              </a:ext>
            </a:extLst>
          </p:cNvPr>
          <p:cNvSpPr>
            <a:spLocks xmlns:a="http://schemas.openxmlformats.org/drawingml/2006/main" noGrp="1"/>
          </p:cNvSpPr>
          <p:nvPr/>
        </p:nvSpPr>
        <p:spPr>
          <a:xfrm xmlns:a="http://schemas.openxmlformats.org/drawingml/2006/main">
            <a:off x="609600" y="63817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Qualitative ratings reflect the source team’s view, not an independent comparison. Sample verification in the demo.</a:t>
            </a:r>
          </a:p>
        </p:txBody>
      </p:sp>
    </p:spTree>
    <p:extLst>
      <p:ext uri="{BB962C8B-B14F-4D97-AF65-F5344CB8AC3E}">
        <p14:creationId xmlns:p14="http://schemas.microsoft.com/office/powerpoint/2010/main" val="4725476"/>
      </p:ext>
    </p:extLst>
  </p:cSld>
</p:sld>
</file>

<file path=ppt/slides/slide7.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5" name="brand-wordmark">
            <a:extLst xmlns:a="http://schemas.openxmlformats.org/drawingml/2006/main">
              <a:ext uri="{FF2B5EF4-FFF2-40B4-BE49-F238E27FC236}">
                <a16:creationId xmlns:a16="http://schemas.microsoft.com/office/drawing/2014/main" id="{604B922C-0A21-445B-A1C6-B45B98022B89}"/>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6080B8C0-33DD-48A7-BEAA-FA49F6B5A9D5}"/>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07 / 11</a:t>
            </a:r>
          </a:p>
        </p:txBody>
      </p:sp>
      <p:sp>
        <p:nvSpPr>
          <p:cNvPr id="3" name="slide-title">
            <a:extLst xmlns:a="http://schemas.openxmlformats.org/drawingml/2006/main">
              <a:ext uri="{FF2B5EF4-FFF2-40B4-BE49-F238E27FC236}">
                <a16:creationId xmlns:a16="http://schemas.microsoft.com/office/drawing/2014/main" id="{135A8BA0-2FE9-467D-A62F-612A3C2EA14A}"/>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One end-to-end founder journey</a:t>
            </a:r>
          </a:p>
        </p:txBody>
      </p:sp>
      <p:sp>
        <p:nvSpPr>
          <p:cNvPr id="4" name="section-label">
            <a:extLst xmlns:a="http://schemas.openxmlformats.org/drawingml/2006/main">
              <a:ext uri="{FF2B5EF4-FFF2-40B4-BE49-F238E27FC236}">
                <a16:creationId xmlns:a16="http://schemas.microsoft.com/office/drawing/2014/main" id="{E0B79831-DDE7-450B-B5EC-657E8FC5263E}"/>
              </a:ext>
            </a:extLst>
          </p:cNvPr>
          <p:cNvSpPr>
            <a:spLocks xmlns:a="http://schemas.openxmlformats.org/drawingml/2006/main" noGrp="1"/>
          </p:cNvSpPr>
          <p:nvPr/>
        </p:nvSpPr>
        <p:spPr>
          <a:xfrm xmlns:a="http://schemas.openxmlformats.org/drawingml/2006/main">
            <a:off x="609600" y="18478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LOCAL PROTOTYPE  /  SAMPLE DATA  /  NO EXTERNAL DELIVERY</a:t>
            </a:r>
          </a:p>
        </p:txBody>
      </p:sp>
      <p:pic>
        <p:nvPicPr>
          <p:cNvPr id="5" name="">
            <a:extLst xmlns:a="http://schemas.openxmlformats.org/drawingml/2006/main">
              <a:ext uri="{FF2B5EF4-FFF2-40B4-BE49-F238E27FC236}">
                <a16:creationId xmlns:a16="http://schemas.microsoft.com/office/drawing/2014/main" id="{1FEB0EB8-6E85-4CDF-BC17-DC837DEE3DFA}"/>
              </a:ext>
            </a:extLst>
          </p:cNvPr>
          <p:cNvPicPr>
            <a:picLocks xmlns:a="http://schemas.openxmlformats.org/drawingml/2006/main" noChangeAspect="1"/>
          </p:cNvPicPr>
          <p:nvPr/>
        </p:nvPicPr>
        <p:blipFill>
          <a:blip xmlns:r="http://schemas.openxmlformats.org/officeDocument/2006/relationships" xmlns:a="http://schemas.openxmlformats.org/drawingml/2006/main" r:embed="R4875694c9f1c4660"/>
          <a:srcRect xmlns:a="http://schemas.openxmlformats.org/drawingml/2006/main" l="8333" t="30500" r="8333" b="0"/>
          <a:stretch xmlns:a="http://schemas.openxmlformats.org/drawingml/2006/main"/>
        </p:blipFill>
        <p:spPr>
          <a:xfrm xmlns:a="http://schemas.openxmlformats.org/drawingml/2006/main">
            <a:off x="609600" y="2333625"/>
            <a:ext cx="6762750" cy="3914775"/>
          </a:xfrm>
          <a:prstGeom xmlns:a="http://schemas.openxmlformats.org/drawingml/2006/main" prst="roundRect">
            <a:avLst>
              <a:gd name="adj" fmla="val 4866"/>
            </a:avLst>
          </a:prstGeom>
        </p:spPr>
      </p:pic>
      <p:sp>
        <p:nvSpPr>
          <p:cNvPr id="6" name="text">
            <a:extLst xmlns:a="http://schemas.openxmlformats.org/drawingml/2006/main">
              <a:ext uri="{FF2B5EF4-FFF2-40B4-BE49-F238E27FC236}">
                <a16:creationId xmlns:a16="http://schemas.microsoft.com/office/drawing/2014/main" id="{75D7AC88-2AE2-4397-8853-152B5C5F7DEC}"/>
              </a:ext>
            </a:extLst>
          </p:cNvPr>
          <p:cNvSpPr>
            <a:spLocks xmlns:a="http://schemas.openxmlformats.org/drawingml/2006/main" noGrp="1"/>
          </p:cNvSpPr>
          <p:nvPr/>
        </p:nvSpPr>
        <p:spPr>
          <a:xfrm xmlns:a="http://schemas.openxmlformats.org/drawingml/2006/main">
            <a:off x="7877175" y="2343150"/>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01  Venture</a:t>
            </a:r>
          </a:p>
        </p:txBody>
      </p:sp>
      <p:sp>
        <p:nvSpPr>
          <p:cNvPr id="7" name="text">
            <a:extLst xmlns:a="http://schemas.openxmlformats.org/drawingml/2006/main">
              <a:ext uri="{FF2B5EF4-FFF2-40B4-BE49-F238E27FC236}">
                <a16:creationId xmlns:a16="http://schemas.microsoft.com/office/drawing/2014/main" id="{EFD65599-60EA-4CF1-BB03-9031F220FE90}"/>
              </a:ext>
            </a:extLst>
          </p:cNvPr>
          <p:cNvSpPr>
            <a:spLocks xmlns:a="http://schemas.openxmlformats.org/drawingml/2006/main" noGrp="1"/>
          </p:cNvSpPr>
          <p:nvPr/>
        </p:nvSpPr>
        <p:spPr>
          <a:xfrm xmlns:a="http://schemas.openxmlformats.org/drawingml/2006/main">
            <a:off x="7877175" y="2752725"/>
            <a:ext cx="3619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Recommend builders for the idea.</a:t>
            </a:r>
          </a:p>
        </p:txBody>
      </p:sp>
      <p:sp>
        <p:nvSpPr>
          <p:cNvPr id="8" name="text">
            <a:extLst xmlns:a="http://schemas.openxmlformats.org/drawingml/2006/main">
              <a:ext uri="{FF2B5EF4-FFF2-40B4-BE49-F238E27FC236}">
                <a16:creationId xmlns:a16="http://schemas.microsoft.com/office/drawing/2014/main" id="{A75C1D99-A971-4AB7-9D0E-A38CABB5119A}"/>
              </a:ext>
            </a:extLst>
          </p:cNvPr>
          <p:cNvSpPr>
            <a:spLocks xmlns:a="http://schemas.openxmlformats.org/drawingml/2006/main" noGrp="1"/>
          </p:cNvSpPr>
          <p:nvPr/>
        </p:nvSpPr>
        <p:spPr>
          <a:xfrm xmlns:a="http://schemas.openxmlformats.org/drawingml/2006/main">
            <a:off x="7877175" y="3286125"/>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02  Interview</a:t>
            </a:r>
          </a:p>
        </p:txBody>
      </p:sp>
      <p:sp>
        <p:nvSpPr>
          <p:cNvPr id="9" name="text">
            <a:extLst xmlns:a="http://schemas.openxmlformats.org/drawingml/2006/main">
              <a:ext uri="{FF2B5EF4-FFF2-40B4-BE49-F238E27FC236}">
                <a16:creationId xmlns:a16="http://schemas.microsoft.com/office/drawing/2014/main" id="{71D030AF-ADFC-4A30-81FD-1C6948422BF8}"/>
              </a:ext>
            </a:extLst>
          </p:cNvPr>
          <p:cNvSpPr>
            <a:spLocks xmlns:a="http://schemas.openxmlformats.org/drawingml/2006/main" noGrp="1"/>
          </p:cNvSpPr>
          <p:nvPr/>
        </p:nvSpPr>
        <p:spPr>
          <a:xfrm xmlns:a="http://schemas.openxmlformats.org/drawingml/2006/main">
            <a:off x="7877175" y="3695700"/>
            <a:ext cx="3619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Invite, confirm and review fit.</a:t>
            </a:r>
          </a:p>
        </p:txBody>
      </p:sp>
      <p:sp>
        <p:nvSpPr>
          <p:cNvPr id="10" name="text">
            <a:extLst xmlns:a="http://schemas.openxmlformats.org/drawingml/2006/main">
              <a:ext uri="{FF2B5EF4-FFF2-40B4-BE49-F238E27FC236}">
                <a16:creationId xmlns:a16="http://schemas.microsoft.com/office/drawing/2014/main" id="{884D1014-C776-4E6F-B097-A52B8F232B2E}"/>
              </a:ext>
            </a:extLst>
          </p:cNvPr>
          <p:cNvSpPr>
            <a:spLocks xmlns:a="http://schemas.openxmlformats.org/drawingml/2006/main" noGrp="1"/>
          </p:cNvSpPr>
          <p:nvPr/>
        </p:nvSpPr>
        <p:spPr>
          <a:xfrm xmlns:a="http://schemas.openxmlformats.org/drawingml/2006/main">
            <a:off x="7877175" y="4229100"/>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03  Offer</a:t>
            </a:r>
          </a:p>
        </p:txBody>
      </p:sp>
      <p:sp>
        <p:nvSpPr>
          <p:cNvPr id="11" name="text">
            <a:extLst xmlns:a="http://schemas.openxmlformats.org/drawingml/2006/main">
              <a:ext uri="{FF2B5EF4-FFF2-40B4-BE49-F238E27FC236}">
                <a16:creationId xmlns:a16="http://schemas.microsoft.com/office/drawing/2014/main" id="{3F9886C0-E200-43C7-9A0B-F2DC997DB478}"/>
              </a:ext>
            </a:extLst>
          </p:cNvPr>
          <p:cNvSpPr>
            <a:spLocks xmlns:a="http://schemas.openxmlformats.org/drawingml/2006/main" noGrp="1"/>
          </p:cNvSpPr>
          <p:nvPr/>
        </p:nvSpPr>
        <p:spPr>
          <a:xfrm xmlns:a="http://schemas.openxmlformats.org/drawingml/2006/main">
            <a:off x="7877175" y="4638675"/>
            <a:ext cx="3619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Agree paid terms and equity intent.</a:t>
            </a:r>
          </a:p>
        </p:txBody>
      </p:sp>
      <p:sp>
        <p:nvSpPr>
          <p:cNvPr id="12" name="text">
            <a:extLst xmlns:a="http://schemas.openxmlformats.org/drawingml/2006/main">
              <a:ext uri="{FF2B5EF4-FFF2-40B4-BE49-F238E27FC236}">
                <a16:creationId xmlns:a16="http://schemas.microsoft.com/office/drawing/2014/main" id="{CBB43438-99F7-4270-8FB0-9B18AEB2CD88}"/>
              </a:ext>
            </a:extLst>
          </p:cNvPr>
          <p:cNvSpPr>
            <a:spLocks xmlns:a="http://schemas.openxmlformats.org/drawingml/2006/main" noGrp="1"/>
          </p:cNvSpPr>
          <p:nvPr/>
        </p:nvSpPr>
        <p:spPr>
          <a:xfrm xmlns:a="http://schemas.openxmlformats.org/drawingml/2006/main">
            <a:off x="7877175" y="5172075"/>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04  Contract</a:t>
            </a:r>
          </a:p>
        </p:txBody>
      </p:sp>
      <p:sp>
        <p:nvSpPr>
          <p:cNvPr id="13" name="text">
            <a:extLst xmlns:a="http://schemas.openxmlformats.org/drawingml/2006/main">
              <a:ext uri="{FF2B5EF4-FFF2-40B4-BE49-F238E27FC236}">
                <a16:creationId xmlns:a16="http://schemas.microsoft.com/office/drawing/2014/main" id="{6A207B8E-2475-4F06-94DD-6C46A299EDA2}"/>
              </a:ext>
            </a:extLst>
          </p:cNvPr>
          <p:cNvSpPr>
            <a:spLocks xmlns:a="http://schemas.openxmlformats.org/drawingml/2006/main" noGrp="1"/>
          </p:cNvSpPr>
          <p:nvPr/>
        </p:nvSpPr>
        <p:spPr>
          <a:xfrm xmlns:a="http://schemas.openxmlformats.org/drawingml/2006/main">
            <a:off x="7877175" y="5581650"/>
            <a:ext cx="3619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Monthly, quarterly or milestones.</a:t>
            </a:r>
          </a:p>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Both people simulate acceptance.</a:t>
            </a:r>
          </a:p>
        </p:txBody>
      </p:sp>
      <p:sp>
        <p:nvSpPr>
          <p:cNvPr id="14" name="context-note">
            <a:extLst xmlns:a="http://schemas.openxmlformats.org/drawingml/2006/main">
              <a:ext uri="{FF2B5EF4-FFF2-40B4-BE49-F238E27FC236}">
                <a16:creationId xmlns:a16="http://schemas.microsoft.com/office/drawing/2014/main" id="{BD86370E-EC6C-4CA9-AC6C-06E9A36AA1F8}"/>
              </a:ext>
            </a:extLst>
          </p:cNvPr>
          <p:cNvSpPr>
            <a:spLocks xmlns:a="http://schemas.openxmlformats.org/drawingml/2006/main" noGrp="1"/>
          </p:cNvSpPr>
          <p:nvPr/>
        </p:nvSpPr>
        <p:spPr>
          <a:xfrm xmlns:a="http://schemas.openxmlformats.org/drawingml/2006/main">
            <a:off x="609600" y="63817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Also working locally: internships, profile creation, downloads, capacity checks and saved state</a:t>
            </a:r>
          </a:p>
        </p:txBody>
      </p:sp>
    </p:spTree>
    <p:extLst>
      <p:ext uri="{BB962C8B-B14F-4D97-AF65-F5344CB8AC3E}">
        <p14:creationId xmlns:p14="http://schemas.microsoft.com/office/powerpoint/2010/main" val="2087539895"/>
      </p:ext>
    </p:extLst>
  </p:cSld>
</p:sld>
</file>

<file path=ppt/slides/slide8.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23" name="brand-wordmark">
            <a:extLst xmlns:a="http://schemas.openxmlformats.org/drawingml/2006/main">
              <a:ext uri="{FF2B5EF4-FFF2-40B4-BE49-F238E27FC236}">
                <a16:creationId xmlns:a16="http://schemas.microsoft.com/office/drawing/2014/main" id="{4E06940F-0D3B-4C38-8C1F-5463E6B3989E}"/>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58DC4B63-1549-496F-9B59-FEC26991D358}"/>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08 / 11</a:t>
            </a:r>
          </a:p>
        </p:txBody>
      </p:sp>
      <p:sp>
        <p:nvSpPr>
          <p:cNvPr id="3" name="slide-title">
            <a:extLst xmlns:a="http://schemas.openxmlformats.org/drawingml/2006/main">
              <a:ext uri="{FF2B5EF4-FFF2-40B4-BE49-F238E27FC236}">
                <a16:creationId xmlns:a16="http://schemas.microsoft.com/office/drawing/2014/main" id="{DBC6FCF9-6347-46D2-8232-BA48796631BC}"/>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Business model</a:t>
            </a:r>
          </a:p>
        </p:txBody>
      </p:sp>
      <p:sp>
        <p:nvSpPr>
          <p:cNvPr id="4" name="text">
            <a:extLst xmlns:a="http://schemas.openxmlformats.org/drawingml/2006/main">
              <a:ext uri="{FF2B5EF4-FFF2-40B4-BE49-F238E27FC236}">
                <a16:creationId xmlns:a16="http://schemas.microsoft.com/office/drawing/2014/main" id="{1AD2BC11-42DA-4157-B82E-019061715034}"/>
              </a:ext>
            </a:extLst>
          </p:cNvPr>
          <p:cNvSpPr>
            <a:spLocks xmlns:a="http://schemas.openxmlformats.org/drawingml/2006/main" noGrp="1"/>
          </p:cNvSpPr>
          <p:nvPr/>
        </p:nvSpPr>
        <p:spPr>
          <a:xfrm xmlns:a="http://schemas.openxmlformats.org/drawingml/2006/main">
            <a:off x="609600" y="192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71717"/>
                </a:solidFill>
                <a:latin typeface="Arial"/>
                <a:ea typeface="Arial"/>
                <a:cs typeface="Arial"/>
              </a:defRPr>
            </a:defPPr>
            <a:lvl1pPr algn="l">
              <a:defRPr sz="3000" b="0">
                <a:solidFill>
                  <a:srgbClr val="171717"/>
                </a:solidFill>
                <a:latin typeface="Arial"/>
                <a:ea typeface="Arial"/>
                <a:cs typeface="Arial"/>
              </a:defRPr>
            </a:lvl1pPr>
            <a:lvl2pPr algn="l">
              <a:defRPr sz="3000" b="0">
                <a:solidFill>
                  <a:srgbClr val="171717"/>
                </a:solidFill>
                <a:latin typeface="Arial"/>
                <a:ea typeface="Arial"/>
                <a:cs typeface="Arial"/>
              </a:defRPr>
            </a:lvl2pPr>
            <a:lvl3pPr algn="l">
              <a:defRPr sz="3000" b="0">
                <a:solidFill>
                  <a:srgbClr val="171717"/>
                </a:solidFill>
                <a:latin typeface="Arial"/>
                <a:ea typeface="Arial"/>
                <a:cs typeface="Arial"/>
              </a:defRPr>
            </a:lvl3pPr>
            <a:lvl4pPr algn="l">
              <a:defRPr sz="3000" b="0">
                <a:solidFill>
                  <a:srgbClr val="171717"/>
                </a:solidFill>
                <a:latin typeface="Arial"/>
                <a:ea typeface="Arial"/>
                <a:cs typeface="Arial"/>
              </a:defRPr>
            </a:lvl4pPr>
            <a:lvl5pPr algn="l">
              <a:defRPr sz="3000" b="0">
                <a:solidFill>
                  <a:srgbClr val="171717"/>
                </a:solidFill>
                <a:latin typeface="Arial"/>
                <a:ea typeface="Arial"/>
                <a:cs typeface="Arial"/>
              </a:defRPr>
            </a:lvl5pPr>
            <a:lvl6pPr algn="l">
              <a:defRPr sz="3000" b="0">
                <a:solidFill>
                  <a:srgbClr val="171717"/>
                </a:solidFill>
                <a:latin typeface="Arial"/>
                <a:ea typeface="Arial"/>
                <a:cs typeface="Arial"/>
              </a:defRPr>
            </a:lvl6pPr>
            <a:lvl7pPr algn="l">
              <a:defRPr sz="3000" b="0">
                <a:solidFill>
                  <a:srgbClr val="171717"/>
                </a:solidFill>
                <a:latin typeface="Arial"/>
                <a:ea typeface="Arial"/>
                <a:cs typeface="Arial"/>
              </a:defRPr>
            </a:lvl7pPr>
            <a:lvl8pPr algn="l">
              <a:defRPr sz="3000" b="0">
                <a:solidFill>
                  <a:srgbClr val="171717"/>
                </a:solidFill>
                <a:latin typeface="Arial"/>
                <a:ea typeface="Arial"/>
                <a:cs typeface="Arial"/>
              </a:defRPr>
            </a:lvl8pPr>
            <a:lvl9pPr algn="l">
              <a:defRPr sz="3000" b="0">
                <a:solidFill>
                  <a:srgbClr val="171717"/>
                </a:solidFill>
                <a:latin typeface="Arial"/>
                <a:ea typeface="Arial"/>
                <a:cs typeface="Arial"/>
              </a:defRPr>
            </a:lvl9pPr>
          </a:lstStyle>
          <a:p xmlns:a="http://schemas.openxmlformats.org/drawingml/2006/main">
            <a:pPr algn="l">
              <a:defRPr sz="3000" b="0">
                <a:solidFill>
                  <a:srgbClr val="171717"/>
                </a:solidFill>
                <a:latin typeface="Arial"/>
                <a:ea typeface="Arial"/>
                <a:cs typeface="Arial"/>
              </a:defRPr>
            </a:pPr>
            <a:r>
              <a:rPr sz="3000" b="0">
                <a:solidFill>
                  <a:srgbClr val="171717"/>
                </a:solidFill>
                <a:latin typeface="Arial"/>
                <a:ea typeface="Arial"/>
                <a:cs typeface="Arial"/>
              </a:rPr>
              <a:t>Free to join. Premium tools for founders.</a:t>
            </a:r>
          </a:p>
        </p:txBody>
      </p:sp>
      <p:sp>
        <p:nvSpPr>
          <p:cNvPr id="5" name="section-label">
            <a:extLst xmlns:a="http://schemas.openxmlformats.org/drawingml/2006/main">
              <a:ext uri="{FF2B5EF4-FFF2-40B4-BE49-F238E27FC236}">
                <a16:creationId xmlns:a16="http://schemas.microsoft.com/office/drawing/2014/main" id="{405269CA-BFD0-46FD-B5DE-F0EE2DC0BDBD}"/>
              </a:ext>
            </a:extLst>
          </p:cNvPr>
          <p:cNvSpPr>
            <a:spLocks xmlns:a="http://schemas.openxmlformats.org/drawingml/2006/main" noGrp="1"/>
          </p:cNvSpPr>
          <p:nvPr/>
        </p:nvSpPr>
        <p:spPr>
          <a:xfrm xmlns:a="http://schemas.openxmlformats.org/drawingml/2006/main">
            <a:off x="609600" y="26765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PROPOSED COMMERCIAL MODEL  /  NO CHARGES IN THE PROTOTYPE</a:t>
            </a:r>
          </a:p>
        </p:txBody>
      </p:sp>
      <p:sp>
        <p:nvSpPr>
          <p:cNvPr id="6" name="text">
            <a:extLst xmlns:a="http://schemas.openxmlformats.org/drawingml/2006/main">
              <a:ext uri="{FF2B5EF4-FFF2-40B4-BE49-F238E27FC236}">
                <a16:creationId xmlns:a16="http://schemas.microsoft.com/office/drawing/2014/main" id="{B4B49B1E-2A7E-4812-8C52-BAFA1B9E062A}"/>
              </a:ext>
            </a:extLst>
          </p:cNvPr>
          <p:cNvSpPr>
            <a:spLocks xmlns:a="http://schemas.openxmlformats.org/drawingml/2006/main" noGrp="1"/>
          </p:cNvSpPr>
          <p:nvPr/>
        </p:nvSpPr>
        <p:spPr>
          <a:xfrm xmlns:a="http://schemas.openxmlformats.org/drawingml/2006/main">
            <a:off x="609600" y="31242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Founder premium</a:t>
            </a:r>
          </a:p>
        </p:txBody>
      </p:sp>
      <p:sp>
        <p:nvSpPr>
          <p:cNvPr id="7" name="text">
            <a:extLst xmlns:a="http://schemas.openxmlformats.org/drawingml/2006/main">
              <a:ext uri="{FF2B5EF4-FFF2-40B4-BE49-F238E27FC236}">
                <a16:creationId xmlns:a16="http://schemas.microsoft.com/office/drawing/2014/main" id="{4EF341EA-AF0F-4831-B17C-C2621414C472}"/>
              </a:ext>
            </a:extLst>
          </p:cNvPr>
          <p:cNvSpPr>
            <a:spLocks xmlns:a="http://schemas.openxmlformats.org/drawingml/2006/main" noGrp="1"/>
          </p:cNvSpPr>
          <p:nvPr/>
        </p:nvSpPr>
        <p:spPr>
          <a:xfrm xmlns:a="http://schemas.openxmlformats.org/drawingml/2006/main">
            <a:off x="609600" y="363855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171717"/>
                </a:solidFill>
                <a:latin typeface="Arial"/>
                <a:ea typeface="Arial"/>
                <a:cs typeface="Arial"/>
              </a:defRPr>
            </a:defPPr>
            <a:lvl1pPr algn="l">
              <a:defRPr sz="4350" b="0">
                <a:solidFill>
                  <a:srgbClr val="171717"/>
                </a:solidFill>
                <a:latin typeface="Arial"/>
                <a:ea typeface="Arial"/>
                <a:cs typeface="Arial"/>
              </a:defRPr>
            </a:lvl1pPr>
            <a:lvl2pPr algn="l">
              <a:defRPr sz="4350" b="0">
                <a:solidFill>
                  <a:srgbClr val="171717"/>
                </a:solidFill>
                <a:latin typeface="Arial"/>
                <a:ea typeface="Arial"/>
                <a:cs typeface="Arial"/>
              </a:defRPr>
            </a:lvl2pPr>
            <a:lvl3pPr algn="l">
              <a:defRPr sz="4350" b="0">
                <a:solidFill>
                  <a:srgbClr val="171717"/>
                </a:solidFill>
                <a:latin typeface="Arial"/>
                <a:ea typeface="Arial"/>
                <a:cs typeface="Arial"/>
              </a:defRPr>
            </a:lvl3pPr>
            <a:lvl4pPr algn="l">
              <a:defRPr sz="4350" b="0">
                <a:solidFill>
                  <a:srgbClr val="171717"/>
                </a:solidFill>
                <a:latin typeface="Arial"/>
                <a:ea typeface="Arial"/>
                <a:cs typeface="Arial"/>
              </a:defRPr>
            </a:lvl4pPr>
            <a:lvl5pPr algn="l">
              <a:defRPr sz="4350" b="0">
                <a:solidFill>
                  <a:srgbClr val="171717"/>
                </a:solidFill>
                <a:latin typeface="Arial"/>
                <a:ea typeface="Arial"/>
                <a:cs typeface="Arial"/>
              </a:defRPr>
            </a:lvl5pPr>
            <a:lvl6pPr algn="l">
              <a:defRPr sz="4350" b="0">
                <a:solidFill>
                  <a:srgbClr val="171717"/>
                </a:solidFill>
                <a:latin typeface="Arial"/>
                <a:ea typeface="Arial"/>
                <a:cs typeface="Arial"/>
              </a:defRPr>
            </a:lvl6pPr>
            <a:lvl7pPr algn="l">
              <a:defRPr sz="4350" b="0">
                <a:solidFill>
                  <a:srgbClr val="171717"/>
                </a:solidFill>
                <a:latin typeface="Arial"/>
                <a:ea typeface="Arial"/>
                <a:cs typeface="Arial"/>
              </a:defRPr>
            </a:lvl7pPr>
            <a:lvl8pPr algn="l">
              <a:defRPr sz="4350" b="0">
                <a:solidFill>
                  <a:srgbClr val="171717"/>
                </a:solidFill>
                <a:latin typeface="Arial"/>
                <a:ea typeface="Arial"/>
                <a:cs typeface="Arial"/>
              </a:defRPr>
            </a:lvl8pPr>
            <a:lvl9pPr algn="l">
              <a:defRPr sz="4350" b="0">
                <a:solidFill>
                  <a:srgbClr val="171717"/>
                </a:solidFill>
                <a:latin typeface="Arial"/>
                <a:ea typeface="Arial"/>
                <a:cs typeface="Arial"/>
              </a:defRPr>
            </a:lvl9pPr>
          </a:lstStyle>
          <a:p xmlns:a="http://schemas.openxmlformats.org/drawingml/2006/main">
            <a:pPr algn="l">
              <a:defRPr sz="4350" b="0">
                <a:solidFill>
                  <a:srgbClr val="171717"/>
                </a:solidFill>
                <a:latin typeface="Arial"/>
                <a:ea typeface="Arial"/>
                <a:cs typeface="Arial"/>
              </a:defRPr>
            </a:pPr>
            <a:r>
              <a:rPr sz="4350" b="0">
                <a:solidFill>
                  <a:srgbClr val="171717"/>
                </a:solidFill>
                <a:latin typeface="Arial"/>
                <a:ea typeface="Arial"/>
                <a:cs typeface="Arial"/>
              </a:rPr>
              <a:t>$144/yr</a:t>
            </a:r>
          </a:p>
        </p:txBody>
      </p:sp>
      <p:sp>
        <p:nvSpPr>
          <p:cNvPr id="8" name="text">
            <a:extLst xmlns:a="http://schemas.openxmlformats.org/drawingml/2006/main">
              <a:ext uri="{FF2B5EF4-FFF2-40B4-BE49-F238E27FC236}">
                <a16:creationId xmlns:a16="http://schemas.microsoft.com/office/drawing/2014/main" id="{807C13F5-2CFA-4D58-BAB1-9E0525CD4506}"/>
              </a:ext>
            </a:extLst>
          </p:cNvPr>
          <p:cNvSpPr>
            <a:spLocks xmlns:a="http://schemas.openxmlformats.org/drawingml/2006/main" noGrp="1"/>
          </p:cNvSpPr>
          <p:nvPr/>
        </p:nvSpPr>
        <p:spPr>
          <a:xfrm xmlns:a="http://schemas.openxmlformats.org/drawingml/2006/main">
            <a:off x="609600" y="44386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One free idea trial.</a:t>
            </a:r>
          </a:p>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Paid idea submissions after.</a:t>
            </a:r>
          </a:p>
        </p:txBody>
      </p:sp>
      <p:sp>
        <p:nvSpPr>
          <p:cNvPr id="9" name="text">
            <a:extLst xmlns:a="http://schemas.openxmlformats.org/drawingml/2006/main">
              <a:ext uri="{FF2B5EF4-FFF2-40B4-BE49-F238E27FC236}">
                <a16:creationId xmlns:a16="http://schemas.microsoft.com/office/drawing/2014/main" id="{58456B53-D508-401B-8478-7D874A8104C9}"/>
              </a:ext>
            </a:extLst>
          </p:cNvPr>
          <p:cNvSpPr>
            <a:spLocks xmlns:a="http://schemas.openxmlformats.org/drawingml/2006/main" noGrp="1"/>
          </p:cNvSpPr>
          <p:nvPr/>
        </p:nvSpPr>
        <p:spPr>
          <a:xfrm xmlns:a="http://schemas.openxmlformats.org/drawingml/2006/main">
            <a:off x="4448175" y="31242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Contract work</a:t>
            </a:r>
          </a:p>
        </p:txBody>
      </p:sp>
      <p:sp>
        <p:nvSpPr>
          <p:cNvPr id="10" name="text">
            <a:extLst xmlns:a="http://schemas.openxmlformats.org/drawingml/2006/main">
              <a:ext uri="{FF2B5EF4-FFF2-40B4-BE49-F238E27FC236}">
                <a16:creationId xmlns:a16="http://schemas.microsoft.com/office/drawing/2014/main" id="{7D746AB6-107C-456A-806D-3EE847EB5E56}"/>
              </a:ext>
            </a:extLst>
          </p:cNvPr>
          <p:cNvSpPr>
            <a:spLocks xmlns:a="http://schemas.openxmlformats.org/drawingml/2006/main" noGrp="1"/>
          </p:cNvSpPr>
          <p:nvPr/>
        </p:nvSpPr>
        <p:spPr>
          <a:xfrm xmlns:a="http://schemas.openxmlformats.org/drawingml/2006/main">
            <a:off x="4448175" y="363855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171717"/>
                </a:solidFill>
                <a:latin typeface="Arial"/>
                <a:ea typeface="Arial"/>
                <a:cs typeface="Arial"/>
              </a:defRPr>
            </a:defPPr>
            <a:lvl1pPr algn="l">
              <a:defRPr sz="4350" b="0">
                <a:solidFill>
                  <a:srgbClr val="171717"/>
                </a:solidFill>
                <a:latin typeface="Arial"/>
                <a:ea typeface="Arial"/>
                <a:cs typeface="Arial"/>
              </a:defRPr>
            </a:lvl1pPr>
            <a:lvl2pPr algn="l">
              <a:defRPr sz="4350" b="0">
                <a:solidFill>
                  <a:srgbClr val="171717"/>
                </a:solidFill>
                <a:latin typeface="Arial"/>
                <a:ea typeface="Arial"/>
                <a:cs typeface="Arial"/>
              </a:defRPr>
            </a:lvl2pPr>
            <a:lvl3pPr algn="l">
              <a:defRPr sz="4350" b="0">
                <a:solidFill>
                  <a:srgbClr val="171717"/>
                </a:solidFill>
                <a:latin typeface="Arial"/>
                <a:ea typeface="Arial"/>
                <a:cs typeface="Arial"/>
              </a:defRPr>
            </a:lvl3pPr>
            <a:lvl4pPr algn="l">
              <a:defRPr sz="4350" b="0">
                <a:solidFill>
                  <a:srgbClr val="171717"/>
                </a:solidFill>
                <a:latin typeface="Arial"/>
                <a:ea typeface="Arial"/>
                <a:cs typeface="Arial"/>
              </a:defRPr>
            </a:lvl4pPr>
            <a:lvl5pPr algn="l">
              <a:defRPr sz="4350" b="0">
                <a:solidFill>
                  <a:srgbClr val="171717"/>
                </a:solidFill>
                <a:latin typeface="Arial"/>
                <a:ea typeface="Arial"/>
                <a:cs typeface="Arial"/>
              </a:defRPr>
            </a:lvl5pPr>
            <a:lvl6pPr algn="l">
              <a:defRPr sz="4350" b="0">
                <a:solidFill>
                  <a:srgbClr val="171717"/>
                </a:solidFill>
                <a:latin typeface="Arial"/>
                <a:ea typeface="Arial"/>
                <a:cs typeface="Arial"/>
              </a:defRPr>
            </a:lvl6pPr>
            <a:lvl7pPr algn="l">
              <a:defRPr sz="4350" b="0">
                <a:solidFill>
                  <a:srgbClr val="171717"/>
                </a:solidFill>
                <a:latin typeface="Arial"/>
                <a:ea typeface="Arial"/>
                <a:cs typeface="Arial"/>
              </a:defRPr>
            </a:lvl7pPr>
            <a:lvl8pPr algn="l">
              <a:defRPr sz="4350" b="0">
                <a:solidFill>
                  <a:srgbClr val="171717"/>
                </a:solidFill>
                <a:latin typeface="Arial"/>
                <a:ea typeface="Arial"/>
                <a:cs typeface="Arial"/>
              </a:defRPr>
            </a:lvl8pPr>
            <a:lvl9pPr algn="l">
              <a:defRPr sz="4350" b="0">
                <a:solidFill>
                  <a:srgbClr val="171717"/>
                </a:solidFill>
                <a:latin typeface="Arial"/>
                <a:ea typeface="Arial"/>
                <a:cs typeface="Arial"/>
              </a:defRPr>
            </a:lvl9pPr>
          </a:lstStyle>
          <a:p xmlns:a="http://schemas.openxmlformats.org/drawingml/2006/main">
            <a:pPr algn="l">
              <a:defRPr sz="4350" b="0">
                <a:solidFill>
                  <a:srgbClr val="171717"/>
                </a:solidFill>
                <a:latin typeface="Arial"/>
                <a:ea typeface="Arial"/>
                <a:cs typeface="Arial"/>
              </a:defRPr>
            </a:pPr>
            <a:r>
              <a:rPr sz="4350" b="0">
                <a:solidFill>
                  <a:srgbClr val="171717"/>
                </a:solidFill>
                <a:latin typeface="Arial"/>
                <a:ea typeface="Arial"/>
                <a:cs typeface="Arial"/>
              </a:rPr>
              <a:t>5%</a:t>
            </a:r>
          </a:p>
        </p:txBody>
      </p:sp>
      <p:sp>
        <p:nvSpPr>
          <p:cNvPr id="11" name="text">
            <a:extLst xmlns:a="http://schemas.openxmlformats.org/drawingml/2006/main">
              <a:ext uri="{FF2B5EF4-FFF2-40B4-BE49-F238E27FC236}">
                <a16:creationId xmlns:a16="http://schemas.microsoft.com/office/drawing/2014/main" id="{25561324-0DA6-45D2-9212-FFE72EB449CE}"/>
              </a:ext>
            </a:extLst>
          </p:cNvPr>
          <p:cNvSpPr>
            <a:spLocks xmlns:a="http://schemas.openxmlformats.org/drawingml/2006/main" noGrp="1"/>
          </p:cNvSpPr>
          <p:nvPr/>
        </p:nvSpPr>
        <p:spPr>
          <a:xfrm xmlns:a="http://schemas.openxmlformats.org/drawingml/2006/main">
            <a:off x="4448175" y="44386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Proposed contract commission.</a:t>
            </a:r>
          </a:p>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No fee is collected in the demo.</a:t>
            </a:r>
          </a:p>
        </p:txBody>
      </p:sp>
      <p:sp>
        <p:nvSpPr>
          <p:cNvPr id="12" name="text">
            <a:extLst xmlns:a="http://schemas.openxmlformats.org/drawingml/2006/main">
              <a:ext uri="{FF2B5EF4-FFF2-40B4-BE49-F238E27FC236}">
                <a16:creationId xmlns:a16="http://schemas.microsoft.com/office/drawing/2014/main" id="{7761F69F-4486-4040-8ACB-D18F05AF526B}"/>
              </a:ext>
            </a:extLst>
          </p:cNvPr>
          <p:cNvSpPr>
            <a:spLocks xmlns:a="http://schemas.openxmlformats.org/drawingml/2006/main" noGrp="1"/>
          </p:cNvSpPr>
          <p:nvPr/>
        </p:nvSpPr>
        <p:spPr>
          <a:xfrm xmlns:a="http://schemas.openxmlformats.org/drawingml/2006/main">
            <a:off x="8286750" y="31242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Partners + events</a:t>
            </a:r>
          </a:p>
        </p:txBody>
      </p:sp>
      <p:sp>
        <p:nvSpPr>
          <p:cNvPr id="13" name="text">
            <a:extLst xmlns:a="http://schemas.openxmlformats.org/drawingml/2006/main">
              <a:ext uri="{FF2B5EF4-FFF2-40B4-BE49-F238E27FC236}">
                <a16:creationId xmlns:a16="http://schemas.microsoft.com/office/drawing/2014/main" id="{3928EA59-65F6-4669-8A6C-5D06B9AB1070}"/>
              </a:ext>
            </a:extLst>
          </p:cNvPr>
          <p:cNvSpPr>
            <a:spLocks xmlns:a="http://schemas.openxmlformats.org/drawingml/2006/main" noGrp="1"/>
          </p:cNvSpPr>
          <p:nvPr/>
        </p:nvSpPr>
        <p:spPr>
          <a:xfrm xmlns:a="http://schemas.openxmlformats.org/drawingml/2006/main">
            <a:off x="8286750" y="363855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71717"/>
                </a:solidFill>
                <a:latin typeface="Arial"/>
                <a:ea typeface="Arial"/>
                <a:cs typeface="Arial"/>
              </a:defRPr>
            </a:defPPr>
            <a:lvl1pPr algn="l">
              <a:defRPr sz="3600" b="0">
                <a:solidFill>
                  <a:srgbClr val="171717"/>
                </a:solidFill>
                <a:latin typeface="Arial"/>
                <a:ea typeface="Arial"/>
                <a:cs typeface="Arial"/>
              </a:defRPr>
            </a:lvl1pPr>
            <a:lvl2pPr algn="l">
              <a:defRPr sz="3600" b="0">
                <a:solidFill>
                  <a:srgbClr val="171717"/>
                </a:solidFill>
                <a:latin typeface="Arial"/>
                <a:ea typeface="Arial"/>
                <a:cs typeface="Arial"/>
              </a:defRPr>
            </a:lvl2pPr>
            <a:lvl3pPr algn="l">
              <a:defRPr sz="3600" b="0">
                <a:solidFill>
                  <a:srgbClr val="171717"/>
                </a:solidFill>
                <a:latin typeface="Arial"/>
                <a:ea typeface="Arial"/>
                <a:cs typeface="Arial"/>
              </a:defRPr>
            </a:lvl3pPr>
            <a:lvl4pPr algn="l">
              <a:defRPr sz="3600" b="0">
                <a:solidFill>
                  <a:srgbClr val="171717"/>
                </a:solidFill>
                <a:latin typeface="Arial"/>
                <a:ea typeface="Arial"/>
                <a:cs typeface="Arial"/>
              </a:defRPr>
            </a:lvl4pPr>
            <a:lvl5pPr algn="l">
              <a:defRPr sz="3600" b="0">
                <a:solidFill>
                  <a:srgbClr val="171717"/>
                </a:solidFill>
                <a:latin typeface="Arial"/>
                <a:ea typeface="Arial"/>
                <a:cs typeface="Arial"/>
              </a:defRPr>
            </a:lvl5pPr>
            <a:lvl6pPr algn="l">
              <a:defRPr sz="3600" b="0">
                <a:solidFill>
                  <a:srgbClr val="171717"/>
                </a:solidFill>
                <a:latin typeface="Arial"/>
                <a:ea typeface="Arial"/>
                <a:cs typeface="Arial"/>
              </a:defRPr>
            </a:lvl6pPr>
            <a:lvl7pPr algn="l">
              <a:defRPr sz="3600" b="0">
                <a:solidFill>
                  <a:srgbClr val="171717"/>
                </a:solidFill>
                <a:latin typeface="Arial"/>
                <a:ea typeface="Arial"/>
                <a:cs typeface="Arial"/>
              </a:defRPr>
            </a:lvl7pPr>
            <a:lvl8pPr algn="l">
              <a:defRPr sz="3600" b="0">
                <a:solidFill>
                  <a:srgbClr val="171717"/>
                </a:solidFill>
                <a:latin typeface="Arial"/>
                <a:ea typeface="Arial"/>
                <a:cs typeface="Arial"/>
              </a:defRPr>
            </a:lvl8pPr>
            <a:lvl9pPr algn="l">
              <a:defRPr sz="3600" b="0">
                <a:solidFill>
                  <a:srgbClr val="171717"/>
                </a:solidFill>
                <a:latin typeface="Arial"/>
                <a:ea typeface="Arial"/>
                <a:cs typeface="Arial"/>
              </a:defRPr>
            </a:lvl9pPr>
          </a:lstStyle>
          <a:p xmlns:a="http://schemas.openxmlformats.org/drawingml/2006/main">
            <a:pPr algn="l">
              <a:defRPr sz="3600" b="0">
                <a:solidFill>
                  <a:srgbClr val="171717"/>
                </a:solidFill>
                <a:latin typeface="Arial"/>
                <a:ea typeface="Arial"/>
                <a:cs typeface="Arial"/>
              </a:defRPr>
            </a:pPr>
            <a:r>
              <a:rPr sz="3600" b="0">
                <a:solidFill>
                  <a:srgbClr val="171717"/>
                </a:solidFill>
                <a:latin typeface="Arial"/>
                <a:ea typeface="Arial"/>
                <a:cs typeface="Arial"/>
              </a:rPr>
              <a:t>$750–$2,000</a:t>
            </a:r>
          </a:p>
        </p:txBody>
      </p:sp>
      <p:sp>
        <p:nvSpPr>
          <p:cNvPr id="14" name="text">
            <a:extLst xmlns:a="http://schemas.openxmlformats.org/drawingml/2006/main">
              <a:ext uri="{FF2B5EF4-FFF2-40B4-BE49-F238E27FC236}">
                <a16:creationId xmlns:a16="http://schemas.microsoft.com/office/drawing/2014/main" id="{F8EAAF13-787F-4E63-BA81-FFBFBEAA92AF}"/>
              </a:ext>
            </a:extLst>
          </p:cNvPr>
          <p:cNvSpPr>
            <a:spLocks xmlns:a="http://schemas.openxmlformats.org/drawingml/2006/main" noGrp="1"/>
          </p:cNvSpPr>
          <p:nvPr/>
        </p:nvSpPr>
        <p:spPr>
          <a:xfrm xmlns:a="http://schemas.openxmlformats.org/drawingml/2006/main">
            <a:off x="8286750" y="44386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B54"/>
                </a:solidFill>
                <a:latin typeface="Arial"/>
                <a:ea typeface="Arial"/>
                <a:cs typeface="Arial"/>
              </a:defRPr>
            </a:defPPr>
            <a:lvl1pPr algn="l">
              <a:defRPr sz="1650" b="0">
                <a:solidFill>
                  <a:srgbClr val="625B54"/>
                </a:solidFill>
                <a:latin typeface="Arial"/>
                <a:ea typeface="Arial"/>
                <a:cs typeface="Arial"/>
              </a:defRPr>
            </a:lvl1pPr>
            <a:lvl2pPr algn="l">
              <a:defRPr sz="1650" b="0">
                <a:solidFill>
                  <a:srgbClr val="625B54"/>
                </a:solidFill>
                <a:latin typeface="Arial"/>
                <a:ea typeface="Arial"/>
                <a:cs typeface="Arial"/>
              </a:defRPr>
            </a:lvl2pPr>
            <a:lvl3pPr algn="l">
              <a:defRPr sz="1650" b="0">
                <a:solidFill>
                  <a:srgbClr val="625B54"/>
                </a:solidFill>
                <a:latin typeface="Arial"/>
                <a:ea typeface="Arial"/>
                <a:cs typeface="Arial"/>
              </a:defRPr>
            </a:lvl3pPr>
            <a:lvl4pPr algn="l">
              <a:defRPr sz="1650" b="0">
                <a:solidFill>
                  <a:srgbClr val="625B54"/>
                </a:solidFill>
                <a:latin typeface="Arial"/>
                <a:ea typeface="Arial"/>
                <a:cs typeface="Arial"/>
              </a:defRPr>
            </a:lvl4pPr>
            <a:lvl5pPr algn="l">
              <a:defRPr sz="1650" b="0">
                <a:solidFill>
                  <a:srgbClr val="625B54"/>
                </a:solidFill>
                <a:latin typeface="Arial"/>
                <a:ea typeface="Arial"/>
                <a:cs typeface="Arial"/>
              </a:defRPr>
            </a:lvl5pPr>
            <a:lvl6pPr algn="l">
              <a:defRPr sz="1650" b="0">
                <a:solidFill>
                  <a:srgbClr val="625B54"/>
                </a:solidFill>
                <a:latin typeface="Arial"/>
                <a:ea typeface="Arial"/>
                <a:cs typeface="Arial"/>
              </a:defRPr>
            </a:lvl6pPr>
            <a:lvl7pPr algn="l">
              <a:defRPr sz="1650" b="0">
                <a:solidFill>
                  <a:srgbClr val="625B54"/>
                </a:solidFill>
                <a:latin typeface="Arial"/>
                <a:ea typeface="Arial"/>
                <a:cs typeface="Arial"/>
              </a:defRPr>
            </a:lvl7pPr>
            <a:lvl8pPr algn="l">
              <a:defRPr sz="1650" b="0">
                <a:solidFill>
                  <a:srgbClr val="625B54"/>
                </a:solidFill>
                <a:latin typeface="Arial"/>
                <a:ea typeface="Arial"/>
                <a:cs typeface="Arial"/>
              </a:defRPr>
            </a:lvl8pPr>
            <a:lvl9pPr algn="l">
              <a:defRPr sz="1650" b="0">
                <a:solidFill>
                  <a:srgbClr val="625B54"/>
                </a:solidFill>
                <a:latin typeface="Arial"/>
                <a:ea typeface="Arial"/>
                <a:cs typeface="Arial"/>
              </a:defRPr>
            </a:lvl9pPr>
          </a:lstStyle>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Institutional partnership proposal.</a:t>
            </a:r>
          </a:p>
          <a:p xmlns:a="http://schemas.openxmlformats.org/drawingml/2006/main">
            <a:pPr algn="l">
              <a:defRPr sz="1650" b="0">
                <a:solidFill>
                  <a:srgbClr val="625B54"/>
                </a:solidFill>
                <a:latin typeface="Arial"/>
                <a:ea typeface="Arial"/>
                <a:cs typeface="Arial"/>
              </a:defRPr>
            </a:pPr>
            <a:r>
              <a:rPr sz="1650" b="0">
                <a:solidFill>
                  <a:srgbClr val="625B54"/>
                </a:solidFill>
                <a:latin typeface="Arial"/>
                <a:ea typeface="Arial"/>
                <a:cs typeface="Arial"/>
              </a:rPr>
              <a:t>Billing terms to validate.</a:t>
            </a:r>
          </a:p>
        </p:txBody>
      </p:sp>
      <p:sp>
        <p:nvSpPr>
          <p:cNvPr id="15" name="unit-economics-surface">
            <a:extLst xmlns:a="http://schemas.openxmlformats.org/drawingml/2006/main">
              <a:ext uri="{FF2B5EF4-FFF2-40B4-BE49-F238E27FC236}">
                <a16:creationId xmlns:a16="http://schemas.microsoft.com/office/drawing/2014/main" id="{1C812BEA-ED71-408C-AC37-4CF8100F69F4}"/>
              </a:ext>
            </a:extLst>
          </p:cNvPr>
          <p:cNvSpPr>
            <a:spLocks xmlns:a="http://schemas.openxmlformats.org/drawingml/2006/main" noGrp="1"/>
          </p:cNvSpPr>
          <p:nvPr/>
        </p:nvSpPr>
        <p:spPr>
          <a:xfrm xmlns:a="http://schemas.openxmlformats.org/drawingml/2006/main">
            <a:off x="609600" y="5429250"/>
            <a:ext cx="10972800" cy="771525"/>
          </a:xfrm>
          <a:prstGeom xmlns:a="http://schemas.openxmlformats.org/drawingml/2006/main" prst="roundRect">
            <a:avLst>
              <a:gd name="adj" fmla="val 22222"/>
            </a:avLst>
          </a:prstGeom>
          <a:solidFill xmlns:a="http://schemas.openxmlformats.org/drawingml/2006/main">
            <a:srgbClr val="171717"/>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707DD8D3-05B3-43E6-BA89-E83E6896E322}"/>
              </a:ext>
            </a:extLst>
          </p:cNvPr>
          <p:cNvSpPr>
            <a:spLocks xmlns:a="http://schemas.openxmlformats.org/drawingml/2006/main" noGrp="1"/>
          </p:cNvSpPr>
          <p:nvPr/>
        </p:nvSpPr>
        <p:spPr>
          <a:xfrm xmlns:a="http://schemas.openxmlformats.org/drawingml/2006/main">
            <a:off x="866775" y="5562600"/>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EC6BC"/>
                </a:solidFill>
                <a:latin typeface="Arial"/>
                <a:ea typeface="Arial"/>
                <a:cs typeface="Arial"/>
              </a:defRPr>
            </a:defPPr>
            <a:lvl1pPr algn="l">
              <a:defRPr sz="1200" b="0">
                <a:solidFill>
                  <a:srgbClr val="CEC6BC"/>
                </a:solidFill>
                <a:latin typeface="Arial"/>
                <a:ea typeface="Arial"/>
                <a:cs typeface="Arial"/>
              </a:defRPr>
            </a:lvl1pPr>
            <a:lvl2pPr algn="l">
              <a:defRPr sz="1200" b="0">
                <a:solidFill>
                  <a:srgbClr val="CEC6BC"/>
                </a:solidFill>
                <a:latin typeface="Arial"/>
                <a:ea typeface="Arial"/>
                <a:cs typeface="Arial"/>
              </a:defRPr>
            </a:lvl2pPr>
            <a:lvl3pPr algn="l">
              <a:defRPr sz="1200" b="0">
                <a:solidFill>
                  <a:srgbClr val="CEC6BC"/>
                </a:solidFill>
                <a:latin typeface="Arial"/>
                <a:ea typeface="Arial"/>
                <a:cs typeface="Arial"/>
              </a:defRPr>
            </a:lvl3pPr>
            <a:lvl4pPr algn="l">
              <a:defRPr sz="1200" b="0">
                <a:solidFill>
                  <a:srgbClr val="CEC6BC"/>
                </a:solidFill>
                <a:latin typeface="Arial"/>
                <a:ea typeface="Arial"/>
                <a:cs typeface="Arial"/>
              </a:defRPr>
            </a:lvl4pPr>
            <a:lvl5pPr algn="l">
              <a:defRPr sz="1200" b="0">
                <a:solidFill>
                  <a:srgbClr val="CEC6BC"/>
                </a:solidFill>
                <a:latin typeface="Arial"/>
                <a:ea typeface="Arial"/>
                <a:cs typeface="Arial"/>
              </a:defRPr>
            </a:lvl5pPr>
            <a:lvl6pPr algn="l">
              <a:defRPr sz="1200" b="0">
                <a:solidFill>
                  <a:srgbClr val="CEC6BC"/>
                </a:solidFill>
                <a:latin typeface="Arial"/>
                <a:ea typeface="Arial"/>
                <a:cs typeface="Arial"/>
              </a:defRPr>
            </a:lvl6pPr>
            <a:lvl7pPr algn="l">
              <a:defRPr sz="1200" b="0">
                <a:solidFill>
                  <a:srgbClr val="CEC6BC"/>
                </a:solidFill>
                <a:latin typeface="Arial"/>
                <a:ea typeface="Arial"/>
                <a:cs typeface="Arial"/>
              </a:defRPr>
            </a:lvl7pPr>
            <a:lvl8pPr algn="l">
              <a:defRPr sz="1200" b="0">
                <a:solidFill>
                  <a:srgbClr val="CEC6BC"/>
                </a:solidFill>
                <a:latin typeface="Arial"/>
                <a:ea typeface="Arial"/>
                <a:cs typeface="Arial"/>
              </a:defRPr>
            </a:lvl8pPr>
            <a:lvl9pPr algn="l">
              <a:defRPr sz="1200" b="0">
                <a:solidFill>
                  <a:srgbClr val="CEC6BC"/>
                </a:solidFill>
                <a:latin typeface="Arial"/>
                <a:ea typeface="Arial"/>
                <a:cs typeface="Arial"/>
              </a:defRPr>
            </a:lvl9pPr>
          </a:lstStyle>
          <a:p xmlns:a="http://schemas.openxmlformats.org/drawingml/2006/main">
            <a:pPr algn="l">
              <a:defRPr sz="1200" b="0">
                <a:solidFill>
                  <a:srgbClr val="CEC6BC"/>
                </a:solidFill>
                <a:latin typeface="Arial"/>
                <a:ea typeface="Arial"/>
                <a:cs typeface="Arial"/>
              </a:defRPr>
            </a:pPr>
            <a:r>
              <a:rPr sz="1200" b="0">
                <a:solidFill>
                  <a:srgbClr val="CEC6BC"/>
                </a:solidFill>
                <a:latin typeface="Arial"/>
                <a:ea typeface="Arial"/>
                <a:cs typeface="Arial"/>
              </a:rPr>
              <a:t>Estimated CAC</a:t>
            </a:r>
          </a:p>
        </p:txBody>
      </p:sp>
      <p:sp>
        <p:nvSpPr>
          <p:cNvPr id="17" name="text">
            <a:extLst xmlns:a="http://schemas.openxmlformats.org/drawingml/2006/main">
              <a:ext uri="{FF2B5EF4-FFF2-40B4-BE49-F238E27FC236}">
                <a16:creationId xmlns:a16="http://schemas.microsoft.com/office/drawing/2014/main" id="{27E512FE-3948-4446-B1C8-57C57623EEAD}"/>
              </a:ext>
            </a:extLst>
          </p:cNvPr>
          <p:cNvSpPr>
            <a:spLocks xmlns:a="http://schemas.openxmlformats.org/drawingml/2006/main" noGrp="1"/>
          </p:cNvSpPr>
          <p:nvPr/>
        </p:nvSpPr>
        <p:spPr>
          <a:xfrm xmlns:a="http://schemas.openxmlformats.org/drawingml/2006/main">
            <a:off x="866775" y="5829300"/>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$100</a:t>
            </a:r>
          </a:p>
        </p:txBody>
      </p:sp>
      <p:sp>
        <p:nvSpPr>
          <p:cNvPr id="18" name="text">
            <a:extLst xmlns:a="http://schemas.openxmlformats.org/drawingml/2006/main">
              <a:ext uri="{FF2B5EF4-FFF2-40B4-BE49-F238E27FC236}">
                <a16:creationId xmlns:a16="http://schemas.microsoft.com/office/drawing/2014/main" id="{A74CD703-3A1B-43C8-AEEC-1C9A7D62487C}"/>
              </a:ext>
            </a:extLst>
          </p:cNvPr>
          <p:cNvSpPr>
            <a:spLocks xmlns:a="http://schemas.openxmlformats.org/drawingml/2006/main" noGrp="1"/>
          </p:cNvSpPr>
          <p:nvPr/>
        </p:nvSpPr>
        <p:spPr>
          <a:xfrm xmlns:a="http://schemas.openxmlformats.org/drawingml/2006/main">
            <a:off x="4610100" y="5562600"/>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EC6BC"/>
                </a:solidFill>
                <a:latin typeface="Arial"/>
                <a:ea typeface="Arial"/>
                <a:cs typeface="Arial"/>
              </a:defRPr>
            </a:defPPr>
            <a:lvl1pPr algn="l">
              <a:defRPr sz="1200" b="0">
                <a:solidFill>
                  <a:srgbClr val="CEC6BC"/>
                </a:solidFill>
                <a:latin typeface="Arial"/>
                <a:ea typeface="Arial"/>
                <a:cs typeface="Arial"/>
              </a:defRPr>
            </a:lvl1pPr>
            <a:lvl2pPr algn="l">
              <a:defRPr sz="1200" b="0">
                <a:solidFill>
                  <a:srgbClr val="CEC6BC"/>
                </a:solidFill>
                <a:latin typeface="Arial"/>
                <a:ea typeface="Arial"/>
                <a:cs typeface="Arial"/>
              </a:defRPr>
            </a:lvl2pPr>
            <a:lvl3pPr algn="l">
              <a:defRPr sz="1200" b="0">
                <a:solidFill>
                  <a:srgbClr val="CEC6BC"/>
                </a:solidFill>
                <a:latin typeface="Arial"/>
                <a:ea typeface="Arial"/>
                <a:cs typeface="Arial"/>
              </a:defRPr>
            </a:lvl3pPr>
            <a:lvl4pPr algn="l">
              <a:defRPr sz="1200" b="0">
                <a:solidFill>
                  <a:srgbClr val="CEC6BC"/>
                </a:solidFill>
                <a:latin typeface="Arial"/>
                <a:ea typeface="Arial"/>
                <a:cs typeface="Arial"/>
              </a:defRPr>
            </a:lvl4pPr>
            <a:lvl5pPr algn="l">
              <a:defRPr sz="1200" b="0">
                <a:solidFill>
                  <a:srgbClr val="CEC6BC"/>
                </a:solidFill>
                <a:latin typeface="Arial"/>
                <a:ea typeface="Arial"/>
                <a:cs typeface="Arial"/>
              </a:defRPr>
            </a:lvl5pPr>
            <a:lvl6pPr algn="l">
              <a:defRPr sz="1200" b="0">
                <a:solidFill>
                  <a:srgbClr val="CEC6BC"/>
                </a:solidFill>
                <a:latin typeface="Arial"/>
                <a:ea typeface="Arial"/>
                <a:cs typeface="Arial"/>
              </a:defRPr>
            </a:lvl6pPr>
            <a:lvl7pPr algn="l">
              <a:defRPr sz="1200" b="0">
                <a:solidFill>
                  <a:srgbClr val="CEC6BC"/>
                </a:solidFill>
                <a:latin typeface="Arial"/>
                <a:ea typeface="Arial"/>
                <a:cs typeface="Arial"/>
              </a:defRPr>
            </a:lvl7pPr>
            <a:lvl8pPr algn="l">
              <a:defRPr sz="1200" b="0">
                <a:solidFill>
                  <a:srgbClr val="CEC6BC"/>
                </a:solidFill>
                <a:latin typeface="Arial"/>
                <a:ea typeface="Arial"/>
                <a:cs typeface="Arial"/>
              </a:defRPr>
            </a:lvl8pPr>
            <a:lvl9pPr algn="l">
              <a:defRPr sz="1200" b="0">
                <a:solidFill>
                  <a:srgbClr val="CEC6BC"/>
                </a:solidFill>
                <a:latin typeface="Arial"/>
                <a:ea typeface="Arial"/>
                <a:cs typeface="Arial"/>
              </a:defRPr>
            </a:lvl9pPr>
          </a:lstStyle>
          <a:p xmlns:a="http://schemas.openxmlformats.org/drawingml/2006/main">
            <a:pPr algn="l">
              <a:defRPr sz="1200" b="0">
                <a:solidFill>
                  <a:srgbClr val="CEC6BC"/>
                </a:solidFill>
                <a:latin typeface="Arial"/>
                <a:ea typeface="Arial"/>
                <a:cs typeface="Arial"/>
              </a:defRPr>
            </a:pPr>
            <a:r>
              <a:rPr sz="1200" b="0">
                <a:solidFill>
                  <a:srgbClr val="CEC6BC"/>
                </a:solidFill>
                <a:latin typeface="Arial"/>
                <a:ea typeface="Arial"/>
                <a:cs typeface="Arial"/>
              </a:rPr>
              <a:t>Estimated LTV</a:t>
            </a:r>
          </a:p>
        </p:txBody>
      </p:sp>
      <p:sp>
        <p:nvSpPr>
          <p:cNvPr id="19" name="text">
            <a:extLst xmlns:a="http://schemas.openxmlformats.org/drawingml/2006/main">
              <a:ext uri="{FF2B5EF4-FFF2-40B4-BE49-F238E27FC236}">
                <a16:creationId xmlns:a16="http://schemas.microsoft.com/office/drawing/2014/main" id="{5C8D4D4F-9E9E-43A3-86FA-CDEB6DCFD371}"/>
              </a:ext>
            </a:extLst>
          </p:cNvPr>
          <p:cNvSpPr>
            <a:spLocks xmlns:a="http://schemas.openxmlformats.org/drawingml/2006/main" noGrp="1"/>
          </p:cNvSpPr>
          <p:nvPr/>
        </p:nvSpPr>
        <p:spPr>
          <a:xfrm xmlns:a="http://schemas.openxmlformats.org/drawingml/2006/main">
            <a:off x="4610100" y="5829300"/>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$350</a:t>
            </a:r>
          </a:p>
        </p:txBody>
      </p:sp>
      <p:sp>
        <p:nvSpPr>
          <p:cNvPr id="20" name="text">
            <a:extLst xmlns:a="http://schemas.openxmlformats.org/drawingml/2006/main">
              <a:ext uri="{FF2B5EF4-FFF2-40B4-BE49-F238E27FC236}">
                <a16:creationId xmlns:a16="http://schemas.microsoft.com/office/drawing/2014/main" id="{AEDF859A-85D3-4283-9129-08EE830043D0}"/>
              </a:ext>
            </a:extLst>
          </p:cNvPr>
          <p:cNvSpPr>
            <a:spLocks xmlns:a="http://schemas.openxmlformats.org/drawingml/2006/main" noGrp="1"/>
          </p:cNvSpPr>
          <p:nvPr/>
        </p:nvSpPr>
        <p:spPr>
          <a:xfrm xmlns:a="http://schemas.openxmlformats.org/drawingml/2006/main">
            <a:off x="8353425" y="5562600"/>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EC6BC"/>
                </a:solidFill>
                <a:latin typeface="Arial"/>
                <a:ea typeface="Arial"/>
                <a:cs typeface="Arial"/>
              </a:defRPr>
            </a:defPPr>
            <a:lvl1pPr algn="l">
              <a:defRPr sz="1200" b="0">
                <a:solidFill>
                  <a:srgbClr val="CEC6BC"/>
                </a:solidFill>
                <a:latin typeface="Arial"/>
                <a:ea typeface="Arial"/>
                <a:cs typeface="Arial"/>
              </a:defRPr>
            </a:lvl1pPr>
            <a:lvl2pPr algn="l">
              <a:defRPr sz="1200" b="0">
                <a:solidFill>
                  <a:srgbClr val="CEC6BC"/>
                </a:solidFill>
                <a:latin typeface="Arial"/>
                <a:ea typeface="Arial"/>
                <a:cs typeface="Arial"/>
              </a:defRPr>
            </a:lvl2pPr>
            <a:lvl3pPr algn="l">
              <a:defRPr sz="1200" b="0">
                <a:solidFill>
                  <a:srgbClr val="CEC6BC"/>
                </a:solidFill>
                <a:latin typeface="Arial"/>
                <a:ea typeface="Arial"/>
                <a:cs typeface="Arial"/>
              </a:defRPr>
            </a:lvl3pPr>
            <a:lvl4pPr algn="l">
              <a:defRPr sz="1200" b="0">
                <a:solidFill>
                  <a:srgbClr val="CEC6BC"/>
                </a:solidFill>
                <a:latin typeface="Arial"/>
                <a:ea typeface="Arial"/>
                <a:cs typeface="Arial"/>
              </a:defRPr>
            </a:lvl4pPr>
            <a:lvl5pPr algn="l">
              <a:defRPr sz="1200" b="0">
                <a:solidFill>
                  <a:srgbClr val="CEC6BC"/>
                </a:solidFill>
                <a:latin typeface="Arial"/>
                <a:ea typeface="Arial"/>
                <a:cs typeface="Arial"/>
              </a:defRPr>
            </a:lvl5pPr>
            <a:lvl6pPr algn="l">
              <a:defRPr sz="1200" b="0">
                <a:solidFill>
                  <a:srgbClr val="CEC6BC"/>
                </a:solidFill>
                <a:latin typeface="Arial"/>
                <a:ea typeface="Arial"/>
                <a:cs typeface="Arial"/>
              </a:defRPr>
            </a:lvl6pPr>
            <a:lvl7pPr algn="l">
              <a:defRPr sz="1200" b="0">
                <a:solidFill>
                  <a:srgbClr val="CEC6BC"/>
                </a:solidFill>
                <a:latin typeface="Arial"/>
                <a:ea typeface="Arial"/>
                <a:cs typeface="Arial"/>
              </a:defRPr>
            </a:lvl7pPr>
            <a:lvl8pPr algn="l">
              <a:defRPr sz="1200" b="0">
                <a:solidFill>
                  <a:srgbClr val="CEC6BC"/>
                </a:solidFill>
                <a:latin typeface="Arial"/>
                <a:ea typeface="Arial"/>
                <a:cs typeface="Arial"/>
              </a:defRPr>
            </a:lvl8pPr>
            <a:lvl9pPr algn="l">
              <a:defRPr sz="1200" b="0">
                <a:solidFill>
                  <a:srgbClr val="CEC6BC"/>
                </a:solidFill>
                <a:latin typeface="Arial"/>
                <a:ea typeface="Arial"/>
                <a:cs typeface="Arial"/>
              </a:defRPr>
            </a:lvl9pPr>
          </a:lstStyle>
          <a:p xmlns:a="http://schemas.openxmlformats.org/drawingml/2006/main">
            <a:pPr algn="l">
              <a:defRPr sz="1200" b="0">
                <a:solidFill>
                  <a:srgbClr val="CEC6BC"/>
                </a:solidFill>
                <a:latin typeface="Arial"/>
                <a:ea typeface="Arial"/>
                <a:cs typeface="Arial"/>
              </a:defRPr>
            </a:pPr>
            <a:r>
              <a:rPr sz="1200" b="0">
                <a:solidFill>
                  <a:srgbClr val="CEC6BC"/>
                </a:solidFill>
                <a:latin typeface="Arial"/>
                <a:ea typeface="Arial"/>
                <a:cs typeface="Arial"/>
              </a:rPr>
              <a:t>LTV : CAC</a:t>
            </a:r>
          </a:p>
        </p:txBody>
      </p:sp>
      <p:sp>
        <p:nvSpPr>
          <p:cNvPr id="21" name="text">
            <a:extLst xmlns:a="http://schemas.openxmlformats.org/drawingml/2006/main">
              <a:ext uri="{FF2B5EF4-FFF2-40B4-BE49-F238E27FC236}">
                <a16:creationId xmlns:a16="http://schemas.microsoft.com/office/drawing/2014/main" id="{A7738DC8-A317-4972-9CFB-017E729A9E3C}"/>
              </a:ext>
            </a:extLst>
          </p:cNvPr>
          <p:cNvSpPr>
            <a:spLocks xmlns:a="http://schemas.openxmlformats.org/drawingml/2006/main" noGrp="1"/>
          </p:cNvSpPr>
          <p:nvPr/>
        </p:nvSpPr>
        <p:spPr>
          <a:xfrm xmlns:a="http://schemas.openxmlformats.org/drawingml/2006/main">
            <a:off x="8353425" y="5829300"/>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3.5 : 1</a:t>
            </a:r>
          </a:p>
        </p:txBody>
      </p:sp>
      <p:sp>
        <p:nvSpPr>
          <p:cNvPr id="22" name="context-note">
            <a:extLst xmlns:a="http://schemas.openxmlformats.org/drawingml/2006/main">
              <a:ext uri="{FF2B5EF4-FFF2-40B4-BE49-F238E27FC236}">
                <a16:creationId xmlns:a16="http://schemas.microsoft.com/office/drawing/2014/main" id="{89D835DA-7839-4D65-8926-470D4FA32423}"/>
              </a:ext>
            </a:extLst>
          </p:cNvPr>
          <p:cNvSpPr>
            <a:spLocks xmlns:a="http://schemas.openxmlformats.org/drawingml/2006/main" noGrp="1"/>
          </p:cNvSpPr>
          <p:nvPr/>
        </p:nvSpPr>
        <p:spPr>
          <a:xfrm xmlns:a="http://schemas.openxmlformats.org/drawingml/2006/main">
            <a:off x="609600" y="63817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Pricing and unit economics are assumptions. No paywall, payment processing or equity transaction is implemented.</a:t>
            </a:r>
          </a:p>
        </p:txBody>
      </p:sp>
    </p:spTree>
    <p:extLst>
      <p:ext uri="{BB962C8B-B14F-4D97-AF65-F5344CB8AC3E}">
        <p14:creationId xmlns:p14="http://schemas.microsoft.com/office/powerpoint/2010/main" val="851207068"/>
      </p:ext>
    </p:extLst>
  </p:cSld>
</p:sld>
</file>

<file path=ppt/slides/slide9.xml><?xml version="1.0" encoding="utf-8"?>
<p:sld xmlns:p="http://schemas.openxmlformats.org/presentationml/2006/main">
  <p:cSld>
    <p:bg>
      <p:bgPr>
        <a:solidFill xmlns:a="http://schemas.openxmlformats.org/drawingml/2006/main">
          <a:srgbClr val="E4DFD9"/>
        </a:solidFill>
      </p:bgPr>
    </p:bg>
    <p:spTree>
      <p:nvGrpSpPr>
        <p:cNvPr id="1" name=""/>
        <p:cNvGrpSpPr/>
        <p:nvPr/>
      </p:nvGrpSpPr>
      <p:grpSpPr>
        <a:xfrm xmlns:a="http://schemas.openxmlformats.org/drawingml/2006/main"/>
      </p:grpSpPr>
      <p:sp>
        <p:nvSpPr>
          <p:cNvPr id="19" name="brand-wordmark">
            <a:extLst xmlns:a="http://schemas.openxmlformats.org/drawingml/2006/main">
              <a:ext uri="{FF2B5EF4-FFF2-40B4-BE49-F238E27FC236}">
                <a16:creationId xmlns:a16="http://schemas.microsoft.com/office/drawing/2014/main" id="{DD4BF506-2CF8-4747-8E2F-AD72E8FB1428}"/>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3D3D5B41-69B0-42CA-A785-87F599587E89}"/>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09 / 11</a:t>
            </a:r>
          </a:p>
        </p:txBody>
      </p:sp>
      <p:sp>
        <p:nvSpPr>
          <p:cNvPr id="3" name="slide-title">
            <a:extLst xmlns:a="http://schemas.openxmlformats.org/drawingml/2006/main">
              <a:ext uri="{FF2B5EF4-FFF2-40B4-BE49-F238E27FC236}">
                <a16:creationId xmlns:a16="http://schemas.microsoft.com/office/drawing/2014/main" id="{B81AD877-93E0-4A94-8100-FBBCCC2D8F2D}"/>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71717"/>
                </a:solidFill>
                <a:latin typeface="Arial"/>
                <a:ea typeface="Arial"/>
                <a:cs typeface="Arial"/>
              </a:defRPr>
            </a:defPPr>
            <a:lvl1pPr algn="l">
              <a:defRPr sz="3900" b="0">
                <a:solidFill>
                  <a:srgbClr val="171717"/>
                </a:solidFill>
                <a:latin typeface="Arial"/>
                <a:ea typeface="Arial"/>
                <a:cs typeface="Arial"/>
              </a:defRPr>
            </a:lvl1pPr>
            <a:lvl2pPr algn="l">
              <a:defRPr sz="3900" b="0">
                <a:solidFill>
                  <a:srgbClr val="171717"/>
                </a:solidFill>
                <a:latin typeface="Arial"/>
                <a:ea typeface="Arial"/>
                <a:cs typeface="Arial"/>
              </a:defRPr>
            </a:lvl2pPr>
            <a:lvl3pPr algn="l">
              <a:defRPr sz="3900" b="0">
                <a:solidFill>
                  <a:srgbClr val="171717"/>
                </a:solidFill>
                <a:latin typeface="Arial"/>
                <a:ea typeface="Arial"/>
                <a:cs typeface="Arial"/>
              </a:defRPr>
            </a:lvl3pPr>
            <a:lvl4pPr algn="l">
              <a:defRPr sz="3900" b="0">
                <a:solidFill>
                  <a:srgbClr val="171717"/>
                </a:solidFill>
                <a:latin typeface="Arial"/>
                <a:ea typeface="Arial"/>
                <a:cs typeface="Arial"/>
              </a:defRPr>
            </a:lvl4pPr>
            <a:lvl5pPr algn="l">
              <a:defRPr sz="3900" b="0">
                <a:solidFill>
                  <a:srgbClr val="171717"/>
                </a:solidFill>
                <a:latin typeface="Arial"/>
                <a:ea typeface="Arial"/>
                <a:cs typeface="Arial"/>
              </a:defRPr>
            </a:lvl5pPr>
            <a:lvl6pPr algn="l">
              <a:defRPr sz="3900" b="0">
                <a:solidFill>
                  <a:srgbClr val="171717"/>
                </a:solidFill>
                <a:latin typeface="Arial"/>
                <a:ea typeface="Arial"/>
                <a:cs typeface="Arial"/>
              </a:defRPr>
            </a:lvl6pPr>
            <a:lvl7pPr algn="l">
              <a:defRPr sz="3900" b="0">
                <a:solidFill>
                  <a:srgbClr val="171717"/>
                </a:solidFill>
                <a:latin typeface="Arial"/>
                <a:ea typeface="Arial"/>
                <a:cs typeface="Arial"/>
              </a:defRPr>
            </a:lvl7pPr>
            <a:lvl8pPr algn="l">
              <a:defRPr sz="3900" b="0">
                <a:solidFill>
                  <a:srgbClr val="171717"/>
                </a:solidFill>
                <a:latin typeface="Arial"/>
                <a:ea typeface="Arial"/>
                <a:cs typeface="Arial"/>
              </a:defRPr>
            </a:lvl8pPr>
            <a:lvl9pPr algn="l">
              <a:defRPr sz="3900" b="0">
                <a:solidFill>
                  <a:srgbClr val="171717"/>
                </a:solidFill>
                <a:latin typeface="Arial"/>
                <a:ea typeface="Arial"/>
                <a:cs typeface="Arial"/>
              </a:defRPr>
            </a:lvl9pPr>
          </a:lstStyle>
          <a:p xmlns:a="http://schemas.openxmlformats.org/drawingml/2006/main">
            <a:pPr algn="l">
              <a:defRPr sz="3900" b="0">
                <a:solidFill>
                  <a:srgbClr val="171717"/>
                </a:solidFill>
                <a:latin typeface="Arial"/>
                <a:ea typeface="Arial"/>
                <a:cs typeface="Arial"/>
              </a:defRPr>
            </a:pPr>
            <a:r>
              <a:rPr sz="3900" b="0">
                <a:solidFill>
                  <a:srgbClr val="171717"/>
                </a:solidFill>
                <a:latin typeface="Arial"/>
                <a:ea typeface="Arial"/>
                <a:cs typeface="Arial"/>
              </a:rPr>
              <a:t>Grow through partner communities</a:t>
            </a:r>
          </a:p>
        </p:txBody>
      </p:sp>
      <p:sp>
        <p:nvSpPr>
          <p:cNvPr id="4" name="section-label">
            <a:extLst xmlns:a="http://schemas.openxmlformats.org/drawingml/2006/main">
              <a:ext uri="{FF2B5EF4-FFF2-40B4-BE49-F238E27FC236}">
                <a16:creationId xmlns:a16="http://schemas.microsoft.com/office/drawing/2014/main" id="{2C54E44A-DDAC-431A-97D9-7F2541516228}"/>
              </a:ext>
            </a:extLst>
          </p:cNvPr>
          <p:cNvSpPr>
            <a:spLocks xmlns:a="http://schemas.openxmlformats.org/drawingml/2006/main" noGrp="1"/>
          </p:cNvSpPr>
          <p:nvPr/>
        </p:nvSpPr>
        <p:spPr>
          <a:xfrm xmlns:a="http://schemas.openxmlformats.org/drawingml/2006/main">
            <a:off x="609600" y="1838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5B54"/>
                </a:solidFill>
                <a:latin typeface="Arial"/>
                <a:ea typeface="Arial"/>
                <a:cs typeface="Arial"/>
              </a:defRPr>
            </a:defPPr>
            <a:lvl1pPr algn="l">
              <a:defRPr sz="1050" b="0">
                <a:solidFill>
                  <a:srgbClr val="625B54"/>
                </a:solidFill>
                <a:latin typeface="Arial"/>
                <a:ea typeface="Arial"/>
                <a:cs typeface="Arial"/>
              </a:defRPr>
            </a:lvl1pPr>
            <a:lvl2pPr algn="l">
              <a:defRPr sz="1050" b="0">
                <a:solidFill>
                  <a:srgbClr val="625B54"/>
                </a:solidFill>
                <a:latin typeface="Arial"/>
                <a:ea typeface="Arial"/>
                <a:cs typeface="Arial"/>
              </a:defRPr>
            </a:lvl2pPr>
            <a:lvl3pPr algn="l">
              <a:defRPr sz="1050" b="0">
                <a:solidFill>
                  <a:srgbClr val="625B54"/>
                </a:solidFill>
                <a:latin typeface="Arial"/>
                <a:ea typeface="Arial"/>
                <a:cs typeface="Arial"/>
              </a:defRPr>
            </a:lvl3pPr>
            <a:lvl4pPr algn="l">
              <a:defRPr sz="1050" b="0">
                <a:solidFill>
                  <a:srgbClr val="625B54"/>
                </a:solidFill>
                <a:latin typeface="Arial"/>
                <a:ea typeface="Arial"/>
                <a:cs typeface="Arial"/>
              </a:defRPr>
            </a:lvl4pPr>
            <a:lvl5pPr algn="l">
              <a:defRPr sz="1050" b="0">
                <a:solidFill>
                  <a:srgbClr val="625B54"/>
                </a:solidFill>
                <a:latin typeface="Arial"/>
                <a:ea typeface="Arial"/>
                <a:cs typeface="Arial"/>
              </a:defRPr>
            </a:lvl5pPr>
            <a:lvl6pPr algn="l">
              <a:defRPr sz="1050" b="0">
                <a:solidFill>
                  <a:srgbClr val="625B54"/>
                </a:solidFill>
                <a:latin typeface="Arial"/>
                <a:ea typeface="Arial"/>
                <a:cs typeface="Arial"/>
              </a:defRPr>
            </a:lvl6pPr>
            <a:lvl7pPr algn="l">
              <a:defRPr sz="1050" b="0">
                <a:solidFill>
                  <a:srgbClr val="625B54"/>
                </a:solidFill>
                <a:latin typeface="Arial"/>
                <a:ea typeface="Arial"/>
                <a:cs typeface="Arial"/>
              </a:defRPr>
            </a:lvl7pPr>
            <a:lvl8pPr algn="l">
              <a:defRPr sz="1050" b="0">
                <a:solidFill>
                  <a:srgbClr val="625B54"/>
                </a:solidFill>
                <a:latin typeface="Arial"/>
                <a:ea typeface="Arial"/>
                <a:cs typeface="Arial"/>
              </a:defRPr>
            </a:lvl8pPr>
            <a:lvl9pPr algn="l">
              <a:defRPr sz="1050" b="0">
                <a:solidFill>
                  <a:srgbClr val="625B54"/>
                </a:solidFill>
                <a:latin typeface="Arial"/>
                <a:ea typeface="Arial"/>
                <a:cs typeface="Arial"/>
              </a:defRPr>
            </a:lvl9pPr>
          </a:lstStyle>
          <a:p xmlns:a="http://schemas.openxmlformats.org/drawingml/2006/main">
            <a:pPr algn="l">
              <a:defRPr sz="1050" b="0">
                <a:solidFill>
                  <a:srgbClr val="625B54"/>
                </a:solidFill>
                <a:latin typeface="Arial"/>
                <a:ea typeface="Arial"/>
                <a:cs typeface="Arial"/>
              </a:defRPr>
            </a:pPr>
            <a:r>
              <a:rPr sz="1050" b="0">
                <a:solidFill>
                  <a:srgbClr val="625B54"/>
                </a:solidFill>
                <a:latin typeface="Arial"/>
                <a:ea typeface="Arial"/>
                <a:cs typeface="Arial"/>
              </a:rPr>
              <a:t>PROPOSED ACQUISITION PATH  /  NOT CURRENT TRACTION</a:t>
            </a:r>
          </a:p>
        </p:txBody>
      </p:sp>
      <p:sp>
        <p:nvSpPr>
          <p:cNvPr id="5" name="text">
            <a:extLst xmlns:a="http://schemas.openxmlformats.org/drawingml/2006/main">
              <a:ext uri="{FF2B5EF4-FFF2-40B4-BE49-F238E27FC236}">
                <a16:creationId xmlns:a16="http://schemas.microsoft.com/office/drawing/2014/main" id="{E0BB3778-1C6F-45E8-8A4B-64678E04D9B5}"/>
              </a:ext>
            </a:extLst>
          </p:cNvPr>
          <p:cNvSpPr>
            <a:spLocks xmlns:a="http://schemas.openxmlformats.org/drawingml/2006/main" noGrp="1"/>
          </p:cNvSpPr>
          <p:nvPr/>
        </p:nvSpPr>
        <p:spPr>
          <a:xfrm xmlns:a="http://schemas.openxmlformats.org/drawingml/2006/main">
            <a:off x="609600" y="2286000"/>
            <a:ext cx="342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0">
                <a:solidFill>
                  <a:srgbClr val="171717"/>
                </a:solidFill>
                <a:latin typeface="Arial"/>
                <a:ea typeface="Arial"/>
                <a:cs typeface="Arial"/>
              </a:defRPr>
            </a:defPPr>
            <a:lvl1pPr algn="l">
              <a:defRPr sz="6000" b="0">
                <a:solidFill>
                  <a:srgbClr val="171717"/>
                </a:solidFill>
                <a:latin typeface="Arial"/>
                <a:ea typeface="Arial"/>
                <a:cs typeface="Arial"/>
              </a:defRPr>
            </a:lvl1pPr>
            <a:lvl2pPr algn="l">
              <a:defRPr sz="6000" b="0">
                <a:solidFill>
                  <a:srgbClr val="171717"/>
                </a:solidFill>
                <a:latin typeface="Arial"/>
                <a:ea typeface="Arial"/>
                <a:cs typeface="Arial"/>
              </a:defRPr>
            </a:lvl2pPr>
            <a:lvl3pPr algn="l">
              <a:defRPr sz="6000" b="0">
                <a:solidFill>
                  <a:srgbClr val="171717"/>
                </a:solidFill>
                <a:latin typeface="Arial"/>
                <a:ea typeface="Arial"/>
                <a:cs typeface="Arial"/>
              </a:defRPr>
            </a:lvl3pPr>
            <a:lvl4pPr algn="l">
              <a:defRPr sz="6000" b="0">
                <a:solidFill>
                  <a:srgbClr val="171717"/>
                </a:solidFill>
                <a:latin typeface="Arial"/>
                <a:ea typeface="Arial"/>
                <a:cs typeface="Arial"/>
              </a:defRPr>
            </a:lvl4pPr>
            <a:lvl5pPr algn="l">
              <a:defRPr sz="6000" b="0">
                <a:solidFill>
                  <a:srgbClr val="171717"/>
                </a:solidFill>
                <a:latin typeface="Arial"/>
                <a:ea typeface="Arial"/>
                <a:cs typeface="Arial"/>
              </a:defRPr>
            </a:lvl5pPr>
            <a:lvl6pPr algn="l">
              <a:defRPr sz="6000" b="0">
                <a:solidFill>
                  <a:srgbClr val="171717"/>
                </a:solidFill>
                <a:latin typeface="Arial"/>
                <a:ea typeface="Arial"/>
                <a:cs typeface="Arial"/>
              </a:defRPr>
            </a:lvl6pPr>
            <a:lvl7pPr algn="l">
              <a:defRPr sz="6000" b="0">
                <a:solidFill>
                  <a:srgbClr val="171717"/>
                </a:solidFill>
                <a:latin typeface="Arial"/>
                <a:ea typeface="Arial"/>
                <a:cs typeface="Arial"/>
              </a:defRPr>
            </a:lvl7pPr>
            <a:lvl8pPr algn="l">
              <a:defRPr sz="6000" b="0">
                <a:solidFill>
                  <a:srgbClr val="171717"/>
                </a:solidFill>
                <a:latin typeface="Arial"/>
                <a:ea typeface="Arial"/>
                <a:cs typeface="Arial"/>
              </a:defRPr>
            </a:lvl8pPr>
            <a:lvl9pPr algn="l">
              <a:defRPr sz="6000" b="0">
                <a:solidFill>
                  <a:srgbClr val="171717"/>
                </a:solidFill>
                <a:latin typeface="Arial"/>
                <a:ea typeface="Arial"/>
                <a:cs typeface="Arial"/>
              </a:defRPr>
            </a:lvl9pPr>
          </a:lstStyle>
          <a:p xmlns:a="http://schemas.openxmlformats.org/drawingml/2006/main">
            <a:pPr algn="l">
              <a:defRPr sz="6000" b="0">
                <a:solidFill>
                  <a:srgbClr val="171717"/>
                </a:solidFill>
                <a:latin typeface="Arial"/>
                <a:ea typeface="Arial"/>
                <a:cs typeface="Arial"/>
              </a:defRPr>
            </a:pPr>
            <a:r>
              <a:rPr sz="6000" b="0">
                <a:solidFill>
                  <a:srgbClr val="171717"/>
                </a:solidFill>
                <a:latin typeface="Arial"/>
                <a:ea typeface="Arial"/>
                <a:cs typeface="Arial"/>
              </a:rPr>
              <a:t>10</a:t>
            </a:r>
          </a:p>
        </p:txBody>
      </p:sp>
      <p:sp>
        <p:nvSpPr>
          <p:cNvPr id="6" name="text">
            <a:extLst xmlns:a="http://schemas.openxmlformats.org/drawingml/2006/main">
              <a:ext uri="{FF2B5EF4-FFF2-40B4-BE49-F238E27FC236}">
                <a16:creationId xmlns:a16="http://schemas.microsoft.com/office/drawing/2014/main" id="{7CCEA42D-0153-4E80-98D1-E94AC8B4D514}"/>
              </a:ext>
            </a:extLst>
          </p:cNvPr>
          <p:cNvSpPr>
            <a:spLocks xmlns:a="http://schemas.openxmlformats.org/drawingml/2006/main" noGrp="1"/>
          </p:cNvSpPr>
          <p:nvPr/>
        </p:nvSpPr>
        <p:spPr>
          <a:xfrm xmlns:a="http://schemas.openxmlformats.org/drawingml/2006/main">
            <a:off x="609600" y="3352800"/>
            <a:ext cx="3381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First founders</a:t>
            </a:r>
          </a:p>
        </p:txBody>
      </p:sp>
      <p:sp>
        <p:nvSpPr>
          <p:cNvPr id="7" name="text">
            <a:extLst xmlns:a="http://schemas.openxmlformats.org/drawingml/2006/main">
              <a:ext uri="{FF2B5EF4-FFF2-40B4-BE49-F238E27FC236}">
                <a16:creationId xmlns:a16="http://schemas.microsoft.com/office/drawing/2014/main" id="{09223D5B-89EF-4DC3-87B7-14F0407AFB0B}"/>
              </a:ext>
            </a:extLst>
          </p:cNvPr>
          <p:cNvSpPr>
            <a:spLocks xmlns:a="http://schemas.openxmlformats.org/drawingml/2006/main" noGrp="1"/>
          </p:cNvSpPr>
          <p:nvPr/>
        </p:nvSpPr>
        <p:spPr>
          <a:xfrm xmlns:a="http://schemas.openxmlformats.org/drawingml/2006/main">
            <a:off x="609600" y="3905250"/>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Events + local partners</a:t>
            </a:r>
          </a:p>
        </p:txBody>
      </p:sp>
      <p:sp>
        <p:nvSpPr>
          <p:cNvPr id="8" name="text">
            <a:extLst xmlns:a="http://schemas.openxmlformats.org/drawingml/2006/main">
              <a:ext uri="{FF2B5EF4-FFF2-40B4-BE49-F238E27FC236}">
                <a16:creationId xmlns:a16="http://schemas.microsoft.com/office/drawing/2014/main" id="{7B5D8C4F-0B01-4F7E-A302-CF647A1551DA}"/>
              </a:ext>
            </a:extLst>
          </p:cNvPr>
          <p:cNvSpPr>
            <a:spLocks xmlns:a="http://schemas.openxmlformats.org/drawingml/2006/main" noGrp="1"/>
          </p:cNvSpPr>
          <p:nvPr/>
        </p:nvSpPr>
        <p:spPr>
          <a:xfrm xmlns:a="http://schemas.openxmlformats.org/drawingml/2006/main">
            <a:off x="609600" y="44481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Meet founders at events.</a:t>
            </a:r>
          </a:p>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Seed projects and reviewed</a:t>
            </a:r>
          </a:p>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builder profiles.</a:t>
            </a:r>
          </a:p>
        </p:txBody>
      </p:sp>
      <p:sp>
        <p:nvSpPr>
          <p:cNvPr id="9" name="text">
            <a:extLst xmlns:a="http://schemas.openxmlformats.org/drawingml/2006/main">
              <a:ext uri="{FF2B5EF4-FFF2-40B4-BE49-F238E27FC236}">
                <a16:creationId xmlns:a16="http://schemas.microsoft.com/office/drawing/2014/main" id="{D52DAF2A-F294-4A0E-AD74-7C9BFE9EFDDA}"/>
              </a:ext>
            </a:extLst>
          </p:cNvPr>
          <p:cNvSpPr>
            <a:spLocks xmlns:a="http://schemas.openxmlformats.org/drawingml/2006/main" noGrp="1"/>
          </p:cNvSpPr>
          <p:nvPr/>
        </p:nvSpPr>
        <p:spPr>
          <a:xfrm xmlns:a="http://schemas.openxmlformats.org/drawingml/2006/main">
            <a:off x="4448175" y="2286000"/>
            <a:ext cx="342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0">
                <a:solidFill>
                  <a:srgbClr val="171717"/>
                </a:solidFill>
                <a:latin typeface="Arial"/>
                <a:ea typeface="Arial"/>
                <a:cs typeface="Arial"/>
              </a:defRPr>
            </a:defPPr>
            <a:lvl1pPr algn="l">
              <a:defRPr sz="6000" b="0">
                <a:solidFill>
                  <a:srgbClr val="171717"/>
                </a:solidFill>
                <a:latin typeface="Arial"/>
                <a:ea typeface="Arial"/>
                <a:cs typeface="Arial"/>
              </a:defRPr>
            </a:lvl1pPr>
            <a:lvl2pPr algn="l">
              <a:defRPr sz="6000" b="0">
                <a:solidFill>
                  <a:srgbClr val="171717"/>
                </a:solidFill>
                <a:latin typeface="Arial"/>
                <a:ea typeface="Arial"/>
                <a:cs typeface="Arial"/>
              </a:defRPr>
            </a:lvl2pPr>
            <a:lvl3pPr algn="l">
              <a:defRPr sz="6000" b="0">
                <a:solidFill>
                  <a:srgbClr val="171717"/>
                </a:solidFill>
                <a:latin typeface="Arial"/>
                <a:ea typeface="Arial"/>
                <a:cs typeface="Arial"/>
              </a:defRPr>
            </a:lvl3pPr>
            <a:lvl4pPr algn="l">
              <a:defRPr sz="6000" b="0">
                <a:solidFill>
                  <a:srgbClr val="171717"/>
                </a:solidFill>
                <a:latin typeface="Arial"/>
                <a:ea typeface="Arial"/>
                <a:cs typeface="Arial"/>
              </a:defRPr>
            </a:lvl4pPr>
            <a:lvl5pPr algn="l">
              <a:defRPr sz="6000" b="0">
                <a:solidFill>
                  <a:srgbClr val="171717"/>
                </a:solidFill>
                <a:latin typeface="Arial"/>
                <a:ea typeface="Arial"/>
                <a:cs typeface="Arial"/>
              </a:defRPr>
            </a:lvl5pPr>
            <a:lvl6pPr algn="l">
              <a:defRPr sz="6000" b="0">
                <a:solidFill>
                  <a:srgbClr val="171717"/>
                </a:solidFill>
                <a:latin typeface="Arial"/>
                <a:ea typeface="Arial"/>
                <a:cs typeface="Arial"/>
              </a:defRPr>
            </a:lvl6pPr>
            <a:lvl7pPr algn="l">
              <a:defRPr sz="6000" b="0">
                <a:solidFill>
                  <a:srgbClr val="171717"/>
                </a:solidFill>
                <a:latin typeface="Arial"/>
                <a:ea typeface="Arial"/>
                <a:cs typeface="Arial"/>
              </a:defRPr>
            </a:lvl7pPr>
            <a:lvl8pPr algn="l">
              <a:defRPr sz="6000" b="0">
                <a:solidFill>
                  <a:srgbClr val="171717"/>
                </a:solidFill>
                <a:latin typeface="Arial"/>
                <a:ea typeface="Arial"/>
                <a:cs typeface="Arial"/>
              </a:defRPr>
            </a:lvl8pPr>
            <a:lvl9pPr algn="l">
              <a:defRPr sz="6000" b="0">
                <a:solidFill>
                  <a:srgbClr val="171717"/>
                </a:solidFill>
                <a:latin typeface="Arial"/>
                <a:ea typeface="Arial"/>
                <a:cs typeface="Arial"/>
              </a:defRPr>
            </a:lvl9pPr>
          </a:lstStyle>
          <a:p xmlns:a="http://schemas.openxmlformats.org/drawingml/2006/main">
            <a:pPr algn="l">
              <a:defRPr sz="6000" b="0">
                <a:solidFill>
                  <a:srgbClr val="171717"/>
                </a:solidFill>
                <a:latin typeface="Arial"/>
                <a:ea typeface="Arial"/>
                <a:cs typeface="Arial"/>
              </a:defRPr>
            </a:pPr>
            <a:r>
              <a:rPr sz="6000" b="0">
                <a:solidFill>
                  <a:srgbClr val="171717"/>
                </a:solidFill>
                <a:latin typeface="Arial"/>
                <a:ea typeface="Arial"/>
                <a:cs typeface="Arial"/>
              </a:rPr>
              <a:t>100</a:t>
            </a:r>
          </a:p>
        </p:txBody>
      </p:sp>
      <p:sp>
        <p:nvSpPr>
          <p:cNvPr id="10" name="text">
            <a:extLst xmlns:a="http://schemas.openxmlformats.org/drawingml/2006/main">
              <a:ext uri="{FF2B5EF4-FFF2-40B4-BE49-F238E27FC236}">
                <a16:creationId xmlns:a16="http://schemas.microsoft.com/office/drawing/2014/main" id="{B3104835-2478-4826-B30E-DBF84021BE44}"/>
              </a:ext>
            </a:extLst>
          </p:cNvPr>
          <p:cNvSpPr>
            <a:spLocks xmlns:a="http://schemas.openxmlformats.org/drawingml/2006/main" noGrp="1"/>
          </p:cNvSpPr>
          <p:nvPr/>
        </p:nvSpPr>
        <p:spPr>
          <a:xfrm xmlns:a="http://schemas.openxmlformats.org/drawingml/2006/main">
            <a:off x="4448175" y="3352800"/>
            <a:ext cx="3381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Word of mouth</a:t>
            </a:r>
          </a:p>
        </p:txBody>
      </p:sp>
      <p:sp>
        <p:nvSpPr>
          <p:cNvPr id="11" name="text">
            <a:extLst xmlns:a="http://schemas.openxmlformats.org/drawingml/2006/main">
              <a:ext uri="{FF2B5EF4-FFF2-40B4-BE49-F238E27FC236}">
                <a16:creationId xmlns:a16="http://schemas.microsoft.com/office/drawing/2014/main" id="{D24AE19A-BE68-4223-B6FD-2C959FEED307}"/>
              </a:ext>
            </a:extLst>
          </p:cNvPr>
          <p:cNvSpPr>
            <a:spLocks xmlns:a="http://schemas.openxmlformats.org/drawingml/2006/main" noGrp="1"/>
          </p:cNvSpPr>
          <p:nvPr/>
        </p:nvSpPr>
        <p:spPr>
          <a:xfrm xmlns:a="http://schemas.openxmlformats.org/drawingml/2006/main">
            <a:off x="4448175" y="3905250"/>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Founders bring builders</a:t>
            </a:r>
          </a:p>
        </p:txBody>
      </p:sp>
      <p:sp>
        <p:nvSpPr>
          <p:cNvPr id="12" name="text">
            <a:extLst xmlns:a="http://schemas.openxmlformats.org/drawingml/2006/main">
              <a:ext uri="{FF2B5EF4-FFF2-40B4-BE49-F238E27FC236}">
                <a16:creationId xmlns:a16="http://schemas.microsoft.com/office/drawing/2014/main" id="{26686E16-DB5F-4542-AB54-D47E30457602}"/>
              </a:ext>
            </a:extLst>
          </p:cNvPr>
          <p:cNvSpPr>
            <a:spLocks xmlns:a="http://schemas.openxmlformats.org/drawingml/2006/main" noGrp="1"/>
          </p:cNvSpPr>
          <p:nvPr/>
        </p:nvSpPr>
        <p:spPr>
          <a:xfrm xmlns:a="http://schemas.openxmlformats.org/drawingml/2006/main">
            <a:off x="4448175" y="44481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Keep partnering. Builders join</a:t>
            </a:r>
          </a:p>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for work; universities expand</a:t>
            </a:r>
          </a:p>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the talent network.</a:t>
            </a:r>
          </a:p>
        </p:txBody>
      </p:sp>
      <p:sp>
        <p:nvSpPr>
          <p:cNvPr id="13" name="text">
            <a:extLst xmlns:a="http://schemas.openxmlformats.org/drawingml/2006/main">
              <a:ext uri="{FF2B5EF4-FFF2-40B4-BE49-F238E27FC236}">
                <a16:creationId xmlns:a16="http://schemas.microsoft.com/office/drawing/2014/main" id="{B86562EE-AE76-42F8-B4B9-316CD3D42B13}"/>
              </a:ext>
            </a:extLst>
          </p:cNvPr>
          <p:cNvSpPr>
            <a:spLocks xmlns:a="http://schemas.openxmlformats.org/drawingml/2006/main" noGrp="1"/>
          </p:cNvSpPr>
          <p:nvPr/>
        </p:nvSpPr>
        <p:spPr>
          <a:xfrm xmlns:a="http://schemas.openxmlformats.org/drawingml/2006/main">
            <a:off x="8286750" y="2286000"/>
            <a:ext cx="342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1717"/>
                </a:solidFill>
                <a:latin typeface="Arial"/>
                <a:ea typeface="Arial"/>
                <a:cs typeface="Arial"/>
              </a:defRPr>
            </a:defPPr>
            <a:lvl1pPr algn="l">
              <a:defRPr sz="4950" b="0">
                <a:solidFill>
                  <a:srgbClr val="171717"/>
                </a:solidFill>
                <a:latin typeface="Arial"/>
                <a:ea typeface="Arial"/>
                <a:cs typeface="Arial"/>
              </a:defRPr>
            </a:lvl1pPr>
            <a:lvl2pPr algn="l">
              <a:defRPr sz="4950" b="0">
                <a:solidFill>
                  <a:srgbClr val="171717"/>
                </a:solidFill>
                <a:latin typeface="Arial"/>
                <a:ea typeface="Arial"/>
                <a:cs typeface="Arial"/>
              </a:defRPr>
            </a:lvl2pPr>
            <a:lvl3pPr algn="l">
              <a:defRPr sz="4950" b="0">
                <a:solidFill>
                  <a:srgbClr val="171717"/>
                </a:solidFill>
                <a:latin typeface="Arial"/>
                <a:ea typeface="Arial"/>
                <a:cs typeface="Arial"/>
              </a:defRPr>
            </a:lvl3pPr>
            <a:lvl4pPr algn="l">
              <a:defRPr sz="4950" b="0">
                <a:solidFill>
                  <a:srgbClr val="171717"/>
                </a:solidFill>
                <a:latin typeface="Arial"/>
                <a:ea typeface="Arial"/>
                <a:cs typeface="Arial"/>
              </a:defRPr>
            </a:lvl4pPr>
            <a:lvl5pPr algn="l">
              <a:defRPr sz="4950" b="0">
                <a:solidFill>
                  <a:srgbClr val="171717"/>
                </a:solidFill>
                <a:latin typeface="Arial"/>
                <a:ea typeface="Arial"/>
                <a:cs typeface="Arial"/>
              </a:defRPr>
            </a:lvl5pPr>
            <a:lvl6pPr algn="l">
              <a:defRPr sz="4950" b="0">
                <a:solidFill>
                  <a:srgbClr val="171717"/>
                </a:solidFill>
                <a:latin typeface="Arial"/>
                <a:ea typeface="Arial"/>
                <a:cs typeface="Arial"/>
              </a:defRPr>
            </a:lvl6pPr>
            <a:lvl7pPr algn="l">
              <a:defRPr sz="4950" b="0">
                <a:solidFill>
                  <a:srgbClr val="171717"/>
                </a:solidFill>
                <a:latin typeface="Arial"/>
                <a:ea typeface="Arial"/>
                <a:cs typeface="Arial"/>
              </a:defRPr>
            </a:lvl7pPr>
            <a:lvl8pPr algn="l">
              <a:defRPr sz="4950" b="0">
                <a:solidFill>
                  <a:srgbClr val="171717"/>
                </a:solidFill>
                <a:latin typeface="Arial"/>
                <a:ea typeface="Arial"/>
                <a:cs typeface="Arial"/>
              </a:defRPr>
            </a:lvl8pPr>
            <a:lvl9pPr algn="l">
              <a:defRPr sz="4950" b="0">
                <a:solidFill>
                  <a:srgbClr val="171717"/>
                </a:solidFill>
                <a:latin typeface="Arial"/>
                <a:ea typeface="Arial"/>
                <a:cs typeface="Arial"/>
              </a:defRPr>
            </a:lvl9pPr>
          </a:lstStyle>
          <a:p xmlns:a="http://schemas.openxmlformats.org/drawingml/2006/main">
            <a:pPr algn="l">
              <a:defRPr sz="4950" b="0">
                <a:solidFill>
                  <a:srgbClr val="171717"/>
                </a:solidFill>
                <a:latin typeface="Arial"/>
                <a:ea typeface="Arial"/>
                <a:cs typeface="Arial"/>
              </a:defRPr>
            </a:pPr>
            <a:r>
              <a:rPr sz="4950" b="0">
                <a:solidFill>
                  <a:srgbClr val="171717"/>
                </a:solidFill>
                <a:latin typeface="Arial"/>
                <a:ea typeface="Arial"/>
                <a:cs typeface="Arial"/>
              </a:rPr>
              <a:t>Scale</a:t>
            </a:r>
          </a:p>
        </p:txBody>
      </p:sp>
      <p:sp>
        <p:nvSpPr>
          <p:cNvPr id="14" name="text">
            <a:extLst xmlns:a="http://schemas.openxmlformats.org/drawingml/2006/main">
              <a:ext uri="{FF2B5EF4-FFF2-40B4-BE49-F238E27FC236}">
                <a16:creationId xmlns:a16="http://schemas.microsoft.com/office/drawing/2014/main" id="{30821FC6-DAD8-403E-97A9-717B921AF8EC}"/>
              </a:ext>
            </a:extLst>
          </p:cNvPr>
          <p:cNvSpPr>
            <a:spLocks xmlns:a="http://schemas.openxmlformats.org/drawingml/2006/main" noGrp="1"/>
          </p:cNvSpPr>
          <p:nvPr/>
        </p:nvSpPr>
        <p:spPr>
          <a:xfrm xmlns:a="http://schemas.openxmlformats.org/drawingml/2006/main">
            <a:off x="8286750" y="3352800"/>
            <a:ext cx="3381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1717"/>
                </a:solidFill>
                <a:latin typeface="Arial"/>
                <a:ea typeface="Arial"/>
                <a:cs typeface="Arial"/>
              </a:defRPr>
            </a:defPPr>
            <a:lvl1pPr algn="l">
              <a:defRPr sz="2250" b="0">
                <a:solidFill>
                  <a:srgbClr val="171717"/>
                </a:solidFill>
                <a:latin typeface="Arial"/>
                <a:ea typeface="Arial"/>
                <a:cs typeface="Arial"/>
              </a:defRPr>
            </a:lvl1pPr>
            <a:lvl2pPr algn="l">
              <a:defRPr sz="2250" b="0">
                <a:solidFill>
                  <a:srgbClr val="171717"/>
                </a:solidFill>
                <a:latin typeface="Arial"/>
                <a:ea typeface="Arial"/>
                <a:cs typeface="Arial"/>
              </a:defRPr>
            </a:lvl2pPr>
            <a:lvl3pPr algn="l">
              <a:defRPr sz="2250" b="0">
                <a:solidFill>
                  <a:srgbClr val="171717"/>
                </a:solidFill>
                <a:latin typeface="Arial"/>
                <a:ea typeface="Arial"/>
                <a:cs typeface="Arial"/>
              </a:defRPr>
            </a:lvl3pPr>
            <a:lvl4pPr algn="l">
              <a:defRPr sz="2250" b="0">
                <a:solidFill>
                  <a:srgbClr val="171717"/>
                </a:solidFill>
                <a:latin typeface="Arial"/>
                <a:ea typeface="Arial"/>
                <a:cs typeface="Arial"/>
              </a:defRPr>
            </a:lvl4pPr>
            <a:lvl5pPr algn="l">
              <a:defRPr sz="2250" b="0">
                <a:solidFill>
                  <a:srgbClr val="171717"/>
                </a:solidFill>
                <a:latin typeface="Arial"/>
                <a:ea typeface="Arial"/>
                <a:cs typeface="Arial"/>
              </a:defRPr>
            </a:lvl5pPr>
            <a:lvl6pPr algn="l">
              <a:defRPr sz="2250" b="0">
                <a:solidFill>
                  <a:srgbClr val="171717"/>
                </a:solidFill>
                <a:latin typeface="Arial"/>
                <a:ea typeface="Arial"/>
                <a:cs typeface="Arial"/>
              </a:defRPr>
            </a:lvl6pPr>
            <a:lvl7pPr algn="l">
              <a:defRPr sz="2250" b="0">
                <a:solidFill>
                  <a:srgbClr val="171717"/>
                </a:solidFill>
                <a:latin typeface="Arial"/>
                <a:ea typeface="Arial"/>
                <a:cs typeface="Arial"/>
              </a:defRPr>
            </a:lvl7pPr>
            <a:lvl8pPr algn="l">
              <a:defRPr sz="2250" b="0">
                <a:solidFill>
                  <a:srgbClr val="171717"/>
                </a:solidFill>
                <a:latin typeface="Arial"/>
                <a:ea typeface="Arial"/>
                <a:cs typeface="Arial"/>
              </a:defRPr>
            </a:lvl8pPr>
            <a:lvl9pPr algn="l">
              <a:defRPr sz="2250" b="0">
                <a:solidFill>
                  <a:srgbClr val="171717"/>
                </a:solidFill>
                <a:latin typeface="Arial"/>
                <a:ea typeface="Arial"/>
                <a:cs typeface="Arial"/>
              </a:defRPr>
            </a:lvl9pPr>
          </a:lstStyle>
          <a:p xmlns:a="http://schemas.openxmlformats.org/drawingml/2006/main">
            <a:pPr algn="l">
              <a:defRPr sz="2250" b="0">
                <a:solidFill>
                  <a:srgbClr val="171717"/>
                </a:solidFill>
                <a:latin typeface="Arial"/>
                <a:ea typeface="Arial"/>
                <a:cs typeface="Arial"/>
              </a:defRPr>
            </a:pPr>
            <a:r>
              <a:rPr sz="2250" b="0">
                <a:solidFill>
                  <a:srgbClr val="171717"/>
                </a:solidFill>
                <a:latin typeface="Arial"/>
                <a:ea typeface="Arial"/>
                <a:cs typeface="Arial"/>
              </a:rPr>
              <a:t>Broader reach</a:t>
            </a:r>
          </a:p>
        </p:txBody>
      </p:sp>
      <p:sp>
        <p:nvSpPr>
          <p:cNvPr id="15" name="text">
            <a:extLst xmlns:a="http://schemas.openxmlformats.org/drawingml/2006/main">
              <a:ext uri="{FF2B5EF4-FFF2-40B4-BE49-F238E27FC236}">
                <a16:creationId xmlns:a16="http://schemas.microsoft.com/office/drawing/2014/main" id="{BBE4E8F7-8145-4D3D-A3FE-E19D99C9BAB2}"/>
              </a:ext>
            </a:extLst>
          </p:cNvPr>
          <p:cNvSpPr>
            <a:spLocks xmlns:a="http://schemas.openxmlformats.org/drawingml/2006/main" noGrp="1"/>
          </p:cNvSpPr>
          <p:nvPr/>
        </p:nvSpPr>
        <p:spPr>
          <a:xfrm xmlns:a="http://schemas.openxmlformats.org/drawingml/2006/main">
            <a:off x="8286750" y="3905250"/>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Outreach + integrations</a:t>
            </a:r>
          </a:p>
        </p:txBody>
      </p:sp>
      <p:sp>
        <p:nvSpPr>
          <p:cNvPr id="16" name="text">
            <a:extLst xmlns:a="http://schemas.openxmlformats.org/drawingml/2006/main">
              <a:ext uri="{FF2B5EF4-FFF2-40B4-BE49-F238E27FC236}">
                <a16:creationId xmlns:a16="http://schemas.microsoft.com/office/drawing/2014/main" id="{BE1CBB2E-4E46-4DBA-8DF3-22E9F916C1F5}"/>
              </a:ext>
            </a:extLst>
          </p:cNvPr>
          <p:cNvSpPr>
            <a:spLocks xmlns:a="http://schemas.openxmlformats.org/drawingml/2006/main" noGrp="1"/>
          </p:cNvSpPr>
          <p:nvPr/>
        </p:nvSpPr>
        <p:spPr>
          <a:xfrm xmlns:a="http://schemas.openxmlformats.org/drawingml/2006/main">
            <a:off x="8286750" y="44481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B54"/>
                </a:solidFill>
                <a:latin typeface="Arial"/>
                <a:ea typeface="Arial"/>
                <a:cs typeface="Arial"/>
              </a:defRPr>
            </a:defPPr>
            <a:lvl1pPr algn="l">
              <a:defRPr sz="1725" b="0">
                <a:solidFill>
                  <a:srgbClr val="625B54"/>
                </a:solidFill>
                <a:latin typeface="Arial"/>
                <a:ea typeface="Arial"/>
                <a:cs typeface="Arial"/>
              </a:defRPr>
            </a:lvl1pPr>
            <a:lvl2pPr algn="l">
              <a:defRPr sz="1725" b="0">
                <a:solidFill>
                  <a:srgbClr val="625B54"/>
                </a:solidFill>
                <a:latin typeface="Arial"/>
                <a:ea typeface="Arial"/>
                <a:cs typeface="Arial"/>
              </a:defRPr>
            </a:lvl2pPr>
            <a:lvl3pPr algn="l">
              <a:defRPr sz="1725" b="0">
                <a:solidFill>
                  <a:srgbClr val="625B54"/>
                </a:solidFill>
                <a:latin typeface="Arial"/>
                <a:ea typeface="Arial"/>
                <a:cs typeface="Arial"/>
              </a:defRPr>
            </a:lvl3pPr>
            <a:lvl4pPr algn="l">
              <a:defRPr sz="1725" b="0">
                <a:solidFill>
                  <a:srgbClr val="625B54"/>
                </a:solidFill>
                <a:latin typeface="Arial"/>
                <a:ea typeface="Arial"/>
                <a:cs typeface="Arial"/>
              </a:defRPr>
            </a:lvl4pPr>
            <a:lvl5pPr algn="l">
              <a:defRPr sz="1725" b="0">
                <a:solidFill>
                  <a:srgbClr val="625B54"/>
                </a:solidFill>
                <a:latin typeface="Arial"/>
                <a:ea typeface="Arial"/>
                <a:cs typeface="Arial"/>
              </a:defRPr>
            </a:lvl5pPr>
            <a:lvl6pPr algn="l">
              <a:defRPr sz="1725" b="0">
                <a:solidFill>
                  <a:srgbClr val="625B54"/>
                </a:solidFill>
                <a:latin typeface="Arial"/>
                <a:ea typeface="Arial"/>
                <a:cs typeface="Arial"/>
              </a:defRPr>
            </a:lvl6pPr>
            <a:lvl7pPr algn="l">
              <a:defRPr sz="1725" b="0">
                <a:solidFill>
                  <a:srgbClr val="625B54"/>
                </a:solidFill>
                <a:latin typeface="Arial"/>
                <a:ea typeface="Arial"/>
                <a:cs typeface="Arial"/>
              </a:defRPr>
            </a:lvl7pPr>
            <a:lvl8pPr algn="l">
              <a:defRPr sz="1725" b="0">
                <a:solidFill>
                  <a:srgbClr val="625B54"/>
                </a:solidFill>
                <a:latin typeface="Arial"/>
                <a:ea typeface="Arial"/>
                <a:cs typeface="Arial"/>
              </a:defRPr>
            </a:lvl8pPr>
            <a:lvl9pPr algn="l">
              <a:defRPr sz="1725" b="0">
                <a:solidFill>
                  <a:srgbClr val="625B54"/>
                </a:solidFill>
                <a:latin typeface="Arial"/>
                <a:ea typeface="Arial"/>
                <a:cs typeface="Arial"/>
              </a:defRPr>
            </a:lvl9pPr>
          </a:lstStyle>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LinkedIn, TikTok and Instagram.</a:t>
            </a:r>
          </a:p>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Connect university and</a:t>
            </a:r>
          </a:p>
          <a:p xmlns:a="http://schemas.openxmlformats.org/drawingml/2006/main">
            <a:pPr algn="l">
              <a:defRPr sz="1725" b="0">
                <a:solidFill>
                  <a:srgbClr val="625B54"/>
                </a:solidFill>
                <a:latin typeface="Arial"/>
                <a:ea typeface="Arial"/>
                <a:cs typeface="Arial"/>
              </a:defRPr>
            </a:pPr>
            <a:r>
              <a:rPr sz="1725" b="0">
                <a:solidFill>
                  <a:srgbClr val="625B54"/>
                </a:solidFill>
                <a:latin typeface="Arial"/>
                <a:ea typeface="Arial"/>
                <a:cs typeface="Arial"/>
              </a:rPr>
              <a:t>organisation programmes.</a:t>
            </a:r>
          </a:p>
        </p:txBody>
      </p:sp>
      <p:sp>
        <p:nvSpPr>
          <p:cNvPr id="17" name="north-star-surface">
            <a:extLst xmlns:a="http://schemas.openxmlformats.org/drawingml/2006/main">
              <a:ext uri="{FF2B5EF4-FFF2-40B4-BE49-F238E27FC236}">
                <a16:creationId xmlns:a16="http://schemas.microsoft.com/office/drawing/2014/main" id="{B04E9462-95A3-4A60-969E-53FF4A46F395}"/>
              </a:ext>
            </a:extLst>
          </p:cNvPr>
          <p:cNvSpPr>
            <a:spLocks xmlns:a="http://schemas.openxmlformats.org/drawingml/2006/main" noGrp="1"/>
          </p:cNvSpPr>
          <p:nvPr/>
        </p:nvSpPr>
        <p:spPr>
          <a:xfrm xmlns:a="http://schemas.openxmlformats.org/drawingml/2006/main">
            <a:off x="609600" y="5686425"/>
            <a:ext cx="10972800" cy="62865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B43CAFFF-D8BF-40D2-BFD1-2C71BD7D6FF4}"/>
              </a:ext>
            </a:extLst>
          </p:cNvPr>
          <p:cNvSpPr>
            <a:spLocks xmlns:a="http://schemas.openxmlformats.org/drawingml/2006/main" noGrp="1"/>
          </p:cNvSpPr>
          <p:nvPr/>
        </p:nvSpPr>
        <p:spPr>
          <a:xfrm xmlns:a="http://schemas.openxmlformats.org/drawingml/2006/main">
            <a:off x="838200" y="58483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North star: accepted introductions that lead to a second meeting</a:t>
            </a:r>
          </a:p>
        </p:txBody>
      </p:sp>
    </p:spTree>
    <p:extLst>
      <p:ext uri="{BB962C8B-B14F-4D97-AF65-F5344CB8AC3E}">
        <p14:creationId xmlns:p14="http://schemas.microsoft.com/office/powerpoint/2010/main" val="907625201"/>
      </p:ext>
    </p:extLst>
  </p:cSld>
</p:sld>
</file>

<file path=ppt/slides/slide10.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15" name="brand-wordmark">
            <a:extLst xmlns:a="http://schemas.openxmlformats.org/drawingml/2006/main">
              <a:ext uri="{FF2B5EF4-FFF2-40B4-BE49-F238E27FC236}">
                <a16:creationId xmlns:a16="http://schemas.microsoft.com/office/drawing/2014/main" id="{64407191-63AE-4CB4-820D-DC5712108402}"/>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E4DFD9"/>
                </a:solidFill>
                <a:latin typeface="Arial"/>
                <a:ea typeface="Arial"/>
                <a:cs typeface="Arial"/>
              </a:defRPr>
            </a:defPPr>
            <a:lvl1pPr algn="l">
              <a:defRPr sz="2250" b="0">
                <a:solidFill>
                  <a:srgbClr val="E4DFD9"/>
                </a:solidFill>
                <a:latin typeface="Arial"/>
                <a:ea typeface="Arial"/>
                <a:cs typeface="Arial"/>
              </a:defRPr>
            </a:lvl1pPr>
            <a:lvl2pPr algn="l">
              <a:defRPr sz="2250" b="0">
                <a:solidFill>
                  <a:srgbClr val="E4DFD9"/>
                </a:solidFill>
                <a:latin typeface="Arial"/>
                <a:ea typeface="Arial"/>
                <a:cs typeface="Arial"/>
              </a:defRPr>
            </a:lvl2pPr>
            <a:lvl3pPr algn="l">
              <a:defRPr sz="2250" b="0">
                <a:solidFill>
                  <a:srgbClr val="E4DFD9"/>
                </a:solidFill>
                <a:latin typeface="Arial"/>
                <a:ea typeface="Arial"/>
                <a:cs typeface="Arial"/>
              </a:defRPr>
            </a:lvl3pPr>
            <a:lvl4pPr algn="l">
              <a:defRPr sz="2250" b="0">
                <a:solidFill>
                  <a:srgbClr val="E4DFD9"/>
                </a:solidFill>
                <a:latin typeface="Arial"/>
                <a:ea typeface="Arial"/>
                <a:cs typeface="Arial"/>
              </a:defRPr>
            </a:lvl4pPr>
            <a:lvl5pPr algn="l">
              <a:defRPr sz="2250" b="0">
                <a:solidFill>
                  <a:srgbClr val="E4DFD9"/>
                </a:solidFill>
                <a:latin typeface="Arial"/>
                <a:ea typeface="Arial"/>
                <a:cs typeface="Arial"/>
              </a:defRPr>
            </a:lvl5pPr>
            <a:lvl6pPr algn="l">
              <a:defRPr sz="2250" b="0">
                <a:solidFill>
                  <a:srgbClr val="E4DFD9"/>
                </a:solidFill>
                <a:latin typeface="Arial"/>
                <a:ea typeface="Arial"/>
                <a:cs typeface="Arial"/>
              </a:defRPr>
            </a:lvl6pPr>
            <a:lvl7pPr algn="l">
              <a:defRPr sz="2250" b="0">
                <a:solidFill>
                  <a:srgbClr val="E4DFD9"/>
                </a:solidFill>
                <a:latin typeface="Arial"/>
                <a:ea typeface="Arial"/>
                <a:cs typeface="Arial"/>
              </a:defRPr>
            </a:lvl7pPr>
            <a:lvl8pPr algn="l">
              <a:defRPr sz="2250" b="0">
                <a:solidFill>
                  <a:srgbClr val="E4DFD9"/>
                </a:solidFill>
                <a:latin typeface="Arial"/>
                <a:ea typeface="Arial"/>
                <a:cs typeface="Arial"/>
              </a:defRPr>
            </a:lvl8pPr>
            <a:lvl9pPr algn="l">
              <a:defRPr sz="2250" b="0">
                <a:solidFill>
                  <a:srgbClr val="E4DFD9"/>
                </a:solidFill>
                <a:latin typeface="Arial"/>
                <a:ea typeface="Arial"/>
                <a:cs typeface="Arial"/>
              </a:defRPr>
            </a:lvl9pPr>
          </a:lstStyle>
          <a:p xmlns:a="http://schemas.openxmlformats.org/drawingml/2006/main">
            <a:pPr algn="l">
              <a:defRPr sz="2250" b="0">
                <a:solidFill>
                  <a:srgbClr val="E4DFD9"/>
                </a:solidFill>
                <a:latin typeface="Arial"/>
                <a:ea typeface="Arial"/>
                <a:cs typeface="Arial"/>
              </a:defRPr>
            </a:pPr>
            <a:r>
              <a:rPr sz="2250" b="0">
                <a:solidFill>
                  <a:srgbClr val="E4DFD9"/>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2727BF02-0D36-4496-9132-5DC8411F31E7}"/>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EC6BC"/>
                </a:solidFill>
                <a:latin typeface="Arial"/>
                <a:ea typeface="Arial"/>
                <a:cs typeface="Arial"/>
              </a:defRPr>
            </a:defPPr>
            <a:lvl1pPr algn="l">
              <a:defRPr sz="1050" b="0">
                <a:solidFill>
                  <a:srgbClr val="CEC6BC"/>
                </a:solidFill>
                <a:latin typeface="Arial"/>
                <a:ea typeface="Arial"/>
                <a:cs typeface="Arial"/>
              </a:defRPr>
            </a:lvl1pPr>
            <a:lvl2pPr algn="l">
              <a:defRPr sz="1050" b="0">
                <a:solidFill>
                  <a:srgbClr val="CEC6BC"/>
                </a:solidFill>
                <a:latin typeface="Arial"/>
                <a:ea typeface="Arial"/>
                <a:cs typeface="Arial"/>
              </a:defRPr>
            </a:lvl2pPr>
            <a:lvl3pPr algn="l">
              <a:defRPr sz="1050" b="0">
                <a:solidFill>
                  <a:srgbClr val="CEC6BC"/>
                </a:solidFill>
                <a:latin typeface="Arial"/>
                <a:ea typeface="Arial"/>
                <a:cs typeface="Arial"/>
              </a:defRPr>
            </a:lvl3pPr>
            <a:lvl4pPr algn="l">
              <a:defRPr sz="1050" b="0">
                <a:solidFill>
                  <a:srgbClr val="CEC6BC"/>
                </a:solidFill>
                <a:latin typeface="Arial"/>
                <a:ea typeface="Arial"/>
                <a:cs typeface="Arial"/>
              </a:defRPr>
            </a:lvl4pPr>
            <a:lvl5pPr algn="l">
              <a:defRPr sz="1050" b="0">
                <a:solidFill>
                  <a:srgbClr val="CEC6BC"/>
                </a:solidFill>
                <a:latin typeface="Arial"/>
                <a:ea typeface="Arial"/>
                <a:cs typeface="Arial"/>
              </a:defRPr>
            </a:lvl5pPr>
            <a:lvl6pPr algn="l">
              <a:defRPr sz="1050" b="0">
                <a:solidFill>
                  <a:srgbClr val="CEC6BC"/>
                </a:solidFill>
                <a:latin typeface="Arial"/>
                <a:ea typeface="Arial"/>
                <a:cs typeface="Arial"/>
              </a:defRPr>
            </a:lvl6pPr>
            <a:lvl7pPr algn="l">
              <a:defRPr sz="1050" b="0">
                <a:solidFill>
                  <a:srgbClr val="CEC6BC"/>
                </a:solidFill>
                <a:latin typeface="Arial"/>
                <a:ea typeface="Arial"/>
                <a:cs typeface="Arial"/>
              </a:defRPr>
            </a:lvl7pPr>
            <a:lvl8pPr algn="l">
              <a:defRPr sz="1050" b="0">
                <a:solidFill>
                  <a:srgbClr val="CEC6BC"/>
                </a:solidFill>
                <a:latin typeface="Arial"/>
                <a:ea typeface="Arial"/>
                <a:cs typeface="Arial"/>
              </a:defRPr>
            </a:lvl8pPr>
            <a:lvl9pPr algn="l">
              <a:defRPr sz="1050" b="0">
                <a:solidFill>
                  <a:srgbClr val="CEC6BC"/>
                </a:solidFill>
                <a:latin typeface="Arial"/>
                <a:ea typeface="Arial"/>
                <a:cs typeface="Arial"/>
              </a:defRPr>
            </a:lvl9pPr>
          </a:lstStyle>
          <a:p xmlns:a="http://schemas.openxmlformats.org/drawingml/2006/main">
            <a:pPr algn="l">
              <a:defRPr sz="1050" b="0">
                <a:solidFill>
                  <a:srgbClr val="CEC6BC"/>
                </a:solidFill>
                <a:latin typeface="Arial"/>
                <a:ea typeface="Arial"/>
                <a:cs typeface="Arial"/>
              </a:defRPr>
            </a:pPr>
            <a:r>
              <a:rPr sz="1050" b="0">
                <a:solidFill>
                  <a:srgbClr val="CEC6BC"/>
                </a:solidFill>
                <a:latin typeface="Arial"/>
                <a:ea typeface="Arial"/>
                <a:cs typeface="Arial"/>
              </a:rPr>
              <a:t>10 / 11</a:t>
            </a:r>
          </a:p>
        </p:txBody>
      </p:sp>
      <p:sp>
        <p:nvSpPr>
          <p:cNvPr id="3" name="slide-title">
            <a:extLst xmlns:a="http://schemas.openxmlformats.org/drawingml/2006/main">
              <a:ext uri="{FF2B5EF4-FFF2-40B4-BE49-F238E27FC236}">
                <a16:creationId xmlns:a16="http://schemas.microsoft.com/office/drawing/2014/main" id="{A87E3734-62A7-49D7-B893-6DB79F35429D}"/>
              </a:ext>
            </a:extLst>
          </p:cNvPr>
          <p:cNvSpPr>
            <a:spLocks xmlns:a="http://schemas.openxmlformats.org/drawingml/2006/main" noGrp="1"/>
          </p:cNvSpPr>
          <p:nvPr/>
        </p:nvSpPr>
        <p:spPr>
          <a:xfrm xmlns:a="http://schemas.openxmlformats.org/drawingml/2006/main">
            <a:off x="609600" y="10287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FFFFFF"/>
                </a:solidFill>
                <a:latin typeface="Arial"/>
                <a:ea typeface="Arial"/>
                <a:cs typeface="Arial"/>
              </a:defRPr>
            </a:defPPr>
            <a:lvl1pPr algn="l">
              <a:defRPr sz="3900" b="0">
                <a:solidFill>
                  <a:srgbClr val="FFFFFF"/>
                </a:solidFill>
                <a:latin typeface="Arial"/>
                <a:ea typeface="Arial"/>
                <a:cs typeface="Arial"/>
              </a:defRPr>
            </a:lvl1pPr>
            <a:lvl2pPr algn="l">
              <a:defRPr sz="3900" b="0">
                <a:solidFill>
                  <a:srgbClr val="FFFFFF"/>
                </a:solidFill>
                <a:latin typeface="Arial"/>
                <a:ea typeface="Arial"/>
                <a:cs typeface="Arial"/>
              </a:defRPr>
            </a:lvl2pPr>
            <a:lvl3pPr algn="l">
              <a:defRPr sz="3900" b="0">
                <a:solidFill>
                  <a:srgbClr val="FFFFFF"/>
                </a:solidFill>
                <a:latin typeface="Arial"/>
                <a:ea typeface="Arial"/>
                <a:cs typeface="Arial"/>
              </a:defRPr>
            </a:lvl3pPr>
            <a:lvl4pPr algn="l">
              <a:defRPr sz="3900" b="0">
                <a:solidFill>
                  <a:srgbClr val="FFFFFF"/>
                </a:solidFill>
                <a:latin typeface="Arial"/>
                <a:ea typeface="Arial"/>
                <a:cs typeface="Arial"/>
              </a:defRPr>
            </a:lvl4pPr>
            <a:lvl5pPr algn="l">
              <a:defRPr sz="3900" b="0">
                <a:solidFill>
                  <a:srgbClr val="FFFFFF"/>
                </a:solidFill>
                <a:latin typeface="Arial"/>
                <a:ea typeface="Arial"/>
                <a:cs typeface="Arial"/>
              </a:defRPr>
            </a:lvl5pPr>
            <a:lvl6pPr algn="l">
              <a:defRPr sz="3900" b="0">
                <a:solidFill>
                  <a:srgbClr val="FFFFFF"/>
                </a:solidFill>
                <a:latin typeface="Arial"/>
                <a:ea typeface="Arial"/>
                <a:cs typeface="Arial"/>
              </a:defRPr>
            </a:lvl6pPr>
            <a:lvl7pPr algn="l">
              <a:defRPr sz="3900" b="0">
                <a:solidFill>
                  <a:srgbClr val="FFFFFF"/>
                </a:solidFill>
                <a:latin typeface="Arial"/>
                <a:ea typeface="Arial"/>
                <a:cs typeface="Arial"/>
              </a:defRPr>
            </a:lvl7pPr>
            <a:lvl8pPr algn="l">
              <a:defRPr sz="3900" b="0">
                <a:solidFill>
                  <a:srgbClr val="FFFFFF"/>
                </a:solidFill>
                <a:latin typeface="Arial"/>
                <a:ea typeface="Arial"/>
                <a:cs typeface="Arial"/>
              </a:defRPr>
            </a:lvl8pPr>
            <a:lvl9pPr algn="l">
              <a:defRPr sz="3900" b="0">
                <a:solidFill>
                  <a:srgbClr val="FFFFFF"/>
                </a:solidFill>
                <a:latin typeface="Arial"/>
                <a:ea typeface="Arial"/>
                <a:cs typeface="Arial"/>
              </a:defRPr>
            </a:lvl9pPr>
          </a:lstStyle>
          <a:p xmlns:a="http://schemas.openxmlformats.org/drawingml/2006/main">
            <a:pPr algn="l">
              <a:defRPr sz="3900" b="0">
                <a:solidFill>
                  <a:srgbClr val="FFFFFF"/>
                </a:solidFill>
                <a:latin typeface="Arial"/>
                <a:ea typeface="Arial"/>
                <a:cs typeface="Arial"/>
              </a:defRPr>
            </a:pPr>
            <a:r>
              <a:rPr sz="3900" b="0">
                <a:solidFill>
                  <a:srgbClr val="FFFFFF"/>
                </a:solidFill>
                <a:latin typeface="Arial"/>
                <a:ea typeface="Arial"/>
                <a:cs typeface="Arial"/>
              </a:rPr>
              <a:t>Roadmap &amp; the ask</a:t>
            </a:r>
          </a:p>
        </p:txBody>
      </p:sp>
      <p:sp>
        <p:nvSpPr>
          <p:cNvPr id="4" name="section-label">
            <a:extLst xmlns:a="http://schemas.openxmlformats.org/drawingml/2006/main">
              <a:ext uri="{FF2B5EF4-FFF2-40B4-BE49-F238E27FC236}">
                <a16:creationId xmlns:a16="http://schemas.microsoft.com/office/drawing/2014/main" id="{CA4ED035-1546-4CC1-A97D-F9E6D85F3E4F}"/>
              </a:ext>
            </a:extLst>
          </p:cNvPr>
          <p:cNvSpPr>
            <a:spLocks xmlns:a="http://schemas.openxmlformats.org/drawingml/2006/main" noGrp="1"/>
          </p:cNvSpPr>
          <p:nvPr/>
        </p:nvSpPr>
        <p:spPr>
          <a:xfrm xmlns:a="http://schemas.openxmlformats.org/drawingml/2006/main">
            <a:off x="609600" y="1857375"/>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EC6BC"/>
                </a:solidFill>
                <a:latin typeface="Arial"/>
                <a:ea typeface="Arial"/>
                <a:cs typeface="Arial"/>
              </a:defRPr>
            </a:defPPr>
            <a:lvl1pPr algn="l">
              <a:defRPr sz="1050" b="0">
                <a:solidFill>
                  <a:srgbClr val="CEC6BC"/>
                </a:solidFill>
                <a:latin typeface="Arial"/>
                <a:ea typeface="Arial"/>
                <a:cs typeface="Arial"/>
              </a:defRPr>
            </a:lvl1pPr>
            <a:lvl2pPr algn="l">
              <a:defRPr sz="1050" b="0">
                <a:solidFill>
                  <a:srgbClr val="CEC6BC"/>
                </a:solidFill>
                <a:latin typeface="Arial"/>
                <a:ea typeface="Arial"/>
                <a:cs typeface="Arial"/>
              </a:defRPr>
            </a:lvl2pPr>
            <a:lvl3pPr algn="l">
              <a:defRPr sz="1050" b="0">
                <a:solidFill>
                  <a:srgbClr val="CEC6BC"/>
                </a:solidFill>
                <a:latin typeface="Arial"/>
                <a:ea typeface="Arial"/>
                <a:cs typeface="Arial"/>
              </a:defRPr>
            </a:lvl3pPr>
            <a:lvl4pPr algn="l">
              <a:defRPr sz="1050" b="0">
                <a:solidFill>
                  <a:srgbClr val="CEC6BC"/>
                </a:solidFill>
                <a:latin typeface="Arial"/>
                <a:ea typeface="Arial"/>
                <a:cs typeface="Arial"/>
              </a:defRPr>
            </a:lvl4pPr>
            <a:lvl5pPr algn="l">
              <a:defRPr sz="1050" b="0">
                <a:solidFill>
                  <a:srgbClr val="CEC6BC"/>
                </a:solidFill>
                <a:latin typeface="Arial"/>
                <a:ea typeface="Arial"/>
                <a:cs typeface="Arial"/>
              </a:defRPr>
            </a:lvl5pPr>
            <a:lvl6pPr algn="l">
              <a:defRPr sz="1050" b="0">
                <a:solidFill>
                  <a:srgbClr val="CEC6BC"/>
                </a:solidFill>
                <a:latin typeface="Arial"/>
                <a:ea typeface="Arial"/>
                <a:cs typeface="Arial"/>
              </a:defRPr>
            </a:lvl6pPr>
            <a:lvl7pPr algn="l">
              <a:defRPr sz="1050" b="0">
                <a:solidFill>
                  <a:srgbClr val="CEC6BC"/>
                </a:solidFill>
                <a:latin typeface="Arial"/>
                <a:ea typeface="Arial"/>
                <a:cs typeface="Arial"/>
              </a:defRPr>
            </a:lvl7pPr>
            <a:lvl8pPr algn="l">
              <a:defRPr sz="1050" b="0">
                <a:solidFill>
                  <a:srgbClr val="CEC6BC"/>
                </a:solidFill>
                <a:latin typeface="Arial"/>
                <a:ea typeface="Arial"/>
                <a:cs typeface="Arial"/>
              </a:defRPr>
            </a:lvl8pPr>
            <a:lvl9pPr algn="l">
              <a:defRPr sz="1050" b="0">
                <a:solidFill>
                  <a:srgbClr val="CEC6BC"/>
                </a:solidFill>
                <a:latin typeface="Arial"/>
                <a:ea typeface="Arial"/>
                <a:cs typeface="Arial"/>
              </a:defRPr>
            </a:lvl9pPr>
          </a:lstStyle>
          <a:p xmlns:a="http://schemas.openxmlformats.org/drawingml/2006/main">
            <a:pPr algn="l">
              <a:defRPr sz="1050" b="0">
                <a:solidFill>
                  <a:srgbClr val="CEC6BC"/>
                </a:solidFill>
                <a:latin typeface="Arial"/>
                <a:ea typeface="Arial"/>
                <a:cs typeface="Arial"/>
              </a:defRPr>
            </a:pPr>
            <a:r>
              <a:rPr sz="1050" b="0">
                <a:solidFill>
                  <a:srgbClr val="CEC6BC"/>
                </a:solidFill>
                <a:latin typeface="Arial"/>
                <a:ea typeface="Arial"/>
                <a:cs typeface="Arial"/>
              </a:rPr>
              <a:t>PROPOSED NEXT STEPS  /  NOT CURRENT RESULTS</a:t>
            </a:r>
          </a:p>
        </p:txBody>
      </p:sp>
      <p:sp>
        <p:nvSpPr>
          <p:cNvPr id="5" name="text">
            <a:extLst xmlns:a="http://schemas.openxmlformats.org/drawingml/2006/main">
              <a:ext uri="{FF2B5EF4-FFF2-40B4-BE49-F238E27FC236}">
                <a16:creationId xmlns:a16="http://schemas.microsoft.com/office/drawing/2014/main" id="{C9ACE63D-7870-4DB0-817A-83FAE6A3EBDF}"/>
              </a:ext>
            </a:extLst>
          </p:cNvPr>
          <p:cNvSpPr>
            <a:spLocks xmlns:a="http://schemas.openxmlformats.org/drawingml/2006/main" noGrp="1"/>
          </p:cNvSpPr>
          <p:nvPr/>
        </p:nvSpPr>
        <p:spPr>
          <a:xfrm xmlns:a="http://schemas.openxmlformats.org/drawingml/2006/main">
            <a:off x="609600" y="239077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30 days</a:t>
            </a:r>
          </a:p>
        </p:txBody>
      </p:sp>
      <p:sp>
        <p:nvSpPr>
          <p:cNvPr id="6" name="text">
            <a:extLst xmlns:a="http://schemas.openxmlformats.org/drawingml/2006/main">
              <a:ext uri="{FF2B5EF4-FFF2-40B4-BE49-F238E27FC236}">
                <a16:creationId xmlns:a16="http://schemas.microsoft.com/office/drawing/2014/main" id="{0EF65FFC-B26F-4BD7-95F5-D037D305BB67}"/>
              </a:ext>
            </a:extLst>
          </p:cNvPr>
          <p:cNvSpPr>
            <a:spLocks xmlns:a="http://schemas.openxmlformats.org/drawingml/2006/main" noGrp="1"/>
          </p:cNvSpPr>
          <p:nvPr/>
        </p:nvSpPr>
        <p:spPr>
          <a:xfrm xmlns:a="http://schemas.openxmlformats.org/drawingml/2006/main">
            <a:off x="609600" y="3000375"/>
            <a:ext cx="3476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EC6BC"/>
                </a:solidFill>
                <a:latin typeface="Arial"/>
                <a:ea typeface="Arial"/>
                <a:cs typeface="Arial"/>
              </a:defRPr>
            </a:defPPr>
            <a:lvl1pPr algn="l">
              <a:defRPr sz="1725" b="0">
                <a:solidFill>
                  <a:srgbClr val="CEC6BC"/>
                </a:solidFill>
                <a:latin typeface="Arial"/>
                <a:ea typeface="Arial"/>
                <a:cs typeface="Arial"/>
              </a:defRPr>
            </a:lvl1pPr>
            <a:lvl2pPr algn="l">
              <a:defRPr sz="1725" b="0">
                <a:solidFill>
                  <a:srgbClr val="CEC6BC"/>
                </a:solidFill>
                <a:latin typeface="Arial"/>
                <a:ea typeface="Arial"/>
                <a:cs typeface="Arial"/>
              </a:defRPr>
            </a:lvl2pPr>
            <a:lvl3pPr algn="l">
              <a:defRPr sz="1725" b="0">
                <a:solidFill>
                  <a:srgbClr val="CEC6BC"/>
                </a:solidFill>
                <a:latin typeface="Arial"/>
                <a:ea typeface="Arial"/>
                <a:cs typeface="Arial"/>
              </a:defRPr>
            </a:lvl3pPr>
            <a:lvl4pPr algn="l">
              <a:defRPr sz="1725" b="0">
                <a:solidFill>
                  <a:srgbClr val="CEC6BC"/>
                </a:solidFill>
                <a:latin typeface="Arial"/>
                <a:ea typeface="Arial"/>
                <a:cs typeface="Arial"/>
              </a:defRPr>
            </a:lvl4pPr>
            <a:lvl5pPr algn="l">
              <a:defRPr sz="1725" b="0">
                <a:solidFill>
                  <a:srgbClr val="CEC6BC"/>
                </a:solidFill>
                <a:latin typeface="Arial"/>
                <a:ea typeface="Arial"/>
                <a:cs typeface="Arial"/>
              </a:defRPr>
            </a:lvl5pPr>
            <a:lvl6pPr algn="l">
              <a:defRPr sz="1725" b="0">
                <a:solidFill>
                  <a:srgbClr val="CEC6BC"/>
                </a:solidFill>
                <a:latin typeface="Arial"/>
                <a:ea typeface="Arial"/>
                <a:cs typeface="Arial"/>
              </a:defRPr>
            </a:lvl6pPr>
            <a:lvl7pPr algn="l">
              <a:defRPr sz="1725" b="0">
                <a:solidFill>
                  <a:srgbClr val="CEC6BC"/>
                </a:solidFill>
                <a:latin typeface="Arial"/>
                <a:ea typeface="Arial"/>
                <a:cs typeface="Arial"/>
              </a:defRPr>
            </a:lvl7pPr>
            <a:lvl8pPr algn="l">
              <a:defRPr sz="1725" b="0">
                <a:solidFill>
                  <a:srgbClr val="CEC6BC"/>
                </a:solidFill>
                <a:latin typeface="Arial"/>
                <a:ea typeface="Arial"/>
                <a:cs typeface="Arial"/>
              </a:defRPr>
            </a:lvl8pPr>
            <a:lvl9pPr algn="l">
              <a:defRPr sz="1725" b="0">
                <a:solidFill>
                  <a:srgbClr val="CEC6BC"/>
                </a:solidFill>
                <a:latin typeface="Arial"/>
                <a:ea typeface="Arial"/>
                <a:cs typeface="Arial"/>
              </a:defRPr>
            </a:lvl9pPr>
          </a:lstStyle>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Onboard event founders.</a:t>
            </a:r>
          </a:p>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Test talent and discovery needs.</a:t>
            </a:r>
          </a:p>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Ship the MVP; seek first partners.</a:t>
            </a:r>
          </a:p>
        </p:txBody>
      </p:sp>
      <p:sp>
        <p:nvSpPr>
          <p:cNvPr id="7" name="text">
            <a:extLst xmlns:a="http://schemas.openxmlformats.org/drawingml/2006/main">
              <a:ext uri="{FF2B5EF4-FFF2-40B4-BE49-F238E27FC236}">
                <a16:creationId xmlns:a16="http://schemas.microsoft.com/office/drawing/2014/main" id="{AA3A5076-89BE-4791-ABB4-459A2F7FFB6F}"/>
              </a:ext>
            </a:extLst>
          </p:cNvPr>
          <p:cNvSpPr>
            <a:spLocks xmlns:a="http://schemas.openxmlformats.org/drawingml/2006/main" noGrp="1"/>
          </p:cNvSpPr>
          <p:nvPr/>
        </p:nvSpPr>
        <p:spPr>
          <a:xfrm xmlns:a="http://schemas.openxmlformats.org/drawingml/2006/main">
            <a:off x="4448175" y="239077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90 days</a:t>
            </a:r>
          </a:p>
        </p:txBody>
      </p:sp>
      <p:sp>
        <p:nvSpPr>
          <p:cNvPr id="8" name="text">
            <a:extLst xmlns:a="http://schemas.openxmlformats.org/drawingml/2006/main">
              <a:ext uri="{FF2B5EF4-FFF2-40B4-BE49-F238E27FC236}">
                <a16:creationId xmlns:a16="http://schemas.microsoft.com/office/drawing/2014/main" id="{58D7A936-63D3-4814-B9AC-38A4194810EC}"/>
              </a:ext>
            </a:extLst>
          </p:cNvPr>
          <p:cNvSpPr>
            <a:spLocks xmlns:a="http://schemas.openxmlformats.org/drawingml/2006/main" noGrp="1"/>
          </p:cNvSpPr>
          <p:nvPr/>
        </p:nvSpPr>
        <p:spPr>
          <a:xfrm xmlns:a="http://schemas.openxmlformats.org/drawingml/2006/main">
            <a:off x="4448175" y="3000375"/>
            <a:ext cx="3476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EC6BC"/>
                </a:solidFill>
                <a:latin typeface="Arial"/>
                <a:ea typeface="Arial"/>
                <a:cs typeface="Arial"/>
              </a:defRPr>
            </a:defPPr>
            <a:lvl1pPr algn="l">
              <a:defRPr sz="1725" b="0">
                <a:solidFill>
                  <a:srgbClr val="CEC6BC"/>
                </a:solidFill>
                <a:latin typeface="Arial"/>
                <a:ea typeface="Arial"/>
                <a:cs typeface="Arial"/>
              </a:defRPr>
            </a:lvl1pPr>
            <a:lvl2pPr algn="l">
              <a:defRPr sz="1725" b="0">
                <a:solidFill>
                  <a:srgbClr val="CEC6BC"/>
                </a:solidFill>
                <a:latin typeface="Arial"/>
                <a:ea typeface="Arial"/>
                <a:cs typeface="Arial"/>
              </a:defRPr>
            </a:lvl2pPr>
            <a:lvl3pPr algn="l">
              <a:defRPr sz="1725" b="0">
                <a:solidFill>
                  <a:srgbClr val="CEC6BC"/>
                </a:solidFill>
                <a:latin typeface="Arial"/>
                <a:ea typeface="Arial"/>
                <a:cs typeface="Arial"/>
              </a:defRPr>
            </a:lvl3pPr>
            <a:lvl4pPr algn="l">
              <a:defRPr sz="1725" b="0">
                <a:solidFill>
                  <a:srgbClr val="CEC6BC"/>
                </a:solidFill>
                <a:latin typeface="Arial"/>
                <a:ea typeface="Arial"/>
                <a:cs typeface="Arial"/>
              </a:defRPr>
            </a:lvl4pPr>
            <a:lvl5pPr algn="l">
              <a:defRPr sz="1725" b="0">
                <a:solidFill>
                  <a:srgbClr val="CEC6BC"/>
                </a:solidFill>
                <a:latin typeface="Arial"/>
                <a:ea typeface="Arial"/>
                <a:cs typeface="Arial"/>
              </a:defRPr>
            </a:lvl5pPr>
            <a:lvl6pPr algn="l">
              <a:defRPr sz="1725" b="0">
                <a:solidFill>
                  <a:srgbClr val="CEC6BC"/>
                </a:solidFill>
                <a:latin typeface="Arial"/>
                <a:ea typeface="Arial"/>
                <a:cs typeface="Arial"/>
              </a:defRPr>
            </a:lvl6pPr>
            <a:lvl7pPr algn="l">
              <a:defRPr sz="1725" b="0">
                <a:solidFill>
                  <a:srgbClr val="CEC6BC"/>
                </a:solidFill>
                <a:latin typeface="Arial"/>
                <a:ea typeface="Arial"/>
                <a:cs typeface="Arial"/>
              </a:defRPr>
            </a:lvl7pPr>
            <a:lvl8pPr algn="l">
              <a:defRPr sz="1725" b="0">
                <a:solidFill>
                  <a:srgbClr val="CEC6BC"/>
                </a:solidFill>
                <a:latin typeface="Arial"/>
                <a:ea typeface="Arial"/>
                <a:cs typeface="Arial"/>
              </a:defRPr>
            </a:lvl8pPr>
            <a:lvl9pPr algn="l">
              <a:defRPr sz="1725" b="0">
                <a:solidFill>
                  <a:srgbClr val="CEC6BC"/>
                </a:solidFill>
                <a:latin typeface="Arial"/>
                <a:ea typeface="Arial"/>
                <a:cs typeface="Arial"/>
              </a:defRPr>
            </a:lvl9pPr>
          </a:lstStyle>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Review legal framework with firms.</a:t>
            </a:r>
          </a:p>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Improve from founder feedback.</a:t>
            </a:r>
          </a:p>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Develop university partnerships.</a:t>
            </a:r>
          </a:p>
        </p:txBody>
      </p:sp>
      <p:sp>
        <p:nvSpPr>
          <p:cNvPr id="9" name="text">
            <a:extLst xmlns:a="http://schemas.openxmlformats.org/drawingml/2006/main">
              <a:ext uri="{FF2B5EF4-FFF2-40B4-BE49-F238E27FC236}">
                <a16:creationId xmlns:a16="http://schemas.microsoft.com/office/drawing/2014/main" id="{F3263756-ABB6-4300-AA65-7AC4B04135C7}"/>
              </a:ext>
            </a:extLst>
          </p:cNvPr>
          <p:cNvSpPr>
            <a:spLocks xmlns:a="http://schemas.openxmlformats.org/drawingml/2006/main" noGrp="1"/>
          </p:cNvSpPr>
          <p:nvPr/>
        </p:nvSpPr>
        <p:spPr>
          <a:xfrm xmlns:a="http://schemas.openxmlformats.org/drawingml/2006/main">
            <a:off x="8286750" y="239077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6–12 months</a:t>
            </a:r>
          </a:p>
        </p:txBody>
      </p:sp>
      <p:sp>
        <p:nvSpPr>
          <p:cNvPr id="10" name="text">
            <a:extLst xmlns:a="http://schemas.openxmlformats.org/drawingml/2006/main">
              <a:ext uri="{FF2B5EF4-FFF2-40B4-BE49-F238E27FC236}">
                <a16:creationId xmlns:a16="http://schemas.microsoft.com/office/drawing/2014/main" id="{995DE004-296F-4C6B-BFE7-3C504A529F73}"/>
              </a:ext>
            </a:extLst>
          </p:cNvPr>
          <p:cNvSpPr>
            <a:spLocks xmlns:a="http://schemas.openxmlformats.org/drawingml/2006/main" noGrp="1"/>
          </p:cNvSpPr>
          <p:nvPr/>
        </p:nvSpPr>
        <p:spPr>
          <a:xfrm xmlns:a="http://schemas.openxmlformats.org/drawingml/2006/main">
            <a:off x="8286750" y="3000375"/>
            <a:ext cx="3476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EC6BC"/>
                </a:solidFill>
                <a:latin typeface="Arial"/>
                <a:ea typeface="Arial"/>
                <a:cs typeface="Arial"/>
              </a:defRPr>
            </a:defPPr>
            <a:lvl1pPr algn="l">
              <a:defRPr sz="1725" b="0">
                <a:solidFill>
                  <a:srgbClr val="CEC6BC"/>
                </a:solidFill>
                <a:latin typeface="Arial"/>
                <a:ea typeface="Arial"/>
                <a:cs typeface="Arial"/>
              </a:defRPr>
            </a:lvl1pPr>
            <a:lvl2pPr algn="l">
              <a:defRPr sz="1725" b="0">
                <a:solidFill>
                  <a:srgbClr val="CEC6BC"/>
                </a:solidFill>
                <a:latin typeface="Arial"/>
                <a:ea typeface="Arial"/>
                <a:cs typeface="Arial"/>
              </a:defRPr>
            </a:lvl2pPr>
            <a:lvl3pPr algn="l">
              <a:defRPr sz="1725" b="0">
                <a:solidFill>
                  <a:srgbClr val="CEC6BC"/>
                </a:solidFill>
                <a:latin typeface="Arial"/>
                <a:ea typeface="Arial"/>
                <a:cs typeface="Arial"/>
              </a:defRPr>
            </a:lvl3pPr>
            <a:lvl4pPr algn="l">
              <a:defRPr sz="1725" b="0">
                <a:solidFill>
                  <a:srgbClr val="CEC6BC"/>
                </a:solidFill>
                <a:latin typeface="Arial"/>
                <a:ea typeface="Arial"/>
                <a:cs typeface="Arial"/>
              </a:defRPr>
            </a:lvl4pPr>
            <a:lvl5pPr algn="l">
              <a:defRPr sz="1725" b="0">
                <a:solidFill>
                  <a:srgbClr val="CEC6BC"/>
                </a:solidFill>
                <a:latin typeface="Arial"/>
                <a:ea typeface="Arial"/>
                <a:cs typeface="Arial"/>
              </a:defRPr>
            </a:lvl5pPr>
            <a:lvl6pPr algn="l">
              <a:defRPr sz="1725" b="0">
                <a:solidFill>
                  <a:srgbClr val="CEC6BC"/>
                </a:solidFill>
                <a:latin typeface="Arial"/>
                <a:ea typeface="Arial"/>
                <a:cs typeface="Arial"/>
              </a:defRPr>
            </a:lvl6pPr>
            <a:lvl7pPr algn="l">
              <a:defRPr sz="1725" b="0">
                <a:solidFill>
                  <a:srgbClr val="CEC6BC"/>
                </a:solidFill>
                <a:latin typeface="Arial"/>
                <a:ea typeface="Arial"/>
                <a:cs typeface="Arial"/>
              </a:defRPr>
            </a:lvl7pPr>
            <a:lvl8pPr algn="l">
              <a:defRPr sz="1725" b="0">
                <a:solidFill>
                  <a:srgbClr val="CEC6BC"/>
                </a:solidFill>
                <a:latin typeface="Arial"/>
                <a:ea typeface="Arial"/>
                <a:cs typeface="Arial"/>
              </a:defRPr>
            </a:lvl8pPr>
            <a:lvl9pPr algn="l">
              <a:defRPr sz="1725" b="0">
                <a:solidFill>
                  <a:srgbClr val="CEC6BC"/>
                </a:solidFill>
                <a:latin typeface="Arial"/>
                <a:ea typeface="Arial"/>
                <a:cs typeface="Arial"/>
              </a:defRPr>
            </a:lvl9pPr>
          </a:lstStyle>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5–10 programme licences.</a:t>
            </a:r>
          </a:p>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1,000 Calgary builders; Edmonton.</a:t>
            </a:r>
          </a:p>
          <a:p xmlns:a="http://schemas.openxmlformats.org/drawingml/2006/main">
            <a:pPr algn="l">
              <a:defRPr sz="1725" b="0">
                <a:solidFill>
                  <a:srgbClr val="CEC6BC"/>
                </a:solidFill>
                <a:latin typeface="Arial"/>
                <a:ea typeface="Arial"/>
                <a:cs typeface="Arial"/>
              </a:defRPr>
            </a:pPr>
            <a:r>
              <a:rPr sz="1725" b="0">
                <a:solidFill>
                  <a:srgbClr val="CEC6BC"/>
                </a:solidFill>
                <a:latin typeface="Arial"/>
                <a:ea typeface="Arial"/>
                <a:cs typeface="Arial"/>
              </a:rPr>
              <a:t>Formal university internships.</a:t>
            </a:r>
          </a:p>
        </p:txBody>
      </p:sp>
      <p:sp>
        <p:nvSpPr>
          <p:cNvPr id="11" name="pilot-ask-surface">
            <a:extLst xmlns:a="http://schemas.openxmlformats.org/drawingml/2006/main">
              <a:ext uri="{FF2B5EF4-FFF2-40B4-BE49-F238E27FC236}">
                <a16:creationId xmlns:a16="http://schemas.microsoft.com/office/drawing/2014/main" id="{EFE82F6D-91C6-497D-A87C-75A75405FEE8}"/>
              </a:ext>
            </a:extLst>
          </p:cNvPr>
          <p:cNvSpPr>
            <a:spLocks xmlns:a="http://schemas.openxmlformats.org/drawingml/2006/main" noGrp="1"/>
          </p:cNvSpPr>
          <p:nvPr/>
        </p:nvSpPr>
        <p:spPr>
          <a:xfrm xmlns:a="http://schemas.openxmlformats.org/drawingml/2006/main">
            <a:off x="609600" y="4619625"/>
            <a:ext cx="10972800" cy="1095375"/>
          </a:xfrm>
          <a:prstGeom xmlns:a="http://schemas.openxmlformats.org/drawingml/2006/main" prst="roundRect">
            <a:avLst>
              <a:gd name="adj" fmla="val 17391"/>
            </a:avLst>
          </a:prstGeom>
          <a:solidFill xmlns:a="http://schemas.openxmlformats.org/drawingml/2006/main">
            <a:srgbClr val="E4DFD9"/>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7B28D21-8553-407E-8E98-5CCC5F1927A4}"/>
              </a:ext>
            </a:extLst>
          </p:cNvPr>
          <p:cNvSpPr>
            <a:spLocks xmlns:a="http://schemas.openxmlformats.org/drawingml/2006/main" noGrp="1"/>
          </p:cNvSpPr>
          <p:nvPr/>
        </p:nvSpPr>
        <p:spPr>
          <a:xfrm xmlns:a="http://schemas.openxmlformats.org/drawingml/2006/main">
            <a:off x="857250" y="48482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71717"/>
                </a:solidFill>
                <a:latin typeface="Arial"/>
                <a:ea typeface="Arial"/>
                <a:cs typeface="Arial"/>
              </a:defRPr>
            </a:defPPr>
            <a:lvl1pPr algn="l">
              <a:defRPr sz="2475" b="0">
                <a:solidFill>
                  <a:srgbClr val="171717"/>
                </a:solidFill>
                <a:latin typeface="Arial"/>
                <a:ea typeface="Arial"/>
                <a:cs typeface="Arial"/>
              </a:defRPr>
            </a:lvl1pPr>
            <a:lvl2pPr algn="l">
              <a:defRPr sz="2475" b="0">
                <a:solidFill>
                  <a:srgbClr val="171717"/>
                </a:solidFill>
                <a:latin typeface="Arial"/>
                <a:ea typeface="Arial"/>
                <a:cs typeface="Arial"/>
              </a:defRPr>
            </a:lvl2pPr>
            <a:lvl3pPr algn="l">
              <a:defRPr sz="2475" b="0">
                <a:solidFill>
                  <a:srgbClr val="171717"/>
                </a:solidFill>
                <a:latin typeface="Arial"/>
                <a:ea typeface="Arial"/>
                <a:cs typeface="Arial"/>
              </a:defRPr>
            </a:lvl3pPr>
            <a:lvl4pPr algn="l">
              <a:defRPr sz="2475" b="0">
                <a:solidFill>
                  <a:srgbClr val="171717"/>
                </a:solidFill>
                <a:latin typeface="Arial"/>
                <a:ea typeface="Arial"/>
                <a:cs typeface="Arial"/>
              </a:defRPr>
            </a:lvl4pPr>
            <a:lvl5pPr algn="l">
              <a:defRPr sz="2475" b="0">
                <a:solidFill>
                  <a:srgbClr val="171717"/>
                </a:solidFill>
                <a:latin typeface="Arial"/>
                <a:ea typeface="Arial"/>
                <a:cs typeface="Arial"/>
              </a:defRPr>
            </a:lvl5pPr>
            <a:lvl6pPr algn="l">
              <a:defRPr sz="2475" b="0">
                <a:solidFill>
                  <a:srgbClr val="171717"/>
                </a:solidFill>
                <a:latin typeface="Arial"/>
                <a:ea typeface="Arial"/>
                <a:cs typeface="Arial"/>
              </a:defRPr>
            </a:lvl6pPr>
            <a:lvl7pPr algn="l">
              <a:defRPr sz="2475" b="0">
                <a:solidFill>
                  <a:srgbClr val="171717"/>
                </a:solidFill>
                <a:latin typeface="Arial"/>
                <a:ea typeface="Arial"/>
                <a:cs typeface="Arial"/>
              </a:defRPr>
            </a:lvl7pPr>
            <a:lvl8pPr algn="l">
              <a:defRPr sz="2475" b="0">
                <a:solidFill>
                  <a:srgbClr val="171717"/>
                </a:solidFill>
                <a:latin typeface="Arial"/>
                <a:ea typeface="Arial"/>
                <a:cs typeface="Arial"/>
              </a:defRPr>
            </a:lvl8pPr>
            <a:lvl9pPr algn="l">
              <a:defRPr sz="2475" b="0">
                <a:solidFill>
                  <a:srgbClr val="171717"/>
                </a:solidFill>
                <a:latin typeface="Arial"/>
                <a:ea typeface="Arial"/>
                <a:cs typeface="Arial"/>
              </a:defRPr>
            </a:lvl9pPr>
          </a:lstStyle>
          <a:p xmlns:a="http://schemas.openxmlformats.org/drawingml/2006/main">
            <a:pPr algn="l">
              <a:defRPr sz="2475" b="0">
                <a:solidFill>
                  <a:srgbClr val="171717"/>
                </a:solidFill>
                <a:latin typeface="Arial"/>
                <a:ea typeface="Arial"/>
                <a:cs typeface="Arial"/>
              </a:defRPr>
            </a:pPr>
            <a:r>
              <a:rPr sz="2475" b="0">
                <a:solidFill>
                  <a:srgbClr val="171717"/>
                </a:solidFill>
                <a:latin typeface="Arial"/>
                <a:ea typeface="Arial"/>
                <a:cs typeface="Arial"/>
              </a:rPr>
              <a:t>One event pilot. Two accelerator introductions.</a:t>
            </a:r>
          </a:p>
          <a:p xmlns:a="http://schemas.openxmlformats.org/drawingml/2006/main">
            <a:pPr algn="l">
              <a:defRPr sz="2475" b="0">
                <a:solidFill>
                  <a:srgbClr val="171717"/>
                </a:solidFill>
                <a:latin typeface="Arial"/>
                <a:ea typeface="Arial"/>
                <a:cs typeface="Arial"/>
              </a:defRPr>
            </a:pPr>
            <a:r>
              <a:rPr sz="2475" b="0">
                <a:solidFill>
                  <a:srgbClr val="171717"/>
                </a:solidFill>
                <a:latin typeface="Arial"/>
                <a:ea typeface="Arial"/>
                <a:cs typeface="Arial"/>
              </a:rPr>
              <a:t>Ten builders to try it this week.</a:t>
            </a:r>
          </a:p>
        </p:txBody>
      </p:sp>
      <p:sp>
        <p:nvSpPr>
          <p:cNvPr id="13" name="text">
            <a:extLst xmlns:a="http://schemas.openxmlformats.org/drawingml/2006/main">
              <a:ext uri="{FF2B5EF4-FFF2-40B4-BE49-F238E27FC236}">
                <a16:creationId xmlns:a16="http://schemas.microsoft.com/office/drawing/2014/main" id="{0FF67D39-5DE6-41AC-BAE9-35774A79FE41}"/>
              </a:ext>
            </a:extLst>
          </p:cNvPr>
          <p:cNvSpPr>
            <a:spLocks xmlns:a="http://schemas.openxmlformats.org/drawingml/2006/main" noGrp="1"/>
          </p:cNvSpPr>
          <p:nvPr/>
        </p:nvSpPr>
        <p:spPr>
          <a:xfrm xmlns:a="http://schemas.openxmlformats.org/drawingml/2006/main">
            <a:off x="609600" y="58674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CEC6BC"/>
                </a:solidFill>
                <a:latin typeface="Arial"/>
                <a:ea typeface="Arial"/>
                <a:cs typeface="Arial"/>
              </a:defRPr>
            </a:defPPr>
            <a:lvl1pPr algn="l">
              <a:defRPr sz="1275" b="0">
                <a:solidFill>
                  <a:srgbClr val="CEC6BC"/>
                </a:solidFill>
                <a:latin typeface="Arial"/>
                <a:ea typeface="Arial"/>
                <a:cs typeface="Arial"/>
              </a:defRPr>
            </a:lvl1pPr>
            <a:lvl2pPr algn="l">
              <a:defRPr sz="1275" b="0">
                <a:solidFill>
                  <a:srgbClr val="CEC6BC"/>
                </a:solidFill>
                <a:latin typeface="Arial"/>
                <a:ea typeface="Arial"/>
                <a:cs typeface="Arial"/>
              </a:defRPr>
            </a:lvl2pPr>
            <a:lvl3pPr algn="l">
              <a:defRPr sz="1275" b="0">
                <a:solidFill>
                  <a:srgbClr val="CEC6BC"/>
                </a:solidFill>
                <a:latin typeface="Arial"/>
                <a:ea typeface="Arial"/>
                <a:cs typeface="Arial"/>
              </a:defRPr>
            </a:lvl3pPr>
            <a:lvl4pPr algn="l">
              <a:defRPr sz="1275" b="0">
                <a:solidFill>
                  <a:srgbClr val="CEC6BC"/>
                </a:solidFill>
                <a:latin typeface="Arial"/>
                <a:ea typeface="Arial"/>
                <a:cs typeface="Arial"/>
              </a:defRPr>
            </a:lvl4pPr>
            <a:lvl5pPr algn="l">
              <a:defRPr sz="1275" b="0">
                <a:solidFill>
                  <a:srgbClr val="CEC6BC"/>
                </a:solidFill>
                <a:latin typeface="Arial"/>
                <a:ea typeface="Arial"/>
                <a:cs typeface="Arial"/>
              </a:defRPr>
            </a:lvl5pPr>
            <a:lvl6pPr algn="l">
              <a:defRPr sz="1275" b="0">
                <a:solidFill>
                  <a:srgbClr val="CEC6BC"/>
                </a:solidFill>
                <a:latin typeface="Arial"/>
                <a:ea typeface="Arial"/>
                <a:cs typeface="Arial"/>
              </a:defRPr>
            </a:lvl6pPr>
            <a:lvl7pPr algn="l">
              <a:defRPr sz="1275" b="0">
                <a:solidFill>
                  <a:srgbClr val="CEC6BC"/>
                </a:solidFill>
                <a:latin typeface="Arial"/>
                <a:ea typeface="Arial"/>
                <a:cs typeface="Arial"/>
              </a:defRPr>
            </a:lvl7pPr>
            <a:lvl8pPr algn="l">
              <a:defRPr sz="1275" b="0">
                <a:solidFill>
                  <a:srgbClr val="CEC6BC"/>
                </a:solidFill>
                <a:latin typeface="Arial"/>
                <a:ea typeface="Arial"/>
                <a:cs typeface="Arial"/>
              </a:defRPr>
            </a:lvl8pPr>
            <a:lvl9pPr algn="l">
              <a:defRPr sz="1275" b="0">
                <a:solidFill>
                  <a:srgbClr val="CEC6BC"/>
                </a:solidFill>
                <a:latin typeface="Arial"/>
                <a:ea typeface="Arial"/>
                <a:cs typeface="Arial"/>
              </a:defRPr>
            </a:lvl9pPr>
          </a:lstStyle>
          <a:p xmlns:a="http://schemas.openxmlformats.org/drawingml/2006/main">
            <a:pPr algn="l">
              <a:defRPr sz="1275" b="0">
                <a:solidFill>
                  <a:srgbClr val="CEC6BC"/>
                </a:solidFill>
                <a:latin typeface="Arial"/>
                <a:ea typeface="Arial"/>
                <a:cs typeface="Arial"/>
              </a:defRPr>
            </a:pPr>
            <a:r>
              <a:rPr sz="1275" b="0">
                <a:solidFill>
                  <a:srgbClr val="CEC6BC"/>
                </a:solidFill>
                <a:latin typeface="Arial"/>
                <a:ea typeface="Arial"/>
                <a:cs typeface="Arial"/>
              </a:rPr>
              <a:t>Seeking a Platform Calgary or Product Calgary pilot; no existing partnership is claimed.</a:t>
            </a:r>
          </a:p>
        </p:txBody>
      </p:sp>
      <p:sp>
        <p:nvSpPr>
          <p:cNvPr id="14" name="text">
            <a:extLst xmlns:a="http://schemas.openxmlformats.org/drawingml/2006/main">
              <a:ext uri="{FF2B5EF4-FFF2-40B4-BE49-F238E27FC236}">
                <a16:creationId xmlns:a16="http://schemas.microsoft.com/office/drawing/2014/main" id="{519DFDEA-C091-46E7-A02D-2C78EBD07F21}"/>
              </a:ext>
            </a:extLst>
          </p:cNvPr>
          <p:cNvSpPr>
            <a:spLocks xmlns:a="http://schemas.openxmlformats.org/drawingml/2006/main" noGrp="1"/>
          </p:cNvSpPr>
          <p:nvPr/>
        </p:nvSpPr>
        <p:spPr>
          <a:xfrm xmlns:a="http://schemas.openxmlformats.org/drawingml/2006/main">
            <a:off x="609600" y="6286500"/>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EC6BC"/>
                </a:solidFill>
                <a:latin typeface="Arial"/>
                <a:ea typeface="Arial"/>
                <a:cs typeface="Arial"/>
              </a:defRPr>
            </a:defPPr>
            <a:lvl1pPr algn="l">
              <a:defRPr sz="1350" b="0">
                <a:solidFill>
                  <a:srgbClr val="CEC6BC"/>
                </a:solidFill>
                <a:latin typeface="Arial"/>
                <a:ea typeface="Arial"/>
                <a:cs typeface="Arial"/>
              </a:defRPr>
            </a:lvl1pPr>
            <a:lvl2pPr algn="l">
              <a:defRPr sz="1350" b="0">
                <a:solidFill>
                  <a:srgbClr val="CEC6BC"/>
                </a:solidFill>
                <a:latin typeface="Arial"/>
                <a:ea typeface="Arial"/>
                <a:cs typeface="Arial"/>
              </a:defRPr>
            </a:lvl2pPr>
            <a:lvl3pPr algn="l">
              <a:defRPr sz="1350" b="0">
                <a:solidFill>
                  <a:srgbClr val="CEC6BC"/>
                </a:solidFill>
                <a:latin typeface="Arial"/>
                <a:ea typeface="Arial"/>
                <a:cs typeface="Arial"/>
              </a:defRPr>
            </a:lvl3pPr>
            <a:lvl4pPr algn="l">
              <a:defRPr sz="1350" b="0">
                <a:solidFill>
                  <a:srgbClr val="CEC6BC"/>
                </a:solidFill>
                <a:latin typeface="Arial"/>
                <a:ea typeface="Arial"/>
                <a:cs typeface="Arial"/>
              </a:defRPr>
            </a:lvl4pPr>
            <a:lvl5pPr algn="l">
              <a:defRPr sz="1350" b="0">
                <a:solidFill>
                  <a:srgbClr val="CEC6BC"/>
                </a:solidFill>
                <a:latin typeface="Arial"/>
                <a:ea typeface="Arial"/>
                <a:cs typeface="Arial"/>
              </a:defRPr>
            </a:lvl5pPr>
            <a:lvl6pPr algn="l">
              <a:defRPr sz="1350" b="0">
                <a:solidFill>
                  <a:srgbClr val="CEC6BC"/>
                </a:solidFill>
                <a:latin typeface="Arial"/>
                <a:ea typeface="Arial"/>
                <a:cs typeface="Arial"/>
              </a:defRPr>
            </a:lvl6pPr>
            <a:lvl7pPr algn="l">
              <a:defRPr sz="1350" b="0">
                <a:solidFill>
                  <a:srgbClr val="CEC6BC"/>
                </a:solidFill>
                <a:latin typeface="Arial"/>
                <a:ea typeface="Arial"/>
                <a:cs typeface="Arial"/>
              </a:defRPr>
            </a:lvl7pPr>
            <a:lvl8pPr algn="l">
              <a:defRPr sz="1350" b="0">
                <a:solidFill>
                  <a:srgbClr val="CEC6BC"/>
                </a:solidFill>
                <a:latin typeface="Arial"/>
                <a:ea typeface="Arial"/>
                <a:cs typeface="Arial"/>
              </a:defRPr>
            </a:lvl8pPr>
            <a:lvl9pPr algn="l">
              <a:defRPr sz="1350" b="0">
                <a:solidFill>
                  <a:srgbClr val="CEC6BC"/>
                </a:solidFill>
                <a:latin typeface="Arial"/>
                <a:ea typeface="Arial"/>
                <a:cs typeface="Arial"/>
              </a:defRPr>
            </a:lvl9pPr>
          </a:lstStyle>
          <a:p xmlns:a="http://schemas.openxmlformats.org/drawingml/2006/main">
            <a:pPr algn="l">
              <a:defRPr sz="1350" b="0">
                <a:solidFill>
                  <a:srgbClr val="CEC6BC"/>
                </a:solidFill>
                <a:latin typeface="Arial"/>
                <a:ea typeface="Arial"/>
                <a:cs typeface="Arial"/>
              </a:defRPr>
            </a:pPr>
            <a:r>
              <a:rPr sz="1350" b="0">
                <a:solidFill>
                  <a:srgbClr val="CEC6BC"/>
                </a:solidFill>
                <a:latin typeface="Arial"/>
                <a:ea typeface="Arial"/>
                <a:cs typeface="Arial"/>
              </a:rPr>
              <a:t>Future ecosystem: VC lists · how-to guides · pitch deck tools</a:t>
            </a:r>
          </a:p>
        </p:txBody>
      </p:sp>
    </p:spTree>
    <p:extLst>
      <p:ext uri="{BB962C8B-B14F-4D97-AF65-F5344CB8AC3E}">
        <p14:creationId xmlns:p14="http://schemas.microsoft.com/office/powerpoint/2010/main" val="2056251131"/>
      </p:ext>
    </p:extLst>
  </p:cSld>
</p:sld>
</file>

<file path=ppt/slides/slide11.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10" name="brand-wordmark">
            <a:extLst xmlns:a="http://schemas.openxmlformats.org/drawingml/2006/main">
              <a:ext uri="{FF2B5EF4-FFF2-40B4-BE49-F238E27FC236}">
                <a16:creationId xmlns:a16="http://schemas.microsoft.com/office/drawing/2014/main" id="{68FB0780-FE3B-4509-991A-DF0F7D4985AF}"/>
              </a:ext>
            </a:extLst>
          </p:cNvPr>
          <p:cNvSpPr>
            <a:spLocks xmlns:a="http://schemas.openxmlformats.org/drawingml/2006/main" noGrp="1"/>
          </p:cNvSpPr>
          <p:nvPr/>
        </p:nvSpPr>
        <p:spPr>
          <a:xfrm xmlns:a="http://schemas.openxmlformats.org/drawingml/2006/main">
            <a:off x="609600" y="2571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E4DFD9"/>
                </a:solidFill>
                <a:latin typeface="Arial"/>
                <a:ea typeface="Arial"/>
                <a:cs typeface="Arial"/>
              </a:defRPr>
            </a:defPPr>
            <a:lvl1pPr algn="l">
              <a:defRPr sz="2250" b="0">
                <a:solidFill>
                  <a:srgbClr val="E4DFD9"/>
                </a:solidFill>
                <a:latin typeface="Arial"/>
                <a:ea typeface="Arial"/>
                <a:cs typeface="Arial"/>
              </a:defRPr>
            </a:lvl1pPr>
            <a:lvl2pPr algn="l">
              <a:defRPr sz="2250" b="0">
                <a:solidFill>
                  <a:srgbClr val="E4DFD9"/>
                </a:solidFill>
                <a:latin typeface="Arial"/>
                <a:ea typeface="Arial"/>
                <a:cs typeface="Arial"/>
              </a:defRPr>
            </a:lvl2pPr>
            <a:lvl3pPr algn="l">
              <a:defRPr sz="2250" b="0">
                <a:solidFill>
                  <a:srgbClr val="E4DFD9"/>
                </a:solidFill>
                <a:latin typeface="Arial"/>
                <a:ea typeface="Arial"/>
                <a:cs typeface="Arial"/>
              </a:defRPr>
            </a:lvl3pPr>
            <a:lvl4pPr algn="l">
              <a:defRPr sz="2250" b="0">
                <a:solidFill>
                  <a:srgbClr val="E4DFD9"/>
                </a:solidFill>
                <a:latin typeface="Arial"/>
                <a:ea typeface="Arial"/>
                <a:cs typeface="Arial"/>
              </a:defRPr>
            </a:lvl4pPr>
            <a:lvl5pPr algn="l">
              <a:defRPr sz="2250" b="0">
                <a:solidFill>
                  <a:srgbClr val="E4DFD9"/>
                </a:solidFill>
                <a:latin typeface="Arial"/>
                <a:ea typeface="Arial"/>
                <a:cs typeface="Arial"/>
              </a:defRPr>
            </a:lvl5pPr>
            <a:lvl6pPr algn="l">
              <a:defRPr sz="2250" b="0">
                <a:solidFill>
                  <a:srgbClr val="E4DFD9"/>
                </a:solidFill>
                <a:latin typeface="Arial"/>
                <a:ea typeface="Arial"/>
                <a:cs typeface="Arial"/>
              </a:defRPr>
            </a:lvl6pPr>
            <a:lvl7pPr algn="l">
              <a:defRPr sz="2250" b="0">
                <a:solidFill>
                  <a:srgbClr val="E4DFD9"/>
                </a:solidFill>
                <a:latin typeface="Arial"/>
                <a:ea typeface="Arial"/>
                <a:cs typeface="Arial"/>
              </a:defRPr>
            </a:lvl7pPr>
            <a:lvl8pPr algn="l">
              <a:defRPr sz="2250" b="0">
                <a:solidFill>
                  <a:srgbClr val="E4DFD9"/>
                </a:solidFill>
                <a:latin typeface="Arial"/>
                <a:ea typeface="Arial"/>
                <a:cs typeface="Arial"/>
              </a:defRPr>
            </a:lvl8pPr>
            <a:lvl9pPr algn="l">
              <a:defRPr sz="2250" b="0">
                <a:solidFill>
                  <a:srgbClr val="E4DFD9"/>
                </a:solidFill>
                <a:latin typeface="Arial"/>
                <a:ea typeface="Arial"/>
                <a:cs typeface="Arial"/>
              </a:defRPr>
            </a:lvl9pPr>
          </a:lstStyle>
          <a:p xmlns:a="http://schemas.openxmlformats.org/drawingml/2006/main">
            <a:pPr algn="l">
              <a:defRPr sz="2250" b="0">
                <a:solidFill>
                  <a:srgbClr val="E4DFD9"/>
                </a:solidFill>
                <a:latin typeface="Arial"/>
                <a:ea typeface="Arial"/>
                <a:cs typeface="Arial"/>
              </a:defRPr>
            </a:pPr>
            <a:r>
              <a:rPr sz="2250" b="0">
                <a:solidFill>
                  <a:srgbClr val="E4DFD9"/>
                </a:solidFill>
                <a:latin typeface="Arial"/>
                <a:ea typeface="Arial"/>
                <a:cs typeface="Arial"/>
              </a:rPr>
              <a:t>bizbazooka</a:t>
            </a:r>
            <a:r>
              <a:rPr sz="2250" b="0">
                <a:solidFill>
                  <a:srgbClr val="FF6A1F"/>
                </a:solidFill>
                <a:latin typeface="Arial"/>
                <a:ea typeface="Arial"/>
                <a:cs typeface="Arial"/>
              </a:rPr>
              <a:t>.</a:t>
            </a:r>
          </a:p>
        </p:txBody>
      </p:sp>
      <p:sp>
        <p:nvSpPr>
          <p:cNvPr id="2" name="page-number">
            <a:extLst xmlns:a="http://schemas.openxmlformats.org/drawingml/2006/main">
              <a:ext uri="{FF2B5EF4-FFF2-40B4-BE49-F238E27FC236}">
                <a16:creationId xmlns:a16="http://schemas.microsoft.com/office/drawing/2014/main" id="{F92886B1-4EBA-4B43-85DE-274699DF2597}"/>
              </a:ext>
            </a:extLst>
          </p:cNvPr>
          <p:cNvSpPr>
            <a:spLocks xmlns:a="http://schemas.openxmlformats.org/drawingml/2006/main" noGrp="1"/>
          </p:cNvSpPr>
          <p:nvPr/>
        </p:nvSpPr>
        <p:spPr>
          <a:xfrm xmlns:a="http://schemas.openxmlformats.org/drawingml/2006/main">
            <a:off x="10829925" y="352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EC6BC"/>
                </a:solidFill>
                <a:latin typeface="Arial"/>
                <a:ea typeface="Arial"/>
                <a:cs typeface="Arial"/>
              </a:defRPr>
            </a:defPPr>
            <a:lvl1pPr algn="l">
              <a:defRPr sz="1050" b="0">
                <a:solidFill>
                  <a:srgbClr val="CEC6BC"/>
                </a:solidFill>
                <a:latin typeface="Arial"/>
                <a:ea typeface="Arial"/>
                <a:cs typeface="Arial"/>
              </a:defRPr>
            </a:lvl1pPr>
            <a:lvl2pPr algn="l">
              <a:defRPr sz="1050" b="0">
                <a:solidFill>
                  <a:srgbClr val="CEC6BC"/>
                </a:solidFill>
                <a:latin typeface="Arial"/>
                <a:ea typeface="Arial"/>
                <a:cs typeface="Arial"/>
              </a:defRPr>
            </a:lvl2pPr>
            <a:lvl3pPr algn="l">
              <a:defRPr sz="1050" b="0">
                <a:solidFill>
                  <a:srgbClr val="CEC6BC"/>
                </a:solidFill>
                <a:latin typeface="Arial"/>
                <a:ea typeface="Arial"/>
                <a:cs typeface="Arial"/>
              </a:defRPr>
            </a:lvl3pPr>
            <a:lvl4pPr algn="l">
              <a:defRPr sz="1050" b="0">
                <a:solidFill>
                  <a:srgbClr val="CEC6BC"/>
                </a:solidFill>
                <a:latin typeface="Arial"/>
                <a:ea typeface="Arial"/>
                <a:cs typeface="Arial"/>
              </a:defRPr>
            </a:lvl4pPr>
            <a:lvl5pPr algn="l">
              <a:defRPr sz="1050" b="0">
                <a:solidFill>
                  <a:srgbClr val="CEC6BC"/>
                </a:solidFill>
                <a:latin typeface="Arial"/>
                <a:ea typeface="Arial"/>
                <a:cs typeface="Arial"/>
              </a:defRPr>
            </a:lvl5pPr>
            <a:lvl6pPr algn="l">
              <a:defRPr sz="1050" b="0">
                <a:solidFill>
                  <a:srgbClr val="CEC6BC"/>
                </a:solidFill>
                <a:latin typeface="Arial"/>
                <a:ea typeface="Arial"/>
                <a:cs typeface="Arial"/>
              </a:defRPr>
            </a:lvl6pPr>
            <a:lvl7pPr algn="l">
              <a:defRPr sz="1050" b="0">
                <a:solidFill>
                  <a:srgbClr val="CEC6BC"/>
                </a:solidFill>
                <a:latin typeface="Arial"/>
                <a:ea typeface="Arial"/>
                <a:cs typeface="Arial"/>
              </a:defRPr>
            </a:lvl7pPr>
            <a:lvl8pPr algn="l">
              <a:defRPr sz="1050" b="0">
                <a:solidFill>
                  <a:srgbClr val="CEC6BC"/>
                </a:solidFill>
                <a:latin typeface="Arial"/>
                <a:ea typeface="Arial"/>
                <a:cs typeface="Arial"/>
              </a:defRPr>
            </a:lvl8pPr>
            <a:lvl9pPr algn="l">
              <a:defRPr sz="1050" b="0">
                <a:solidFill>
                  <a:srgbClr val="CEC6BC"/>
                </a:solidFill>
                <a:latin typeface="Arial"/>
                <a:ea typeface="Arial"/>
                <a:cs typeface="Arial"/>
              </a:defRPr>
            </a:lvl9pPr>
          </a:lstStyle>
          <a:p xmlns:a="http://schemas.openxmlformats.org/drawingml/2006/main">
            <a:pPr algn="l">
              <a:defRPr sz="1050" b="0">
                <a:solidFill>
                  <a:srgbClr val="CEC6BC"/>
                </a:solidFill>
                <a:latin typeface="Arial"/>
                <a:ea typeface="Arial"/>
                <a:cs typeface="Arial"/>
              </a:defRPr>
            </a:pPr>
            <a:r>
              <a:rPr sz="1050" b="0">
                <a:solidFill>
                  <a:srgbClr val="CEC6BC"/>
                </a:solidFill>
                <a:latin typeface="Arial"/>
                <a:ea typeface="Arial"/>
                <a:cs typeface="Arial"/>
              </a:rPr>
              <a:t>11 / 11</a:t>
            </a:r>
          </a:p>
        </p:txBody>
      </p:sp>
      <p:sp>
        <p:nvSpPr>
          <p:cNvPr id="3" name="text">
            <a:extLst xmlns:a="http://schemas.openxmlformats.org/drawingml/2006/main">
              <a:ext uri="{FF2B5EF4-FFF2-40B4-BE49-F238E27FC236}">
                <a16:creationId xmlns:a16="http://schemas.microsoft.com/office/drawing/2014/main" id="{F42D1F86-A304-447B-93AE-621029C5B9C1}"/>
              </a:ext>
            </a:extLst>
          </p:cNvPr>
          <p:cNvSpPr>
            <a:spLocks xmlns:a="http://schemas.openxmlformats.org/drawingml/2006/main" noGrp="1"/>
          </p:cNvSpPr>
          <p:nvPr/>
        </p:nvSpPr>
        <p:spPr>
          <a:xfrm xmlns:a="http://schemas.openxmlformats.org/drawingml/2006/main">
            <a:off x="609600" y="1695450"/>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FFFFFF"/>
                </a:solidFill>
                <a:latin typeface="Arial"/>
                <a:ea typeface="Arial"/>
                <a:cs typeface="Arial"/>
              </a:defRPr>
            </a:defPPr>
            <a:lvl1pPr algn="l">
              <a:defRPr sz="4950" b="0">
                <a:solidFill>
                  <a:srgbClr val="FFFFFF"/>
                </a:solidFill>
                <a:latin typeface="Arial"/>
                <a:ea typeface="Arial"/>
                <a:cs typeface="Arial"/>
              </a:defRPr>
            </a:lvl1pPr>
            <a:lvl2pPr algn="l">
              <a:defRPr sz="4950" b="0">
                <a:solidFill>
                  <a:srgbClr val="FFFFFF"/>
                </a:solidFill>
                <a:latin typeface="Arial"/>
                <a:ea typeface="Arial"/>
                <a:cs typeface="Arial"/>
              </a:defRPr>
            </a:lvl2pPr>
            <a:lvl3pPr algn="l">
              <a:defRPr sz="4950" b="0">
                <a:solidFill>
                  <a:srgbClr val="FFFFFF"/>
                </a:solidFill>
                <a:latin typeface="Arial"/>
                <a:ea typeface="Arial"/>
                <a:cs typeface="Arial"/>
              </a:defRPr>
            </a:lvl3pPr>
            <a:lvl4pPr algn="l">
              <a:defRPr sz="4950" b="0">
                <a:solidFill>
                  <a:srgbClr val="FFFFFF"/>
                </a:solidFill>
                <a:latin typeface="Arial"/>
                <a:ea typeface="Arial"/>
                <a:cs typeface="Arial"/>
              </a:defRPr>
            </a:lvl4pPr>
            <a:lvl5pPr algn="l">
              <a:defRPr sz="4950" b="0">
                <a:solidFill>
                  <a:srgbClr val="FFFFFF"/>
                </a:solidFill>
                <a:latin typeface="Arial"/>
                <a:ea typeface="Arial"/>
                <a:cs typeface="Arial"/>
              </a:defRPr>
            </a:lvl5pPr>
            <a:lvl6pPr algn="l">
              <a:defRPr sz="4950" b="0">
                <a:solidFill>
                  <a:srgbClr val="FFFFFF"/>
                </a:solidFill>
                <a:latin typeface="Arial"/>
                <a:ea typeface="Arial"/>
                <a:cs typeface="Arial"/>
              </a:defRPr>
            </a:lvl6pPr>
            <a:lvl7pPr algn="l">
              <a:defRPr sz="4950" b="0">
                <a:solidFill>
                  <a:srgbClr val="FFFFFF"/>
                </a:solidFill>
                <a:latin typeface="Arial"/>
                <a:ea typeface="Arial"/>
                <a:cs typeface="Arial"/>
              </a:defRPr>
            </a:lvl7pPr>
            <a:lvl8pPr algn="l">
              <a:defRPr sz="4950" b="0">
                <a:solidFill>
                  <a:srgbClr val="FFFFFF"/>
                </a:solidFill>
                <a:latin typeface="Arial"/>
                <a:ea typeface="Arial"/>
                <a:cs typeface="Arial"/>
              </a:defRPr>
            </a:lvl8pPr>
            <a:lvl9pPr algn="l">
              <a:defRPr sz="4950" b="0">
                <a:solidFill>
                  <a:srgbClr val="FFFFFF"/>
                </a:solidFill>
                <a:latin typeface="Arial"/>
                <a:ea typeface="Arial"/>
                <a:cs typeface="Arial"/>
              </a:defRPr>
            </a:lvl9pPr>
          </a:lstStyle>
          <a:p xmlns:a="http://schemas.openxmlformats.org/drawingml/2006/main">
            <a:pPr algn="l">
              <a:defRPr sz="4950" b="0">
                <a:solidFill>
                  <a:srgbClr val="FFFFFF"/>
                </a:solidFill>
                <a:latin typeface="Arial"/>
                <a:ea typeface="Arial"/>
                <a:cs typeface="Arial"/>
              </a:defRPr>
            </a:pPr>
            <a:r>
              <a:rPr sz="4950" b="0">
                <a:solidFill>
                  <a:srgbClr val="FFFFFF"/>
                </a:solidFill>
                <a:latin typeface="Arial"/>
                <a:ea typeface="Arial"/>
                <a:cs typeface="Arial"/>
              </a:rPr>
              <a:t>Thank you</a:t>
            </a:r>
          </a:p>
          <a:p xmlns:a="http://schemas.openxmlformats.org/drawingml/2006/main">
            <a:pPr algn="l">
              <a:defRPr sz="4950" b="0">
                <a:solidFill>
                  <a:srgbClr val="FFFFFF"/>
                </a:solidFill>
                <a:latin typeface="Arial"/>
                <a:ea typeface="Arial"/>
                <a:cs typeface="Arial"/>
              </a:defRPr>
            </a:pPr>
            <a:r>
              <a:rPr sz="4950" b="0">
                <a:solidFill>
                  <a:srgbClr val="FFFFFF"/>
                </a:solidFill>
                <a:latin typeface="Arial"/>
                <a:ea typeface="Arial"/>
                <a:cs typeface="Arial"/>
              </a:rPr>
              <a:t>for listening</a:t>
            </a:r>
          </a:p>
        </p:txBody>
      </p:sp>
      <p:sp>
        <p:nvSpPr>
          <p:cNvPr id="4" name="text">
            <a:extLst xmlns:a="http://schemas.openxmlformats.org/drawingml/2006/main">
              <a:ext uri="{FF2B5EF4-FFF2-40B4-BE49-F238E27FC236}">
                <a16:creationId xmlns:a16="http://schemas.microsoft.com/office/drawing/2014/main" id="{39D6CD2E-17EE-4844-823E-52941CEA592F}"/>
              </a:ext>
            </a:extLst>
          </p:cNvPr>
          <p:cNvSpPr>
            <a:spLocks xmlns:a="http://schemas.openxmlformats.org/drawingml/2006/main" noGrp="1"/>
          </p:cNvSpPr>
          <p:nvPr/>
        </p:nvSpPr>
        <p:spPr>
          <a:xfrm xmlns:a="http://schemas.openxmlformats.org/drawingml/2006/main">
            <a:off x="638175" y="3648075"/>
            <a:ext cx="6334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E4DFD9"/>
                </a:solidFill>
                <a:latin typeface="Arial"/>
                <a:ea typeface="Arial"/>
                <a:cs typeface="Arial"/>
              </a:defRPr>
            </a:defPPr>
            <a:lvl1pPr algn="l">
              <a:defRPr sz="2475" b="0">
                <a:solidFill>
                  <a:srgbClr val="E4DFD9"/>
                </a:solidFill>
                <a:latin typeface="Arial"/>
                <a:ea typeface="Arial"/>
                <a:cs typeface="Arial"/>
              </a:defRPr>
            </a:lvl1pPr>
            <a:lvl2pPr algn="l">
              <a:defRPr sz="2475" b="0">
                <a:solidFill>
                  <a:srgbClr val="E4DFD9"/>
                </a:solidFill>
                <a:latin typeface="Arial"/>
                <a:ea typeface="Arial"/>
                <a:cs typeface="Arial"/>
              </a:defRPr>
            </a:lvl2pPr>
            <a:lvl3pPr algn="l">
              <a:defRPr sz="2475" b="0">
                <a:solidFill>
                  <a:srgbClr val="E4DFD9"/>
                </a:solidFill>
                <a:latin typeface="Arial"/>
                <a:ea typeface="Arial"/>
                <a:cs typeface="Arial"/>
              </a:defRPr>
            </a:lvl3pPr>
            <a:lvl4pPr algn="l">
              <a:defRPr sz="2475" b="0">
                <a:solidFill>
                  <a:srgbClr val="E4DFD9"/>
                </a:solidFill>
                <a:latin typeface="Arial"/>
                <a:ea typeface="Arial"/>
                <a:cs typeface="Arial"/>
              </a:defRPr>
            </a:lvl4pPr>
            <a:lvl5pPr algn="l">
              <a:defRPr sz="2475" b="0">
                <a:solidFill>
                  <a:srgbClr val="E4DFD9"/>
                </a:solidFill>
                <a:latin typeface="Arial"/>
                <a:ea typeface="Arial"/>
                <a:cs typeface="Arial"/>
              </a:defRPr>
            </a:lvl5pPr>
            <a:lvl6pPr algn="l">
              <a:defRPr sz="2475" b="0">
                <a:solidFill>
                  <a:srgbClr val="E4DFD9"/>
                </a:solidFill>
                <a:latin typeface="Arial"/>
                <a:ea typeface="Arial"/>
                <a:cs typeface="Arial"/>
              </a:defRPr>
            </a:lvl6pPr>
            <a:lvl7pPr algn="l">
              <a:defRPr sz="2475" b="0">
                <a:solidFill>
                  <a:srgbClr val="E4DFD9"/>
                </a:solidFill>
                <a:latin typeface="Arial"/>
                <a:ea typeface="Arial"/>
                <a:cs typeface="Arial"/>
              </a:defRPr>
            </a:lvl7pPr>
            <a:lvl8pPr algn="l">
              <a:defRPr sz="2475" b="0">
                <a:solidFill>
                  <a:srgbClr val="E4DFD9"/>
                </a:solidFill>
                <a:latin typeface="Arial"/>
                <a:ea typeface="Arial"/>
                <a:cs typeface="Arial"/>
              </a:defRPr>
            </a:lvl8pPr>
            <a:lvl9pPr algn="l">
              <a:defRPr sz="2475" b="0">
                <a:solidFill>
                  <a:srgbClr val="E4DFD9"/>
                </a:solidFill>
                <a:latin typeface="Arial"/>
                <a:ea typeface="Arial"/>
                <a:cs typeface="Arial"/>
              </a:defRPr>
            </a:lvl9pPr>
          </a:lstStyle>
          <a:p xmlns:a="http://schemas.openxmlformats.org/drawingml/2006/main">
            <a:pPr algn="l">
              <a:defRPr sz="2475" b="0">
                <a:solidFill>
                  <a:srgbClr val="E4DFD9"/>
                </a:solidFill>
                <a:latin typeface="Arial"/>
                <a:ea typeface="Arial"/>
                <a:cs typeface="Arial"/>
              </a:defRPr>
            </a:pPr>
            <a:r>
              <a:rPr sz="2475" b="0">
                <a:solidFill>
                  <a:srgbClr val="E4DFD9"/>
                </a:solidFill>
                <a:latin typeface="Arial"/>
                <a:ea typeface="Arial"/>
                <a:cs typeface="Arial"/>
              </a:rPr>
              <a:t>Build a venture.</a:t>
            </a:r>
          </a:p>
          <a:p xmlns:a="http://schemas.openxmlformats.org/drawingml/2006/main">
            <a:pPr algn="l">
              <a:defRPr sz="2475" b="0">
                <a:solidFill>
                  <a:srgbClr val="E4DFD9"/>
                </a:solidFill>
                <a:latin typeface="Arial"/>
                <a:ea typeface="Arial"/>
                <a:cs typeface="Arial"/>
              </a:defRPr>
            </a:pPr>
            <a:r>
              <a:rPr sz="2475" b="0">
                <a:solidFill>
                  <a:srgbClr val="E4DFD9"/>
                </a:solidFill>
                <a:latin typeface="Arial"/>
                <a:ea typeface="Arial"/>
                <a:cs typeface="Arial"/>
              </a:rPr>
              <a:t>Launch a career.</a:t>
            </a:r>
          </a:p>
        </p:txBody>
      </p:sp>
      <p:sp>
        <p:nvSpPr>
          <p:cNvPr id="5" name="text">
            <a:extLst xmlns:a="http://schemas.openxmlformats.org/drawingml/2006/main">
              <a:ext uri="{FF2B5EF4-FFF2-40B4-BE49-F238E27FC236}">
                <a16:creationId xmlns:a16="http://schemas.microsoft.com/office/drawing/2014/main" id="{5B930C92-C6D8-42F1-9892-84390EB4BFB9}"/>
              </a:ext>
            </a:extLst>
          </p:cNvPr>
          <p:cNvSpPr>
            <a:spLocks xmlns:a="http://schemas.openxmlformats.org/drawingml/2006/main" noGrp="1"/>
          </p:cNvSpPr>
          <p:nvPr/>
        </p:nvSpPr>
        <p:spPr>
          <a:xfrm xmlns:a="http://schemas.openxmlformats.org/drawingml/2006/main">
            <a:off x="638175" y="5048250"/>
            <a:ext cx="647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4DFD9"/>
                </a:solidFill>
                <a:latin typeface="Arial"/>
                <a:ea typeface="Arial"/>
                <a:cs typeface="Arial"/>
              </a:defRPr>
            </a:defPPr>
            <a:lvl1pPr algn="l">
              <a:defRPr sz="2325" b="0">
                <a:solidFill>
                  <a:srgbClr val="E4DFD9"/>
                </a:solidFill>
                <a:latin typeface="Arial"/>
                <a:ea typeface="Arial"/>
                <a:cs typeface="Arial"/>
              </a:defRPr>
            </a:lvl1pPr>
            <a:lvl2pPr algn="l">
              <a:defRPr sz="2325" b="0">
                <a:solidFill>
                  <a:srgbClr val="E4DFD9"/>
                </a:solidFill>
                <a:latin typeface="Arial"/>
                <a:ea typeface="Arial"/>
                <a:cs typeface="Arial"/>
              </a:defRPr>
            </a:lvl2pPr>
            <a:lvl3pPr algn="l">
              <a:defRPr sz="2325" b="0">
                <a:solidFill>
                  <a:srgbClr val="E4DFD9"/>
                </a:solidFill>
                <a:latin typeface="Arial"/>
                <a:ea typeface="Arial"/>
                <a:cs typeface="Arial"/>
              </a:defRPr>
            </a:lvl3pPr>
            <a:lvl4pPr algn="l">
              <a:defRPr sz="2325" b="0">
                <a:solidFill>
                  <a:srgbClr val="E4DFD9"/>
                </a:solidFill>
                <a:latin typeface="Arial"/>
                <a:ea typeface="Arial"/>
                <a:cs typeface="Arial"/>
              </a:defRPr>
            </a:lvl4pPr>
            <a:lvl5pPr algn="l">
              <a:defRPr sz="2325" b="0">
                <a:solidFill>
                  <a:srgbClr val="E4DFD9"/>
                </a:solidFill>
                <a:latin typeface="Arial"/>
                <a:ea typeface="Arial"/>
                <a:cs typeface="Arial"/>
              </a:defRPr>
            </a:lvl5pPr>
            <a:lvl6pPr algn="l">
              <a:defRPr sz="2325" b="0">
                <a:solidFill>
                  <a:srgbClr val="E4DFD9"/>
                </a:solidFill>
                <a:latin typeface="Arial"/>
                <a:ea typeface="Arial"/>
                <a:cs typeface="Arial"/>
              </a:defRPr>
            </a:lvl6pPr>
            <a:lvl7pPr algn="l">
              <a:defRPr sz="2325" b="0">
                <a:solidFill>
                  <a:srgbClr val="E4DFD9"/>
                </a:solidFill>
                <a:latin typeface="Arial"/>
                <a:ea typeface="Arial"/>
                <a:cs typeface="Arial"/>
              </a:defRPr>
            </a:lvl7pPr>
            <a:lvl8pPr algn="l">
              <a:defRPr sz="2325" b="0">
                <a:solidFill>
                  <a:srgbClr val="E4DFD9"/>
                </a:solidFill>
                <a:latin typeface="Arial"/>
                <a:ea typeface="Arial"/>
                <a:cs typeface="Arial"/>
              </a:defRPr>
            </a:lvl8pPr>
            <a:lvl9pPr algn="l">
              <a:defRPr sz="2325" b="0">
                <a:solidFill>
                  <a:srgbClr val="E4DFD9"/>
                </a:solidFill>
                <a:latin typeface="Arial"/>
                <a:ea typeface="Arial"/>
                <a:cs typeface="Arial"/>
              </a:defRPr>
            </a:lvl9pPr>
          </a:lstStyle>
          <a:p xmlns:a="http://schemas.openxmlformats.org/drawingml/2006/main">
            <a:pPr algn="l">
              <a:defRPr sz="2325" b="0">
                <a:solidFill>
                  <a:srgbClr val="E4DFD9"/>
                </a:solidFill>
                <a:latin typeface="Arial"/>
                <a:ea typeface="Arial"/>
                <a:cs typeface="Arial"/>
              </a:defRPr>
            </a:pPr>
            <a:r>
              <a:rPr sz="2325" b="0">
                <a:solidFill>
                  <a:srgbClr val="E4DFD9"/>
                </a:solidFill>
                <a:latin typeface="Arial"/>
                <a:ea typeface="Arial"/>
                <a:cs typeface="Arial"/>
                <a:hlinkClick xmlns:r="http://schemas.openxmlformats.org/officeDocument/2006/relationships" r:id="Rb4a29f5e81bb46e2"/>
              </a:rPr>
              <a:t>Open the web preview →</a:t>
            </a:r>
          </a:p>
        </p:txBody>
      </p:sp>
      <p:sp>
        <p:nvSpPr>
          <p:cNvPr id="6" name="text">
            <a:extLst xmlns:a="http://schemas.openxmlformats.org/drawingml/2006/main">
              <a:ext uri="{FF2B5EF4-FFF2-40B4-BE49-F238E27FC236}">
                <a16:creationId xmlns:a16="http://schemas.microsoft.com/office/drawing/2014/main" id="{6933C019-4A64-4C12-97F4-93CD694CAB75}"/>
              </a:ext>
            </a:extLst>
          </p:cNvPr>
          <p:cNvSpPr>
            <a:spLocks xmlns:a="http://schemas.openxmlformats.org/drawingml/2006/main" noGrp="1"/>
          </p:cNvSpPr>
          <p:nvPr/>
        </p:nvSpPr>
        <p:spPr>
          <a:xfrm xmlns:a="http://schemas.openxmlformats.org/drawingml/2006/main">
            <a:off x="638175" y="5657850"/>
            <a:ext cx="647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EC6BC"/>
                </a:solidFill>
                <a:latin typeface="Arial"/>
                <a:ea typeface="Arial"/>
                <a:cs typeface="Arial"/>
              </a:defRPr>
            </a:defPPr>
            <a:lvl1pPr algn="l">
              <a:defRPr sz="1350" b="0">
                <a:solidFill>
                  <a:srgbClr val="CEC6BC"/>
                </a:solidFill>
                <a:latin typeface="Arial"/>
                <a:ea typeface="Arial"/>
                <a:cs typeface="Arial"/>
              </a:defRPr>
            </a:lvl1pPr>
            <a:lvl2pPr algn="l">
              <a:defRPr sz="1350" b="0">
                <a:solidFill>
                  <a:srgbClr val="CEC6BC"/>
                </a:solidFill>
                <a:latin typeface="Arial"/>
                <a:ea typeface="Arial"/>
                <a:cs typeface="Arial"/>
              </a:defRPr>
            </a:lvl2pPr>
            <a:lvl3pPr algn="l">
              <a:defRPr sz="1350" b="0">
                <a:solidFill>
                  <a:srgbClr val="CEC6BC"/>
                </a:solidFill>
                <a:latin typeface="Arial"/>
                <a:ea typeface="Arial"/>
                <a:cs typeface="Arial"/>
              </a:defRPr>
            </a:lvl3pPr>
            <a:lvl4pPr algn="l">
              <a:defRPr sz="1350" b="0">
                <a:solidFill>
                  <a:srgbClr val="CEC6BC"/>
                </a:solidFill>
                <a:latin typeface="Arial"/>
                <a:ea typeface="Arial"/>
                <a:cs typeface="Arial"/>
              </a:defRPr>
            </a:lvl4pPr>
            <a:lvl5pPr algn="l">
              <a:defRPr sz="1350" b="0">
                <a:solidFill>
                  <a:srgbClr val="CEC6BC"/>
                </a:solidFill>
                <a:latin typeface="Arial"/>
                <a:ea typeface="Arial"/>
                <a:cs typeface="Arial"/>
              </a:defRPr>
            </a:lvl5pPr>
            <a:lvl6pPr algn="l">
              <a:defRPr sz="1350" b="0">
                <a:solidFill>
                  <a:srgbClr val="CEC6BC"/>
                </a:solidFill>
                <a:latin typeface="Arial"/>
                <a:ea typeface="Arial"/>
                <a:cs typeface="Arial"/>
              </a:defRPr>
            </a:lvl6pPr>
            <a:lvl7pPr algn="l">
              <a:defRPr sz="1350" b="0">
                <a:solidFill>
                  <a:srgbClr val="CEC6BC"/>
                </a:solidFill>
                <a:latin typeface="Arial"/>
                <a:ea typeface="Arial"/>
                <a:cs typeface="Arial"/>
              </a:defRPr>
            </a:lvl7pPr>
            <a:lvl8pPr algn="l">
              <a:defRPr sz="1350" b="0">
                <a:solidFill>
                  <a:srgbClr val="CEC6BC"/>
                </a:solidFill>
                <a:latin typeface="Arial"/>
                <a:ea typeface="Arial"/>
                <a:cs typeface="Arial"/>
              </a:defRPr>
            </a:lvl8pPr>
            <a:lvl9pPr algn="l">
              <a:defRPr sz="1350" b="0">
                <a:solidFill>
                  <a:srgbClr val="CEC6BC"/>
                </a:solidFill>
                <a:latin typeface="Arial"/>
                <a:ea typeface="Arial"/>
                <a:cs typeface="Arial"/>
              </a:defRPr>
            </a:lvl9pPr>
          </a:lstStyle>
          <a:p xmlns:a="http://schemas.openxmlformats.org/drawingml/2006/main">
            <a:pPr algn="l">
              <a:defRPr sz="1350" b="0">
                <a:solidFill>
                  <a:srgbClr val="CEC6BC"/>
                </a:solidFill>
                <a:latin typeface="Arial"/>
                <a:ea typeface="Arial"/>
                <a:cs typeface="Arial"/>
              </a:defRPr>
            </a:pPr>
            <a:r>
              <a:rPr sz="1350" b="0">
                <a:solidFill>
                  <a:srgbClr val="CEC6BC"/>
                </a:solidFill>
                <a:latin typeface="Arial"/>
                <a:ea typeface="Arial"/>
                <a:cs typeface="Arial"/>
              </a:rPr>
              <a:t>127.0.0.1:4173 · local demo on the presenter’s computer</a:t>
            </a:r>
          </a:p>
        </p:txBody>
      </p:sp>
      <p:pic>
        <p:nvPicPr>
          <p:cNvPr id="7" name="">
            <a:extLst xmlns:a="http://schemas.openxmlformats.org/drawingml/2006/main">
              <a:ext uri="{FF2B5EF4-FFF2-40B4-BE49-F238E27FC236}">
                <a16:creationId xmlns:a16="http://schemas.microsoft.com/office/drawing/2014/main" id="{7FE3D15A-F398-4A5D-95D7-F907AF7221E1}"/>
              </a:ext>
            </a:extLst>
          </p:cNvPr>
          <p:cNvPicPr>
            <a:picLocks xmlns:a="http://schemas.openxmlformats.org/drawingml/2006/main" noChangeAspect="1"/>
          </p:cNvPicPr>
          <p:nvPr/>
        </p:nvPicPr>
        <p:blipFill>
          <a:blip xmlns:r="http://schemas.openxmlformats.org/officeDocument/2006/relationships" xmlns:a="http://schemas.openxmlformats.org/drawingml/2006/main" r:embed="Rc8ead4e9386a412e"/>
          <a:stretch xmlns:a="http://schemas.openxmlformats.org/drawingml/2006/main"/>
        </p:blipFill>
        <p:spPr>
          <a:xfrm xmlns:a="http://schemas.openxmlformats.org/drawingml/2006/main">
            <a:off x="8572500" y="1324415"/>
            <a:ext cx="2200275" cy="4761621"/>
          </a:xfrm>
          <a:prstGeom xmlns:a="http://schemas.openxmlformats.org/drawingml/2006/main" prst="roundRect">
            <a:avLst>
              <a:gd name="adj" fmla="val 8658"/>
            </a:avLst>
          </a:prstGeom>
        </p:spPr>
      </p:pic>
      <p:sp>
        <p:nvSpPr>
          <p:cNvPr id="8" name="text">
            <a:extLst xmlns:a="http://schemas.openxmlformats.org/drawingml/2006/main">
              <a:ext uri="{FF2B5EF4-FFF2-40B4-BE49-F238E27FC236}">
                <a16:creationId xmlns:a16="http://schemas.microsoft.com/office/drawing/2014/main" id="{1A4FF5F1-5D06-4BF4-B9D9-9D8CF562B40B}"/>
              </a:ext>
            </a:extLst>
          </p:cNvPr>
          <p:cNvSpPr>
            <a:spLocks xmlns:a="http://schemas.openxmlformats.org/drawingml/2006/main" noGrp="1"/>
          </p:cNvSpPr>
          <p:nvPr/>
        </p:nvSpPr>
        <p:spPr>
          <a:xfrm xmlns:a="http://schemas.openxmlformats.org/drawingml/2006/main">
            <a:off x="609600" y="636270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CEC6BC"/>
                </a:solidFill>
                <a:latin typeface="Arial"/>
                <a:ea typeface="Arial"/>
                <a:cs typeface="Arial"/>
              </a:defRPr>
            </a:defPPr>
            <a:lvl1pPr algn="l">
              <a:defRPr sz="1275" b="0">
                <a:solidFill>
                  <a:srgbClr val="CEC6BC"/>
                </a:solidFill>
                <a:latin typeface="Arial"/>
                <a:ea typeface="Arial"/>
                <a:cs typeface="Arial"/>
              </a:defRPr>
            </a:lvl1pPr>
            <a:lvl2pPr algn="l">
              <a:defRPr sz="1275" b="0">
                <a:solidFill>
                  <a:srgbClr val="CEC6BC"/>
                </a:solidFill>
                <a:latin typeface="Arial"/>
                <a:ea typeface="Arial"/>
                <a:cs typeface="Arial"/>
              </a:defRPr>
            </a:lvl2pPr>
            <a:lvl3pPr algn="l">
              <a:defRPr sz="1275" b="0">
                <a:solidFill>
                  <a:srgbClr val="CEC6BC"/>
                </a:solidFill>
                <a:latin typeface="Arial"/>
                <a:ea typeface="Arial"/>
                <a:cs typeface="Arial"/>
              </a:defRPr>
            </a:lvl3pPr>
            <a:lvl4pPr algn="l">
              <a:defRPr sz="1275" b="0">
                <a:solidFill>
                  <a:srgbClr val="CEC6BC"/>
                </a:solidFill>
                <a:latin typeface="Arial"/>
                <a:ea typeface="Arial"/>
                <a:cs typeface="Arial"/>
              </a:defRPr>
            </a:lvl4pPr>
            <a:lvl5pPr algn="l">
              <a:defRPr sz="1275" b="0">
                <a:solidFill>
                  <a:srgbClr val="CEC6BC"/>
                </a:solidFill>
                <a:latin typeface="Arial"/>
                <a:ea typeface="Arial"/>
                <a:cs typeface="Arial"/>
              </a:defRPr>
            </a:lvl5pPr>
            <a:lvl6pPr algn="l">
              <a:defRPr sz="1275" b="0">
                <a:solidFill>
                  <a:srgbClr val="CEC6BC"/>
                </a:solidFill>
                <a:latin typeface="Arial"/>
                <a:ea typeface="Arial"/>
                <a:cs typeface="Arial"/>
              </a:defRPr>
            </a:lvl6pPr>
            <a:lvl7pPr algn="l">
              <a:defRPr sz="1275" b="0">
                <a:solidFill>
                  <a:srgbClr val="CEC6BC"/>
                </a:solidFill>
                <a:latin typeface="Arial"/>
                <a:ea typeface="Arial"/>
                <a:cs typeface="Arial"/>
              </a:defRPr>
            </a:lvl7pPr>
            <a:lvl8pPr algn="l">
              <a:defRPr sz="1275" b="0">
                <a:solidFill>
                  <a:srgbClr val="CEC6BC"/>
                </a:solidFill>
                <a:latin typeface="Arial"/>
                <a:ea typeface="Arial"/>
                <a:cs typeface="Arial"/>
              </a:defRPr>
            </a:lvl8pPr>
            <a:lvl9pPr algn="l">
              <a:defRPr sz="1275" b="0">
                <a:solidFill>
                  <a:srgbClr val="CEC6BC"/>
                </a:solidFill>
                <a:latin typeface="Arial"/>
                <a:ea typeface="Arial"/>
                <a:cs typeface="Arial"/>
              </a:defRPr>
            </a:lvl9pPr>
          </a:lstStyle>
          <a:p xmlns:a="http://schemas.openxmlformats.org/drawingml/2006/main">
            <a:pPr algn="l">
              <a:defRPr sz="1275" b="0">
                <a:solidFill>
                  <a:srgbClr val="CEC6BC"/>
                </a:solidFill>
                <a:latin typeface="Arial"/>
                <a:ea typeface="Arial"/>
                <a:cs typeface="Arial"/>
              </a:defRPr>
            </a:pPr>
            <a:r>
              <a:rPr sz="1275" b="0">
                <a:solidFill>
                  <a:srgbClr val="CEC6BC"/>
                </a:solidFill>
                <a:latin typeface="Arial"/>
                <a:ea typeface="Arial"/>
                <a:cs typeface="Arial"/>
              </a:rPr>
              <a:t>Abdeslem · CK · Michio · Pradeep · Thu</a:t>
            </a:r>
          </a:p>
        </p:txBody>
      </p:sp>
      <p:sp>
        <p:nvSpPr>
          <p:cNvPr id="9" name="text">
            <a:extLst xmlns:a="http://schemas.openxmlformats.org/drawingml/2006/main">
              <a:ext uri="{FF2B5EF4-FFF2-40B4-BE49-F238E27FC236}">
                <a16:creationId xmlns:a16="http://schemas.microsoft.com/office/drawing/2014/main" id="{231F89F1-FC93-496F-AF66-9E7E7D208F81}"/>
              </a:ext>
            </a:extLst>
          </p:cNvPr>
          <p:cNvSpPr>
            <a:spLocks xmlns:a="http://schemas.openxmlformats.org/drawingml/2006/main" noGrp="1"/>
          </p:cNvSpPr>
          <p:nvPr/>
        </p:nvSpPr>
        <p:spPr>
          <a:xfrm xmlns:a="http://schemas.openxmlformats.org/drawingml/2006/main">
            <a:off x="8429625" y="6362700"/>
            <a:ext cx="3152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E4DFD9"/>
                </a:solidFill>
                <a:latin typeface="Arial"/>
                <a:ea typeface="Arial"/>
                <a:cs typeface="Arial"/>
              </a:defRPr>
            </a:defPPr>
            <a:lvl1pPr algn="l">
              <a:defRPr sz="1275" b="0">
                <a:solidFill>
                  <a:srgbClr val="E4DFD9"/>
                </a:solidFill>
                <a:latin typeface="Arial"/>
                <a:ea typeface="Arial"/>
                <a:cs typeface="Arial"/>
              </a:defRPr>
            </a:lvl1pPr>
            <a:lvl2pPr algn="l">
              <a:defRPr sz="1275" b="0">
                <a:solidFill>
                  <a:srgbClr val="E4DFD9"/>
                </a:solidFill>
                <a:latin typeface="Arial"/>
                <a:ea typeface="Arial"/>
                <a:cs typeface="Arial"/>
              </a:defRPr>
            </a:lvl2pPr>
            <a:lvl3pPr algn="l">
              <a:defRPr sz="1275" b="0">
                <a:solidFill>
                  <a:srgbClr val="E4DFD9"/>
                </a:solidFill>
                <a:latin typeface="Arial"/>
                <a:ea typeface="Arial"/>
                <a:cs typeface="Arial"/>
              </a:defRPr>
            </a:lvl3pPr>
            <a:lvl4pPr algn="l">
              <a:defRPr sz="1275" b="0">
                <a:solidFill>
                  <a:srgbClr val="E4DFD9"/>
                </a:solidFill>
                <a:latin typeface="Arial"/>
                <a:ea typeface="Arial"/>
                <a:cs typeface="Arial"/>
              </a:defRPr>
            </a:lvl4pPr>
            <a:lvl5pPr algn="l">
              <a:defRPr sz="1275" b="0">
                <a:solidFill>
                  <a:srgbClr val="E4DFD9"/>
                </a:solidFill>
                <a:latin typeface="Arial"/>
                <a:ea typeface="Arial"/>
                <a:cs typeface="Arial"/>
              </a:defRPr>
            </a:lvl5pPr>
            <a:lvl6pPr algn="l">
              <a:defRPr sz="1275" b="0">
                <a:solidFill>
                  <a:srgbClr val="E4DFD9"/>
                </a:solidFill>
                <a:latin typeface="Arial"/>
                <a:ea typeface="Arial"/>
                <a:cs typeface="Arial"/>
              </a:defRPr>
            </a:lvl6pPr>
            <a:lvl7pPr algn="l">
              <a:defRPr sz="1275" b="0">
                <a:solidFill>
                  <a:srgbClr val="E4DFD9"/>
                </a:solidFill>
                <a:latin typeface="Arial"/>
                <a:ea typeface="Arial"/>
                <a:cs typeface="Arial"/>
              </a:defRPr>
            </a:lvl7pPr>
            <a:lvl8pPr algn="l">
              <a:defRPr sz="1275" b="0">
                <a:solidFill>
                  <a:srgbClr val="E4DFD9"/>
                </a:solidFill>
                <a:latin typeface="Arial"/>
                <a:ea typeface="Arial"/>
                <a:cs typeface="Arial"/>
              </a:defRPr>
            </a:lvl8pPr>
            <a:lvl9pPr algn="l">
              <a:defRPr sz="1275" b="0">
                <a:solidFill>
                  <a:srgbClr val="E4DFD9"/>
                </a:solidFill>
                <a:latin typeface="Arial"/>
                <a:ea typeface="Arial"/>
                <a:cs typeface="Arial"/>
              </a:defRPr>
            </a:lvl9pPr>
          </a:lstStyle>
          <a:p xmlns:a="http://schemas.openxmlformats.org/drawingml/2006/main">
            <a:pPr algn="l">
              <a:defRPr sz="1275" b="0">
                <a:solidFill>
                  <a:srgbClr val="E4DFD9"/>
                </a:solidFill>
                <a:latin typeface="Arial"/>
                <a:ea typeface="Arial"/>
                <a:cs typeface="Arial"/>
              </a:defRPr>
            </a:pPr>
            <a:r>
              <a:rPr sz="1275" b="0">
                <a:solidFill>
                  <a:srgbClr val="E4DFD9"/>
                </a:solidFill>
                <a:latin typeface="Arial"/>
                <a:ea typeface="Arial"/>
                <a:cs typeface="Arial"/>
              </a:rPr>
              <a:t>hoskote.pradeep@gmail.com</a:t>
            </a:r>
          </a:p>
        </p:txBody>
      </p:sp>
    </p:spTree>
    <p:extLst>
      <p:ext uri="{BB962C8B-B14F-4D97-AF65-F5344CB8AC3E}">
        <p14:creationId xmlns:p14="http://schemas.microsoft.com/office/powerpoint/2010/main" val="878510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2026-10-24T21:54:56.0750000Z</dcterms:created>
  <dcterms:modified xsi:type="dcterms:W3CDTF">2026-10-24T21:54:56.0750000Z</dcterms:modified>
</coreProperties>
</file>