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9h6/8advNcJFmxcjrxJOVIOEa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E4642B-8881-4DED-9652-1DA4DC65E245}">
  <a:tblStyle styleId="{E0E4642B-8881-4DED-9652-1DA4DC65E24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with the one-liner. Skills are public; capacity and follow-through are not.</a:t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 with today’s room data if you have it: X of Y builders say their last team dissolved. Then the Calgary jobs-vs-grads gap.</a:t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Beachhead is founders; builders are supply; the program operator pays.</a:t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the positioning line once. Three capabilities, one transaction: a staffed sprint.</a:t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 out loud that B2B is ~90% of SOM. Do not oversell the TAM.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TAM: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2000000 × $144 =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$.5M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SAM: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153,000 × $144 =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$3.8M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SOM:</a:t>
            </a: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26,400 × 20% adopt × 8% pay = 422 payers × $144 ≈ </a:t>
            </a:r>
            <a:r>
              <a:rPr b="1"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$61K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honest about where we lose. The moat is the co-sign ledger, which only exists if sprints happen.</a:t>
            </a:r>
            <a:endParaRPr/>
          </a:p>
        </p:txBody>
      </p:sp>
      <p:sp>
        <p:nvSpPr>
          <p:cNvPr id="143" name="Google Shape;14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 to live demo. Point at the greyed-out decoy first, then card 1, then send. Backup video ready.</a:t>
            </a:r>
            <a:endParaRPr/>
          </a:p>
        </p:txBody>
      </p:sp>
      <p:sp>
        <p:nvSpPr>
          <p:cNvPr id="162" name="Google Shape;16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Builders free. Programs pay. Hiring fee is phase 2.</a:t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wedge solves cold start: launch inside events.</a:t>
            </a:r>
            <a:endParaRPr/>
          </a:p>
        </p:txBody>
      </p:sp>
      <p:sp>
        <p:nvSpPr>
          <p:cNvPr id="214" name="Google Shape;21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Close on the specific ask. Name the pilot partner.</a:t>
            </a:r>
            <a:endParaRPr/>
          </a:p>
        </p:txBody>
      </p:sp>
      <p:sp>
        <p:nvSpPr>
          <p:cNvPr id="238" name="Google Shape;23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ab0d9fc2c3ee534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hab0d9fc2c3ee534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hab0d9fc2c3ee534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solidFill>
          <a:schemeClr val="dk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/>
          <p:nvPr/>
        </p:nvSpPr>
        <p:spPr>
          <a:xfrm>
            <a:off x="457200" y="47320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Product Calgary Buildathon  |  CrewYYC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/>
          <p:nvPr>
            <p:ph type="title"/>
          </p:nvPr>
        </p:nvSpPr>
        <p:spPr>
          <a:xfrm>
            <a:off x="457200" y="3200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3"/>
          <p:cNvSpPr txBox="1"/>
          <p:nvPr>
            <p:ph idx="1" type="body"/>
          </p:nvPr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None/>
              <a:defRPr b="0" i="1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3"/>
          <p:cNvSpPr/>
          <p:nvPr/>
        </p:nvSpPr>
        <p:spPr>
          <a:xfrm>
            <a:off x="457200" y="47320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Product Calgary Buildathon  |  CrewYYC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3"/>
          <p:cNvSpPr txBox="1"/>
          <p:nvPr>
            <p:ph idx="12" type="sldNum"/>
          </p:nvPr>
        </p:nvSpPr>
        <p:spPr>
          <a:xfrm>
            <a:off x="7955280" y="47320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7955280" y="47320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 txBox="1"/>
          <p:nvPr/>
        </p:nvSpPr>
        <p:spPr>
          <a:xfrm>
            <a:off x="457200" y="5486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1" i="0" lang="en-US" sz="2500" u="none" cap="none" strike="noStrike">
                <a:solidFill>
                  <a:srgbClr val="00D9C7"/>
                </a:solidFill>
                <a:latin typeface="Calibri"/>
                <a:ea typeface="Calibri"/>
                <a:cs typeface="Calibri"/>
                <a:sym typeface="Calibri"/>
              </a:rPr>
              <a:t>BUILDYYC</a:t>
            </a:r>
            <a:endParaRPr b="0" i="0" sz="2500" u="none" cap="none" strike="noStrike">
              <a:solidFill>
                <a:srgbClr val="00D9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457200" y="123444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BizBazooka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457200" y="2194550"/>
            <a:ext cx="8047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help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founders find people that helps your realize your businesses idea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457200" y="32461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 5 - CrewYYC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457200" y="36118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Abdeslem · CK · Michio · Pradeep . Thu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>
            <p:ph type="title"/>
          </p:nvPr>
        </p:nvSpPr>
        <p:spPr>
          <a:xfrm>
            <a:off x="457200" y="3200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12C3E"/>
                </a:solidFill>
              </a:rPr>
              <a:t>The Problem</a:t>
            </a:r>
            <a:endParaRPr sz="3000">
              <a:solidFill>
                <a:srgbClr val="012C3E"/>
              </a:solidFill>
            </a:endParaRPr>
          </a:p>
        </p:txBody>
      </p:sp>
      <p:sp>
        <p:nvSpPr>
          <p:cNvPr id="35" name="Google Shape;35;p2"/>
          <p:cNvSpPr txBox="1"/>
          <p:nvPr>
            <p:ph idx="1" type="body"/>
          </p:nvPr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</a:pPr>
            <a:r>
              <a:rPr i="1" lang="en-US" sz="1300">
                <a:solidFill>
                  <a:schemeClr val="dk2"/>
                </a:solidFill>
              </a:rPr>
              <a:t>What pain exists today, and why does it matter enough that someone would pay to make it go away?</a:t>
            </a:r>
            <a:endParaRPr sz="1300"/>
          </a:p>
        </p:txBody>
      </p:sp>
      <p:sp>
        <p:nvSpPr>
          <p:cNvPr id="36" name="Google Shape;36;p2"/>
          <p:cNvSpPr/>
          <p:nvPr/>
        </p:nvSpPr>
        <p:spPr>
          <a:xfrm>
            <a:off x="457200" y="1463040"/>
            <a:ext cx="2743200" cy="3108960"/>
          </a:xfrm>
          <a:prstGeom prst="roundRect">
            <a:avLst>
              <a:gd fmla="val 4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" name="Google Shape;3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7373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 txBox="1"/>
          <p:nvPr/>
        </p:nvSpPr>
        <p:spPr>
          <a:xfrm>
            <a:off x="1170432" y="164592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C7"/>
                </a:solidFill>
                <a:latin typeface="Calibri"/>
                <a:ea typeface="Calibri"/>
                <a:cs typeface="Calibri"/>
                <a:sym typeface="Calibri"/>
              </a:rPr>
              <a:t>WHY IT MATTERS NOW</a:t>
            </a:r>
            <a:endParaRPr b="0" i="0" sz="1100" u="none" cap="none" strike="noStrike">
              <a:solidFill>
                <a:srgbClr val="00D9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640080" y="21945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Calgary added 28,900 tech jobs (2022–25) vs. 3,660 local tech grads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Thousands of builders are new to the city, with no local network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On YC’s matching platform, committed hours is the #1 thing founders look for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Skills are public. Capacity and follow-through aren’t.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474720" y="1463040"/>
            <a:ext cx="5212080" cy="1417320"/>
          </a:xfrm>
          <a:prstGeom prst="roundRect">
            <a:avLst>
              <a:gd fmla="val 6452" name="adj"/>
            </a:avLst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3657600" y="160020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3657600" y="1938528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Outside weekend events, Calgary </a:t>
            </a: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founders</a:t>
            </a: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work in silos. A founder with an idea  can’t seem to gain traction on </a:t>
            </a: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bringing</a:t>
            </a: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product to market</a:t>
            </a: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</a:t>
            </a:r>
            <a:r>
              <a:rPr lang="en-U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idea</a:t>
            </a: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stall or die.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474720" y="3063240"/>
            <a:ext cx="2514600" cy="1508760"/>
          </a:xfrm>
          <a:prstGeom prst="roundRect">
            <a:avLst>
              <a:gd fmla="val 6061" name="adj"/>
            </a:avLst>
          </a:prstGeom>
          <a:solidFill>
            <a:schemeClr val="lt1"/>
          </a:solidFill>
          <a:ln cap="flat" cmpd="sng" w="15875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3657600" y="32004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it's solved today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3657600" y="3538728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 DMs, Slack “anyone free?” posts, meetups, or asking the same 2–3 friends. Most default to building alone.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fmla="val 6061" name="adj"/>
            </a:avLst>
          </a:prstGeom>
          <a:solidFill>
            <a:schemeClr val="lt1"/>
          </a:solidFill>
          <a:ln cap="flat" cmpd="sng" w="15875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6355080" y="32004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of the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6355080" y="3538728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Opportunity lost and never to realize business potential.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Weeks of searching, dozens of unpaid hours lost to ghosted collabs.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>
            <p:ph idx="4294967295" type="sldNum"/>
          </p:nvPr>
        </p:nvSpPr>
        <p:spPr>
          <a:xfrm>
            <a:off x="7955280" y="47320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589520" y="411480"/>
            <a:ext cx="1097400" cy="411600"/>
          </a:xfrm>
          <a:prstGeom prst="roundRect">
            <a:avLst>
              <a:gd fmla="val 48889" name="adj"/>
            </a:avLst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7704024" y="411475"/>
            <a:ext cx="868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Slide 2 of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 txBox="1"/>
          <p:nvPr>
            <p:ph type="title"/>
          </p:nvPr>
        </p:nvSpPr>
        <p:spPr>
          <a:xfrm>
            <a:off x="457200" y="3200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12C3E"/>
                </a:solidFill>
              </a:rPr>
              <a:t>Ideal Customer Profile (ICP)</a:t>
            </a:r>
            <a:endParaRPr sz="3000">
              <a:solidFill>
                <a:srgbClr val="012C3E"/>
              </a:solidFill>
            </a:endParaRPr>
          </a:p>
        </p:txBody>
      </p:sp>
      <p:sp>
        <p:nvSpPr>
          <p:cNvPr id="59" name="Google Shape;59;p3"/>
          <p:cNvSpPr txBox="1"/>
          <p:nvPr>
            <p:ph idx="1" type="body"/>
          </p:nvPr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</a:pPr>
            <a:r>
              <a:rPr i="1" lang="en-US" sz="1300">
                <a:solidFill>
                  <a:schemeClr val="dk2"/>
                </a:solidFill>
              </a:rPr>
              <a:t>Exactly who is the first customer, and why them first? Narrow beats broad.</a:t>
            </a:r>
            <a:endParaRPr sz="1300"/>
          </a:p>
        </p:txBody>
      </p:sp>
      <p:sp>
        <p:nvSpPr>
          <p:cNvPr id="60" name="Google Shape;60;p3"/>
          <p:cNvSpPr/>
          <p:nvPr/>
        </p:nvSpPr>
        <p:spPr>
          <a:xfrm>
            <a:off x="7589520" y="411480"/>
            <a:ext cx="1097280" cy="411480"/>
          </a:xfrm>
          <a:prstGeom prst="roundRect">
            <a:avLst>
              <a:gd fmla="val 48889" name="adj"/>
            </a:avLst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7704024" y="411475"/>
            <a:ext cx="868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Slide 3 of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57200" y="1463040"/>
            <a:ext cx="2743200" cy="3108960"/>
          </a:xfrm>
          <a:prstGeom prst="roundRect">
            <a:avLst>
              <a:gd fmla="val 4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4" name="Google Shape;6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7373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 txBox="1"/>
          <p:nvPr/>
        </p:nvSpPr>
        <p:spPr>
          <a:xfrm>
            <a:off x="1170432" y="164592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C7"/>
                </a:solidFill>
                <a:latin typeface="Calibri"/>
                <a:ea typeface="Calibri"/>
                <a:cs typeface="Calibri"/>
                <a:sym typeface="Calibri"/>
              </a:rPr>
              <a:t>WHY THIS SEGMENT FIRST</a:t>
            </a:r>
            <a:endParaRPr b="0" i="0" sz="1100" u="none" cap="none" strike="noStrike">
              <a:solidFill>
                <a:srgbClr val="00D9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640080" y="21945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Sharpest pain: no builder means no product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Hard deadlines (demo day, MVP) create urgency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Concentrated: one program partner reaches a whole cohort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program operator can pay on their behalf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474720" y="1463040"/>
            <a:ext cx="2514600" cy="1508760"/>
          </a:xfrm>
          <a:prstGeom prst="roundRect">
            <a:avLst>
              <a:gd fmla="val 6061" name="adj"/>
            </a:avLst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3657600" y="16002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 they 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3657600" y="1938525"/>
            <a:ext cx="23775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arenR"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Founder with an idea and budget to spend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AutoNum type="arabicParenR"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Organization like Platform Calgary, Tech Hub -&gt; To build network and credit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172200" y="1463040"/>
            <a:ext cx="2514600" cy="1508760"/>
          </a:xfrm>
          <a:prstGeom prst="roundRect">
            <a:avLst>
              <a:gd fmla="val 6061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6355080" y="16002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Their trigger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6355080" y="1938528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Progress Frustration -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milestone hits: MVP deadline, demo day, buildathon signup, or a grant asking “who’s on your team?”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474720" y="3063240"/>
            <a:ext cx="2514600" cy="1508760"/>
          </a:xfrm>
          <a:prstGeom prst="roundRect">
            <a:avLst>
              <a:gd fmla="val 6061" name="adj"/>
            </a:avLst>
          </a:prstGeom>
          <a:solidFill>
            <a:schemeClr val="lt1"/>
          </a:solidFill>
          <a:ln cap="flat" cmpd="sng" w="158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3657600" y="32004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to find them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3474725" y="3538725"/>
            <a:ext cx="2560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Platform Calgary programs,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accelerator cohorts,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buildathons like this one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Tinkerers,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Clubs - university, schools, mentors, influencers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fmla="val 6061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6355080" y="32004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Buyer vs. user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6355080" y="3538728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User: the founder.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Platform to connect for funding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Buyer: the program operator (cohort licence). Builders join free as supply.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 txBox="1"/>
          <p:nvPr>
            <p:ph idx="4294967295" type="sldNum"/>
          </p:nvPr>
        </p:nvSpPr>
        <p:spPr>
          <a:xfrm>
            <a:off x="7955280" y="47320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457200" y="3200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12C3E"/>
                </a:solidFill>
              </a:rPr>
              <a:t>The Solution</a:t>
            </a:r>
            <a:endParaRPr sz="3000">
              <a:solidFill>
                <a:srgbClr val="012C3E"/>
              </a:solidFill>
            </a:endParaRPr>
          </a:p>
        </p:txBody>
      </p:sp>
      <p:sp>
        <p:nvSpPr>
          <p:cNvPr id="86" name="Google Shape;86;p4"/>
          <p:cNvSpPr txBox="1"/>
          <p:nvPr>
            <p:ph idx="1" type="body"/>
          </p:nvPr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</a:pPr>
            <a:r>
              <a:rPr i="1" lang="en-US" sz="1300">
                <a:solidFill>
                  <a:schemeClr val="dk2"/>
                </a:solidFill>
              </a:rPr>
              <a:t>What did you build, and what is the single most valuable thing it does for the customer?</a:t>
            </a:r>
            <a:endParaRPr sz="1300"/>
          </a:p>
        </p:txBody>
      </p:sp>
      <p:sp>
        <p:nvSpPr>
          <p:cNvPr id="87" name="Google Shape;87;p4"/>
          <p:cNvSpPr/>
          <p:nvPr/>
        </p:nvSpPr>
        <p:spPr>
          <a:xfrm>
            <a:off x="7589520" y="411480"/>
            <a:ext cx="1097280" cy="411480"/>
          </a:xfrm>
          <a:prstGeom prst="roundRect">
            <a:avLst>
              <a:gd fmla="val 48889" name="adj"/>
            </a:avLst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7726474" y="411475"/>
            <a:ext cx="823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Slide 4 of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57200" y="1463040"/>
            <a:ext cx="2743200" cy="3108960"/>
          </a:xfrm>
          <a:prstGeom prst="roundRect">
            <a:avLst>
              <a:gd fmla="val 4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7373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 txBox="1"/>
          <p:nvPr/>
        </p:nvSpPr>
        <p:spPr>
          <a:xfrm>
            <a:off x="1170432" y="164592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C7"/>
                </a:solidFill>
                <a:latin typeface="Calibri"/>
                <a:ea typeface="Calibri"/>
                <a:cs typeface="Calibri"/>
                <a:sym typeface="Calibri"/>
              </a:rPr>
              <a:t>HOW IT MAPS TO THE PAIN</a:t>
            </a:r>
            <a:endParaRPr b="0" i="0" sz="1100" u="none" cap="none" strike="noStrike">
              <a:solidFill>
                <a:srgbClr val="00D9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640080" y="21945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Can’t see who has time → live capacity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Can’t trust strangers → verified shipped work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Teams die after events → 2-week committed sprints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Not LinkedIn: matches on what you can commit this month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474720" y="1463040"/>
            <a:ext cx="5212080" cy="1005840"/>
          </a:xfrm>
          <a:prstGeom prst="roundRect">
            <a:avLst>
              <a:gd fmla="val 9091" name="adj"/>
            </a:avLst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3657600" y="160020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 proposition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3657600" y="1851454"/>
            <a:ext cx="4846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BizBazooka</a:t>
            </a: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ebsite &amp; Mobile app) </a:t>
            </a: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connects founders to proven experts and action plans to make a viable product faster and efficiently.</a:t>
            </a: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Founder can utilize the tools to develop a </a:t>
            </a: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viable</a:t>
            </a: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product with a GTM strategy that ensures success.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474720" y="2651760"/>
            <a:ext cx="457200" cy="45720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3474720" y="2651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3474720" y="320040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Capacity matching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3474720" y="352044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 a need; get  ranked local builders with free /p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aid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hours and fit reasons.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257800" y="2651760"/>
            <a:ext cx="457200" cy="45720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5257800" y="2651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5257800" y="320040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Committed sprints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5257800" y="352044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One-click request turns a match into a 2-week sprint with clear hours.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040880" y="2651760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7040880" y="2651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7040880" y="320040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Follow-through ledger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7040880" y="3520440"/>
            <a:ext cx="1645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Teammates co-sign what shipped, building trust that compounds.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 txBox="1"/>
          <p:nvPr>
            <p:ph idx="4294967295" type="sldNum"/>
          </p:nvPr>
        </p:nvSpPr>
        <p:spPr>
          <a:xfrm>
            <a:off x="7955280" y="47320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type="title"/>
          </p:nvPr>
        </p:nvSpPr>
        <p:spPr>
          <a:xfrm>
            <a:off x="457200" y="3200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12C3E"/>
                </a:solidFill>
              </a:rPr>
              <a:t>Market Opportunity</a:t>
            </a:r>
            <a:endParaRPr sz="3000">
              <a:solidFill>
                <a:srgbClr val="012C3E"/>
              </a:solidFill>
            </a:endParaRPr>
          </a:p>
        </p:txBody>
      </p:sp>
      <p:sp>
        <p:nvSpPr>
          <p:cNvPr id="116" name="Google Shape;116;p6"/>
          <p:cNvSpPr txBox="1"/>
          <p:nvPr>
            <p:ph idx="1" type="body"/>
          </p:nvPr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</a:pPr>
            <a:r>
              <a:rPr i="1" lang="en-US" sz="1300">
                <a:solidFill>
                  <a:schemeClr val="dk2"/>
                </a:solidFill>
              </a:rPr>
              <a:t>How big is the prize, and how did you size it? Show your math, not just a big number.</a:t>
            </a:r>
            <a:endParaRPr sz="1300"/>
          </a:p>
        </p:txBody>
      </p:sp>
      <p:sp>
        <p:nvSpPr>
          <p:cNvPr id="117" name="Google Shape;117;p6"/>
          <p:cNvSpPr/>
          <p:nvPr/>
        </p:nvSpPr>
        <p:spPr>
          <a:xfrm>
            <a:off x="7589520" y="411480"/>
            <a:ext cx="1097280" cy="411480"/>
          </a:xfrm>
          <a:prstGeom prst="roundRect">
            <a:avLst>
              <a:gd fmla="val 48889" name="adj"/>
            </a:avLst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7772399" y="411475"/>
            <a:ext cx="731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Slide 5 of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57200" y="1463040"/>
            <a:ext cx="2743200" cy="3108960"/>
          </a:xfrm>
          <a:prstGeom prst="roundRect">
            <a:avLst>
              <a:gd fmla="val 4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1" name="Google Shape;1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7373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 txBox="1"/>
          <p:nvPr/>
        </p:nvSpPr>
        <p:spPr>
          <a:xfrm>
            <a:off x="1170432" y="164592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C7"/>
                </a:solidFill>
                <a:latin typeface="Calibri"/>
                <a:ea typeface="Calibri"/>
                <a:cs typeface="Calibri"/>
                <a:sym typeface="Calibri"/>
              </a:rPr>
              <a:t>HOW WE SIZED IT</a:t>
            </a:r>
            <a:endParaRPr b="0" i="0" sz="1100" u="none" cap="none" strike="noStrike">
              <a:solidFill>
                <a:srgbClr val="00D9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640080" y="21945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Bottom-up: builders × price, plus orgs × licence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TAM = Canada, SAM = Alberta, SOM = 3-yr Alberta capture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~90% of SOM is B2B, not consumer subs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RBC survey </a:t>
            </a:r>
            <a:r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59% of Canadians are interested in starting  business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3474720" y="1463040"/>
            <a:ext cx="1645920" cy="1783080"/>
          </a:xfrm>
          <a:prstGeom prst="roundRect">
            <a:avLst>
              <a:gd fmla="val 6667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3474720" y="155448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3474720" y="187452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~$1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.2B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3566160" y="260604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Total addressable Canada </a:t>
            </a: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257800" y="1463040"/>
            <a:ext cx="1645920" cy="1783080"/>
          </a:xfrm>
          <a:prstGeom prst="roundRect">
            <a:avLst>
              <a:gd fmla="val 6667" name="adj"/>
            </a:avLst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5257800" y="155448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5257800" y="187452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~$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5349240" y="260604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Serviceable Addressable </a:t>
            </a: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Alberta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7040880" y="1463040"/>
            <a:ext cx="1645920" cy="1783080"/>
          </a:xfrm>
          <a:prstGeom prst="roundRect">
            <a:avLst>
              <a:gd fmla="val 6667" name="adj"/>
            </a:avLst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7040880" y="155448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7040880" y="187452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~$0.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7132320" y="260604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lang="en-US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Serviceable Obtainable TechFounders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3474720" y="3429000"/>
            <a:ext cx="5212080" cy="11430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5875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3657600" y="356616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we sized it + why now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3657600" y="3904488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42M is Canada, 20% with Biz Aspirations ~ 8.4M people -  1.2B$ in Target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 - Alberta 5.1M$ 20% biz and 15% tech - 153K people SAM @$144 is 22M$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2% interested in paying, 3,500 paid 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founders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~ 500K$/yr</a:t>
            </a: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>
            <p:ph idx="4294967295" type="sldNum"/>
          </p:nvPr>
        </p:nvSpPr>
        <p:spPr>
          <a:xfrm>
            <a:off x="7955280" y="47320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title"/>
          </p:nvPr>
        </p:nvSpPr>
        <p:spPr>
          <a:xfrm>
            <a:off x="457200" y="3200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12C3E"/>
                </a:solidFill>
              </a:rPr>
              <a:t>Competition &amp; Differentiation</a:t>
            </a:r>
            <a:endParaRPr sz="3000">
              <a:solidFill>
                <a:srgbClr val="012C3E"/>
              </a:solidFill>
            </a:endParaRPr>
          </a:p>
        </p:txBody>
      </p:sp>
      <p:sp>
        <p:nvSpPr>
          <p:cNvPr id="146" name="Google Shape;146;p9"/>
          <p:cNvSpPr txBox="1"/>
          <p:nvPr>
            <p:ph idx="1" type="body"/>
          </p:nvPr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</a:pPr>
            <a:r>
              <a:rPr i="1" lang="en-US" sz="1300">
                <a:solidFill>
                  <a:schemeClr val="dk2"/>
                </a:solidFill>
              </a:rPr>
              <a:t>Who else solves this, and why would a customer choose you over them?</a:t>
            </a:r>
            <a:endParaRPr sz="1300"/>
          </a:p>
        </p:txBody>
      </p:sp>
      <p:sp>
        <p:nvSpPr>
          <p:cNvPr id="147" name="Google Shape;147;p9"/>
          <p:cNvSpPr/>
          <p:nvPr/>
        </p:nvSpPr>
        <p:spPr>
          <a:xfrm>
            <a:off x="7589520" y="411480"/>
            <a:ext cx="1097280" cy="411480"/>
          </a:xfrm>
          <a:prstGeom prst="roundRect">
            <a:avLst>
              <a:gd fmla="val 48889" name="adj"/>
            </a:avLst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7726699" y="411475"/>
            <a:ext cx="82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Slide 6 of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457200" y="1463040"/>
            <a:ext cx="2743200" cy="3108960"/>
          </a:xfrm>
          <a:prstGeom prst="roundRect">
            <a:avLst>
              <a:gd fmla="val 4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1" name="Google Shape;15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7373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9"/>
          <p:cNvSpPr txBox="1"/>
          <p:nvPr/>
        </p:nvSpPr>
        <p:spPr>
          <a:xfrm>
            <a:off x="1170432" y="164592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C7"/>
                </a:solidFill>
                <a:latin typeface="Calibri"/>
                <a:ea typeface="Calibri"/>
                <a:cs typeface="Calibri"/>
                <a:sym typeface="Calibri"/>
              </a:rPr>
              <a:t>WHERE WE LOSE (TODAY)</a:t>
            </a:r>
            <a:endParaRPr b="0" i="0" sz="1100" u="none" cap="none" strike="noStrike">
              <a:solidFill>
                <a:srgbClr val="00D9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640080" y="21945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</a:pPr>
            <a:r>
              <a:rPr lang="en-US" sz="11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LinkedIn has everyone → we have vetted, trusted members</a:t>
            </a:r>
            <a:endParaRPr sz="11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rPr lang="en-US" sz="11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Cold DMs get ghosted → signed sprint agreements get commitment</a:t>
            </a:r>
            <a:endParaRPr sz="11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rPr lang="en-US" sz="11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Profiles are self-reported → co-signed, real shipped work</a:t>
            </a:r>
            <a:endParaRPr sz="11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rPr lang="en-US" sz="11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“Ask a friend” is free → we’re the friend-of-a-friend network</a:t>
            </a:r>
            <a:endParaRPr sz="11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4" name="Google Shape;154;p9"/>
          <p:cNvGraphicFramePr/>
          <p:nvPr/>
        </p:nvGraphicFramePr>
        <p:xfrm>
          <a:off x="3474707" y="13654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{E0E4642B-8881-4DED-9652-1DA4DC65E245}</a:tableStyleId>
              </a:tblPr>
              <a:tblGrid>
                <a:gridCol w="1371600"/>
                <a:gridCol w="960125"/>
                <a:gridCol w="960125"/>
                <a:gridCol w="960125"/>
                <a:gridCol w="960125"/>
              </a:tblGrid>
              <a:tr h="54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BizBazooka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5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ICTC  / TalentED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College Programs /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Recruiters / Fiverr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F3B"/>
                    </a:solidFill>
                  </a:tcPr>
                </a:tc>
              </a:tr>
              <a:tr h="52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F6B"/>
                        </a:buClr>
                        <a:buSzPts val="1100"/>
                        <a:buFont typeface="Calibri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4A4F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 &amp; </a:t>
                      </a:r>
                      <a:r>
                        <a:rPr b="1" lang="en-US" sz="1100">
                          <a:solidFill>
                            <a:srgbClr val="4A4F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Verified Expertise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✓✓✓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100">
                        <a:solidFill>
                          <a:srgbClr val="4A4F6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✓✓✓</a:t>
                      </a:r>
                      <a:endParaRPr sz="1100">
                        <a:solidFill>
                          <a:srgbClr val="4A4F6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100">
                        <a:solidFill>
                          <a:srgbClr val="4A4F6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F6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4A4F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 Effectiveness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✓✓✓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>
                        <a:solidFill>
                          <a:srgbClr val="4A4F6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sz="1100">
                        <a:solidFill>
                          <a:srgbClr val="4A4F6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✓✓</a:t>
                      </a:r>
                      <a:endParaRPr sz="1100">
                        <a:solidFill>
                          <a:srgbClr val="4A4F6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F6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>
                          <a:solidFill>
                            <a:srgbClr val="4A4F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Founder to Builder Match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✓✓✓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✓✓</a:t>
                      </a:r>
                      <a:endParaRPr sz="1100">
                        <a:solidFill>
                          <a:srgbClr val="4A4F6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 sz="1100">
                        <a:solidFill>
                          <a:srgbClr val="4A4F6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 b="1" sz="1100">
                        <a:solidFill>
                          <a:srgbClr val="4A4F6B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3F4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" name="Google Shape;155;p9"/>
          <p:cNvSpPr/>
          <p:nvPr/>
        </p:nvSpPr>
        <p:spPr>
          <a:xfrm>
            <a:off x="3474650" y="3791701"/>
            <a:ext cx="5212200" cy="1055400"/>
          </a:xfrm>
          <a:prstGeom prst="roundRect">
            <a:avLst>
              <a:gd fmla="val 6897" name="adj"/>
            </a:avLst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3703400" y="3497491"/>
            <a:ext cx="484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unfair advantage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3657650" y="3928749"/>
            <a:ext cx="48462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trusted network of vetted Calgary builders, each with real, co-signed project experience. Matches start with a clear legal agreement on hours, IP and equity, so you work with people who commit instead of cold-messaging strangers on LinkedIn.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/>
          <p:nvPr>
            <p:ph idx="4294967295" type="sldNum"/>
          </p:nvPr>
        </p:nvSpPr>
        <p:spPr>
          <a:xfrm>
            <a:off x="7955280" y="47320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 txBox="1"/>
          <p:nvPr>
            <p:ph type="title"/>
          </p:nvPr>
        </p:nvSpPr>
        <p:spPr>
          <a:xfrm>
            <a:off x="457200" y="3200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12C3E"/>
                </a:solidFill>
              </a:rPr>
              <a:t>MVP Demo</a:t>
            </a:r>
            <a:endParaRPr sz="3000">
              <a:solidFill>
                <a:srgbClr val="012C3E"/>
              </a:solidFill>
            </a:endParaRPr>
          </a:p>
        </p:txBody>
      </p:sp>
      <p:sp>
        <p:nvSpPr>
          <p:cNvPr id="165" name="Google Shape;165;p5"/>
          <p:cNvSpPr txBox="1"/>
          <p:nvPr>
            <p:ph idx="1" type="body"/>
          </p:nvPr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</a:pPr>
            <a:r>
              <a:rPr i="1" lang="en-US" sz="1300">
                <a:solidFill>
                  <a:schemeClr val="dk2"/>
                </a:solidFill>
              </a:rPr>
              <a:t>Show what actually works right now. Judges would rather see one real flow than ten mockups.</a:t>
            </a:r>
            <a:endParaRPr sz="1300"/>
          </a:p>
        </p:txBody>
      </p:sp>
      <p:sp>
        <p:nvSpPr>
          <p:cNvPr id="166" name="Google Shape;166;p5"/>
          <p:cNvSpPr/>
          <p:nvPr/>
        </p:nvSpPr>
        <p:spPr>
          <a:xfrm>
            <a:off x="7589520" y="411480"/>
            <a:ext cx="1097280" cy="411480"/>
          </a:xfrm>
          <a:prstGeom prst="roundRect">
            <a:avLst>
              <a:gd fmla="val 48889" name="adj"/>
            </a:avLst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7733974" y="411475"/>
            <a:ext cx="808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Slide 7 of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57200" y="1463040"/>
            <a:ext cx="2743200" cy="3108960"/>
          </a:xfrm>
          <a:prstGeom prst="roundRect">
            <a:avLst>
              <a:gd fmla="val 4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0" name="Google Shape;1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7373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"/>
          <p:cNvSpPr txBox="1"/>
          <p:nvPr/>
        </p:nvSpPr>
        <p:spPr>
          <a:xfrm>
            <a:off x="1170432" y="164592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C7"/>
                </a:solidFill>
                <a:latin typeface="Calibri"/>
                <a:ea typeface="Calibri"/>
                <a:cs typeface="Calibri"/>
                <a:sym typeface="Calibri"/>
              </a:rPr>
              <a:t>THE 60-SECOND FLOW</a:t>
            </a:r>
            <a:endParaRPr b="0" i="0" sz="1100" u="none" cap="none" strike="noStrike">
              <a:solidFill>
                <a:srgbClr val="00D9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640080" y="21945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Post a need: React Native + Stripe, 8 hrs/wk, 6 wks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See 3 ranked matches with hours and fit reasons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Aha: the “perfect” profile is greyed out, zero hours until Dec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One click sends the request to her inbox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3474720" y="1463040"/>
            <a:ext cx="3291840" cy="3108960"/>
          </a:xfrm>
          <a:prstGeom prst="roundRect">
            <a:avLst>
              <a:gd fmla="val 2941" name="adj"/>
            </a:avLst>
          </a:prstGeom>
          <a:solidFill>
            <a:schemeClr val="lt2"/>
          </a:solidFill>
          <a:ln cap="flat" cmpd="sng" w="15875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754880" y="2331720"/>
            <a:ext cx="731520" cy="731520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5" name="Google Shape;1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60" y="2514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"/>
          <p:cNvSpPr txBox="1"/>
          <p:nvPr/>
        </p:nvSpPr>
        <p:spPr>
          <a:xfrm>
            <a:off x="3611880" y="324612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Post need → ranked matches → send request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949440" y="1463040"/>
            <a:ext cx="1737360" cy="1463040"/>
          </a:xfrm>
          <a:prstGeom prst="roundRect">
            <a:avLst>
              <a:gd fmla="val 6250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7132320" y="160020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What's real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7132320" y="1938528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Skills + capacity ranking, fit reasons, decoy card, request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6949440" y="3108960"/>
            <a:ext cx="1737360" cy="1463040"/>
          </a:xfrm>
          <a:prstGeom prst="roundRect">
            <a:avLst>
              <a:gd fmla="val 6250" name="adj"/>
            </a:avLst>
          </a:prstGeom>
          <a:solidFill>
            <a:schemeClr val="lt1"/>
          </a:solidFill>
          <a:ln cap="flat" cmpd="sng" w="15875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7132320" y="32461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What's next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7132320" y="3584448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Mocked: auth, notifications, inbox delivery, co-sign ledger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 txBox="1"/>
          <p:nvPr>
            <p:ph idx="4294967295" type="sldNum"/>
          </p:nvPr>
        </p:nvSpPr>
        <p:spPr>
          <a:xfrm>
            <a:off x="7955280" y="47320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/>
          <p:nvPr>
            <p:ph type="title"/>
          </p:nvPr>
        </p:nvSpPr>
        <p:spPr>
          <a:xfrm>
            <a:off x="457200" y="3200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chemeClr val="dk1"/>
                </a:solidFill>
              </a:rPr>
              <a:t>Business Model</a:t>
            </a:r>
            <a:endParaRPr sz="3000"/>
          </a:p>
        </p:txBody>
      </p:sp>
      <p:sp>
        <p:nvSpPr>
          <p:cNvPr id="190" name="Google Shape;190;p7"/>
          <p:cNvSpPr txBox="1"/>
          <p:nvPr>
            <p:ph idx="1" type="body"/>
          </p:nvPr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</a:pPr>
            <a:r>
              <a:rPr i="1" lang="en-US" sz="1300">
                <a:solidFill>
                  <a:schemeClr val="dk2"/>
                </a:solidFill>
              </a:rPr>
              <a:t>How does this make money, who pays, and do the unit economics work?</a:t>
            </a:r>
            <a:endParaRPr sz="1300"/>
          </a:p>
        </p:txBody>
      </p:sp>
      <p:sp>
        <p:nvSpPr>
          <p:cNvPr id="191" name="Google Shape;191;p7"/>
          <p:cNvSpPr/>
          <p:nvPr/>
        </p:nvSpPr>
        <p:spPr>
          <a:xfrm>
            <a:off x="7589520" y="411480"/>
            <a:ext cx="1097280" cy="411480"/>
          </a:xfrm>
          <a:prstGeom prst="roundRect">
            <a:avLst>
              <a:gd fmla="val 48889" name="adj"/>
            </a:avLst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7731950" y="411475"/>
            <a:ext cx="80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Slide 8 of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57200" y="1463040"/>
            <a:ext cx="2743200" cy="3108960"/>
          </a:xfrm>
          <a:prstGeom prst="roundRect">
            <a:avLst>
              <a:gd fmla="val 4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5" name="Google Shape;1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7373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7"/>
          <p:cNvSpPr txBox="1"/>
          <p:nvPr/>
        </p:nvSpPr>
        <p:spPr>
          <a:xfrm>
            <a:off x="1170432" y="164592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C7"/>
                </a:solidFill>
                <a:latin typeface="Calibri"/>
                <a:ea typeface="Calibri"/>
                <a:cs typeface="Calibri"/>
                <a:sym typeface="Calibri"/>
              </a:rPr>
              <a:t>WHY B2B FIRST</a:t>
            </a:r>
            <a:endParaRPr b="0" i="0" sz="1100" u="none" cap="none" strike="noStrike">
              <a:solidFill>
                <a:srgbClr val="00D9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640080" y="21945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Builders rarely pay for networking tools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successful match is a reason to cancel B2C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Programs already budget for team formation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Placement fees come later, once supply is dense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3474720" y="1463040"/>
            <a:ext cx="2514600" cy="1508760"/>
          </a:xfrm>
          <a:prstGeom prst="roundRect">
            <a:avLst>
              <a:gd fmla="val 6061" name="adj"/>
            </a:avLst>
          </a:prstGeom>
          <a:solidFill>
            <a:schemeClr val="lt1"/>
          </a:solidFill>
          <a:ln cap="flat" cmpd="sng" w="1587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3657600" y="1525300"/>
            <a:ext cx="214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Revenue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3642988" y="1777825"/>
            <a:ext cx="22695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 to join for builders and founders. Founders pay for idea submission after 1 free trial, premium founder subscription needed.  BizBazooka takes a cut of every 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transaction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whether contract, equity, long term, short term, etc. Partner with organizations to promote product and obtain funding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172200" y="1463040"/>
            <a:ext cx="2514600" cy="1508760"/>
          </a:xfrm>
          <a:prstGeom prst="roundRect">
            <a:avLst>
              <a:gd fmla="val 6061" name="adj"/>
            </a:avLst>
          </a:prstGeom>
          <a:solidFill>
            <a:schemeClr val="lt1"/>
          </a:solidFill>
          <a:ln cap="flat" cmpd="sng" w="158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6355080" y="16002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6355080" y="1938528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$144/year - App access for founder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%5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commission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contract work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$750 - $2000 for partnerships with organizations and events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3474720" y="3063240"/>
            <a:ext cx="2514600" cy="1508760"/>
          </a:xfrm>
          <a:prstGeom prst="roundRect">
            <a:avLst>
              <a:gd fmla="val 6061" name="adj"/>
            </a:avLst>
          </a:prstGeom>
          <a:solidFill>
            <a:schemeClr val="lt1"/>
          </a:solidFill>
          <a:ln cap="flat" cmpd="sng" w="1587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3657600" y="32004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 economics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3657600" y="3538728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Est. CAC ~$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(founder-led)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LTV ~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$350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LTV:CAC ratio: 3.5:1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fmla="val 6061" name="adj"/>
            </a:avLst>
          </a:prstGeom>
          <a:solidFill>
            <a:schemeClr val="lt1"/>
          </a:solidFill>
          <a:ln cap="flat" cmpd="sng" w="158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6355080" y="32004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assumptions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6355080" y="3474728"/>
            <a:ext cx="2148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Founders willing to pay for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work and equity, builders will join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 txBox="1"/>
          <p:nvPr>
            <p:ph idx="4294967295" type="sldNum"/>
          </p:nvPr>
        </p:nvSpPr>
        <p:spPr>
          <a:xfrm>
            <a:off x="7955280" y="47320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 txBox="1"/>
          <p:nvPr>
            <p:ph type="title"/>
          </p:nvPr>
        </p:nvSpPr>
        <p:spPr>
          <a:xfrm>
            <a:off x="457200" y="3200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12C3E"/>
                </a:solidFill>
              </a:rPr>
              <a:t>Go-To-Market Plan</a:t>
            </a:r>
            <a:endParaRPr sz="3000">
              <a:solidFill>
                <a:srgbClr val="012C3E"/>
              </a:solidFill>
            </a:endParaRPr>
          </a:p>
        </p:txBody>
      </p:sp>
      <p:sp>
        <p:nvSpPr>
          <p:cNvPr id="217" name="Google Shape;217;p8"/>
          <p:cNvSpPr txBox="1"/>
          <p:nvPr>
            <p:ph idx="1" type="body"/>
          </p:nvPr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None/>
            </a:pPr>
            <a:r>
              <a:rPr i="1" lang="en-US" sz="1300">
                <a:solidFill>
                  <a:schemeClr val="dk2"/>
                </a:solidFill>
              </a:rPr>
              <a:t>How will you reach your ICP and win the first 100 customers?</a:t>
            </a:r>
            <a:endParaRPr sz="1300"/>
          </a:p>
        </p:txBody>
      </p:sp>
      <p:sp>
        <p:nvSpPr>
          <p:cNvPr id="218" name="Google Shape;218;p8"/>
          <p:cNvSpPr/>
          <p:nvPr/>
        </p:nvSpPr>
        <p:spPr>
          <a:xfrm>
            <a:off x="7589520" y="411480"/>
            <a:ext cx="1097280" cy="411480"/>
          </a:xfrm>
          <a:prstGeom prst="roundRect">
            <a:avLst>
              <a:gd fmla="val 48889" name="adj"/>
            </a:avLst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 txBox="1"/>
          <p:nvPr/>
        </p:nvSpPr>
        <p:spPr>
          <a:xfrm>
            <a:off x="7733974" y="411475"/>
            <a:ext cx="808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Slide 9 of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57200" y="1463040"/>
            <a:ext cx="2743200" cy="3108960"/>
          </a:xfrm>
          <a:prstGeom prst="roundRect">
            <a:avLst>
              <a:gd fmla="val 400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2" name="Google Shape;2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7373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8"/>
          <p:cNvSpPr txBox="1"/>
          <p:nvPr/>
        </p:nvSpPr>
        <p:spPr>
          <a:xfrm>
            <a:off x="1170432" y="1645920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9C7"/>
                </a:solidFill>
                <a:latin typeface="Calibri"/>
                <a:ea typeface="Calibri"/>
                <a:cs typeface="Calibri"/>
                <a:sym typeface="Calibri"/>
              </a:rPr>
              <a:t>THE WEDGE</a:t>
            </a:r>
            <a:endParaRPr b="0" i="0" sz="1100" u="none" cap="none" strike="noStrike">
              <a:solidFill>
                <a:srgbClr val="00D9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640080" y="21945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Launch inside events, keep teams matched after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Organizers get value on day one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Each event seeds 30–150 profiles at once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North star: accepted intros that lead to a 2nd meeting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3474720" y="1463040"/>
            <a:ext cx="1188720" cy="9144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3520440" y="146304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First 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4754895" y="1462935"/>
            <a:ext cx="3840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Partner with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organizations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reach such as PlatformYYC, create verified projects from initial events. Find founders from these events.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3474720" y="2514600"/>
            <a:ext cx="1188720" cy="9144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3520440" y="25146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First 100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4846320" y="256032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partnering, start word of mouth from founders. Builders join seeking work from initial founder ideas, cycle repeats. Partner with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universities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larger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institutions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3474720" y="3566160"/>
            <a:ext cx="1188720" cy="914400"/>
          </a:xfrm>
          <a:prstGeom prst="homePlate">
            <a:avLst>
              <a:gd fmla="val 50000" name="adj"/>
            </a:avLst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3520440" y="356616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4846320" y="3611880"/>
            <a:ext cx="3840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 in outreach and marketing, via linkedin, tiktok, instagram, etc. Integrate with 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universities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organizations.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 txBox="1"/>
          <p:nvPr>
            <p:ph idx="4294967295" type="sldNum"/>
          </p:nvPr>
        </p:nvSpPr>
        <p:spPr>
          <a:xfrm>
            <a:off x="7955280" y="47320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2C3E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"/>
          <p:cNvSpPr/>
          <p:nvPr/>
        </p:nvSpPr>
        <p:spPr>
          <a:xfrm>
            <a:off x="7589520" y="411480"/>
            <a:ext cx="1097280" cy="411480"/>
          </a:xfrm>
          <a:prstGeom prst="roundRect">
            <a:avLst>
              <a:gd fmla="val 48889" name="adj"/>
            </a:avLst>
          </a:prstGeom>
          <a:solidFill>
            <a:srgbClr val="00D9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0"/>
          <p:cNvSpPr txBox="1"/>
          <p:nvPr/>
        </p:nvSpPr>
        <p:spPr>
          <a:xfrm>
            <a:off x="7689050" y="411475"/>
            <a:ext cx="898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Slide 10 of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 txBox="1"/>
          <p:nvPr/>
        </p:nvSpPr>
        <p:spPr>
          <a:xfrm>
            <a:off x="457200" y="32004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Roadmap &amp; The Ask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 txBox="1"/>
          <p:nvPr/>
        </p:nvSpPr>
        <p:spPr>
          <a:xfrm>
            <a:off x="457200" y="960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What happens after today, and what do you need to get there?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57200" y="1554480"/>
            <a:ext cx="365760" cy="36576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0"/>
          <p:cNvSpPr txBox="1"/>
          <p:nvPr/>
        </p:nvSpPr>
        <p:spPr>
          <a:xfrm>
            <a:off x="960120" y="15544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Next 30 days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457200" y="2011673"/>
            <a:ext cx="2560200" cy="1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None/>
            </a:pPr>
            <a:r>
              <a:rPr lang="en-US" sz="11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Onboard founders from events such as BuildYYC, to validate the need for talent and discovery, shipping MVP. Seek initial partnership with organizations.</a:t>
            </a:r>
            <a:endParaRPr sz="11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3246120" y="1554480"/>
            <a:ext cx="365760" cy="36576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3749040" y="15544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Next 90 days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 txBox="1"/>
          <p:nvPr/>
        </p:nvSpPr>
        <p:spPr>
          <a:xfrm>
            <a:off x="3246120" y="201168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None/>
            </a:pPr>
            <a:r>
              <a:rPr lang="en-US" sz="11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 legal framework, outreach to law firms. Improve MVP from initial </a:t>
            </a:r>
            <a:r>
              <a:rPr lang="en-US" sz="11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feedback. Continue pertinering, seek bigger deals with institutions like universities.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6035040" y="1554480"/>
            <a:ext cx="365760" cy="365760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"/>
          <p:cNvSpPr txBox="1"/>
          <p:nvPr/>
        </p:nvSpPr>
        <p:spPr>
          <a:xfrm>
            <a:off x="6537960" y="15544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 to 12 months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 txBox="1"/>
          <p:nvPr/>
        </p:nvSpPr>
        <p:spPr>
          <a:xfrm>
            <a:off x="6035040" y="201168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5–10 program licences; 1,000 Calgary builders; Plan Edmonton launch. Staring integrating internship</a:t>
            </a:r>
            <a:r>
              <a:rPr lang="en-US" sz="11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 with universities for students.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57200" y="3246120"/>
            <a:ext cx="8229600" cy="1371600"/>
          </a:xfrm>
          <a:prstGeom prst="roundRect">
            <a:avLst>
              <a:gd fmla="val 8000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685788" y="3468945"/>
            <a:ext cx="548700" cy="5487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5" name="Google Shape;2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3606143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0"/>
          <p:cNvSpPr txBox="1"/>
          <p:nvPr/>
        </p:nvSpPr>
        <p:spPr>
          <a:xfrm>
            <a:off x="1417320" y="336033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ASK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 txBox="1"/>
          <p:nvPr/>
        </p:nvSpPr>
        <p:spPr>
          <a:xfrm>
            <a:off x="1417320" y="3794745"/>
            <a:ext cx="7041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pilot with Platform Calgary or Product Calgary at your next event, intros to two accelerator program leads, and 10 builders in this room to join this week’s pilot.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 txBox="1"/>
          <p:nvPr/>
        </p:nvSpPr>
        <p:spPr>
          <a:xfrm>
            <a:off x="457200" y="47320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Product Calgary Buildathon  |  CrewYYC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 txBox="1"/>
          <p:nvPr/>
        </p:nvSpPr>
        <p:spPr>
          <a:xfrm>
            <a:off x="5029200" y="47320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Thank you  ·  hoskote.pradeep@gmail.com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hab0d9fc2c3ee534_1_0"/>
          <p:cNvSpPr txBox="1"/>
          <p:nvPr/>
        </p:nvSpPr>
        <p:spPr>
          <a:xfrm>
            <a:off x="457200" y="320040"/>
            <a:ext cx="6949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 for listening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hab0d9fc2c3ee534_1_0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8450" y="1267330"/>
            <a:ext cx="2820025" cy="282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hab0d9fc2c3ee534_1_0"/>
          <p:cNvSpPr txBox="1"/>
          <p:nvPr/>
        </p:nvSpPr>
        <p:spPr>
          <a:xfrm>
            <a:off x="3014076" y="960250"/>
            <a:ext cx="29730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50"/>
              <a:buFont typeface="Calibri"/>
              <a:buNone/>
            </a:pPr>
            <a:r>
              <a:rPr lang="en-US" sz="14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Scan to create your account today!*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ildathon">
  <a:themeElements>
    <a:clrScheme name="Buildathon">
      <a:dk1>
        <a:srgbClr val="1B1F3B"/>
      </a:dk1>
      <a:lt1>
        <a:srgbClr val="FFFFFF"/>
      </a:lt1>
      <a:dk2>
        <a:srgbClr val="4A4F6B"/>
      </a:dk2>
      <a:lt2>
        <a:srgbClr val="F3F4F9"/>
      </a:lt2>
      <a:accent1>
        <a:srgbClr val="FF5A5F"/>
      </a:accent1>
      <a:accent2>
        <a:srgbClr val="FFC857"/>
      </a:accent2>
      <a:accent3>
        <a:srgbClr val="2EC4B6"/>
      </a:accent3>
      <a:accent4>
        <a:srgbClr val="6C63FF"/>
      </a:accent4>
      <a:accent5>
        <a:srgbClr val="FF8C42"/>
      </a:accent5>
      <a:accent6>
        <a:srgbClr val="9AA0B8"/>
      </a:accent6>
      <a:hlink>
        <a:srgbClr val="FF5A5F"/>
      </a:hlink>
      <a:folHlink>
        <a:srgbClr val="6C63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ildathon">
  <a:themeElements>
    <a:clrScheme name="Buildathon">
      <a:dk1>
        <a:srgbClr val="1B1F3B"/>
      </a:dk1>
      <a:lt1>
        <a:srgbClr val="FFFFFF"/>
      </a:lt1>
      <a:dk2>
        <a:srgbClr val="4A4F6B"/>
      </a:dk2>
      <a:lt2>
        <a:srgbClr val="F3F4F9"/>
      </a:lt2>
      <a:accent1>
        <a:srgbClr val="FF5A5F"/>
      </a:accent1>
      <a:accent2>
        <a:srgbClr val="FFC857"/>
      </a:accent2>
      <a:accent3>
        <a:srgbClr val="2EC4B6"/>
      </a:accent3>
      <a:accent4>
        <a:srgbClr val="6C63FF"/>
      </a:accent4>
      <a:accent5>
        <a:srgbClr val="FF8C42"/>
      </a:accent5>
      <a:accent6>
        <a:srgbClr val="9AA0B8"/>
      </a:accent6>
      <a:hlink>
        <a:srgbClr val="FF5A5F"/>
      </a:hlink>
      <a:folHlink>
        <a:srgbClr val="6C63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2026-10-21T20:21:58Z</dcterms:created>
  <dc:creator>Product Calgary</dc:creator>
</cp:coreProperties>
</file>