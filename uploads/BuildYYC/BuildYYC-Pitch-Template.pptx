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jDkW6MV6o47mJQUBEMNGasPaQ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A3028D-0C03-4743-9075-8F35542186BE}">
  <a:tblStyle styleId="{FDA3028D-0C03-4743-9075-8F35542186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to 15 seconds. Say the product name, the one-liner, and who is on the team. The one-liner should be plain English a stranger would understand. Replace every [bracketed] placeholder.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Judges score problem clarity heavily. Lead with a story or a number. If you interviewed anyone today, say so.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you can name one real person who fits this profile, do it. Judges want to see you resisted the temptation to say 'anyone with a phone'.</a:t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Resist listing every feature you built. Three capabilities, each tied back to the pain. Save the walkthrough for the demo slide.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Judges distrust top-down 'if we get 1% of a $50B market' claims. A small, well-reasoned number beats a huge unsupported one.</a:t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Pick criteria your ICP cares about, not ones you happen to win on. 'No competitors' is a red flag to judges; there is always an alternative.</a:t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 the demo path in advance and rehearse it twice. Have a screenshot fallback in case the live demo fails. Call out what is stubbed so judges trust the rest.</a:t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Estimates are fine, guesses labelled as facts are not. Say 'we assume' and judges will respect it.</a:t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the channel and the first action you would take Monday morning. 'Social media marketing' is not a GTM plan.</a:t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on the ask. Be specific: a name, an intro, a dollar amount, a design partner. Then stop talking and take questions.</a:t>
            </a:r>
            <a:endParaRPr/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/>
          <p:nvPr/>
        </p:nvSpPr>
        <p:spPr>
          <a:xfrm>
            <a:off x="457200" y="47320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Product Calgary Buildathon  |  Pitch Template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1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3"/>
          <p:cNvSpPr/>
          <p:nvPr/>
        </p:nvSpPr>
        <p:spPr>
          <a:xfrm>
            <a:off x="457200" y="47320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Product Calgary Buildathon  |  Pitch Template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/>
        </p:nvSpPr>
        <p:spPr>
          <a:xfrm>
            <a:off x="457200" y="548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2500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BUILDYYC</a:t>
            </a:r>
            <a:endParaRPr b="0" i="0" sz="25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457200" y="123444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[Product Name]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457200" y="219456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[One-line pitch: We help ___ do ___ so they can ___]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457200" y="3246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[Team Name]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57200" y="36118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[Member 1 · Member 2 · Member 3 · Member 4]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The Problem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35" name="Google Shape;35;p2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What pain exists today, and why does it matter enough that someone would pay to make it go away?</a:t>
            </a:r>
            <a:endParaRPr sz="1300"/>
          </a:p>
        </p:txBody>
      </p:sp>
      <p:sp>
        <p:nvSpPr>
          <p:cNvPr id="36" name="Google Shape;36;p2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WHAT JUDGES LOOK FOR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specific, observable pain, not a vague trend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Evidence it is real: quotes, data, your own experience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Why existing workarounds fall short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Why now: what changed that makes this solvable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74720" y="1463040"/>
            <a:ext cx="5212080" cy="1417320"/>
          </a:xfrm>
          <a:prstGeom prst="roundRect">
            <a:avLst>
              <a:gd fmla="val 6452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3657600" y="16002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3657600" y="193852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[Describe the problem in 1 to 2 sentences. Who feels it, when, and how often?]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47472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365760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it's solved today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365760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[Spreadsheets? Manual work? A competitor? Nothing?]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635508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35508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[Time lost, money lost, risk, or frustration. Put a number on it if you can.]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589520" y="411480"/>
            <a:ext cx="1097400" cy="41160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7704024" y="411475"/>
            <a:ext cx="868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Ideal Customer Profile (ICP)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59" name="Google Shape;59;p3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Exactly who is the first customer, and why them first? Narrow beats broad.</a:t>
            </a:r>
            <a:endParaRPr sz="1300"/>
          </a:p>
        </p:txBody>
      </p:sp>
      <p:sp>
        <p:nvSpPr>
          <p:cNvPr id="60" name="Google Shape;60;p3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7704024" y="411475"/>
            <a:ext cx="868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3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WHAT JUDGES LOOK FOR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clearly defined segment, not 'everyone'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Who uses it vs. who pays for it (if different)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Where these people already gather or search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reason this segment feels the pain most acutely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474720" y="14630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/>
        </p:nvSpPr>
        <p:spPr>
          <a:xfrm>
            <a:off x="3657600" y="16002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they 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3657600" y="19385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[Role / title, company type &amp; size, or consumer demographic]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172200" y="14630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6355080" y="16002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Their trigger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6355080" y="19385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[The moment they go looking for a solution]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47472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365760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to find them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365760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[Communities, channels, events, platforms]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635508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Buyer vs. user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35508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[Who approves the spend, who uses it daily]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The Solution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What did you build, and what is the single most valuable thing it does for the customer?</a:t>
            </a:r>
            <a:endParaRPr sz="1300"/>
          </a:p>
        </p:txBody>
      </p:sp>
      <p:sp>
        <p:nvSpPr>
          <p:cNvPr id="87" name="Google Shape;87;p4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7726474" y="411475"/>
            <a:ext cx="82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4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WHAT JUDGES LOOK FOR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clear value proposition in one sentence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How it maps directly to the problem on slide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2 to 3 core capabilities, not a feature list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makes the approach different or clever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474720" y="1463040"/>
            <a:ext cx="5212080" cy="1005840"/>
          </a:xfrm>
          <a:prstGeom prst="roundRect">
            <a:avLst>
              <a:gd fmla="val 909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3657600" y="16002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proposition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3657600" y="193852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[For (ICP), (product) is a (category) that (key benefit). Unlike (alternative), it (differentiator).]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474720" y="2651760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347472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3474720" y="32004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capability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3474720" y="352044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[What it does and the outcome it creates]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257800" y="2651760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525780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257800" y="32004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capability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5257800" y="352044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[What it does and the outcome it creates]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040880" y="265176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704088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7040880" y="32004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capability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7040880" y="352044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[What it does and the outcome it creates]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Market Opportunity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How big is the prize, and how did you size it? Show your math, not just a big number.</a:t>
            </a:r>
            <a:endParaRPr sz="1300"/>
          </a:p>
        </p:txBody>
      </p:sp>
      <p:sp>
        <p:nvSpPr>
          <p:cNvPr id="117" name="Google Shape;117;p6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7772399" y="411475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WHAT JUDGES LOOK FOR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Bottom-up sizing: # of customers × price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realistic SOM you could capture in 2 to 3 years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Sources or assumptions stated plainly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Trends that make the market grow or shift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474720" y="1463040"/>
            <a:ext cx="1645920" cy="1783080"/>
          </a:xfrm>
          <a:prstGeom prst="roundRect">
            <a:avLst>
              <a:gd fmla="val 6667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3474720" y="15544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3474720" y="18745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[$ __ 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3566160" y="2606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addressable market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257800" y="1463040"/>
            <a:ext cx="1645920" cy="1783080"/>
          </a:xfrm>
          <a:prstGeom prst="roundRect">
            <a:avLst>
              <a:gd fmla="val 6667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5257800" y="15544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5257800" y="18745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[$ __ 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5349240" y="2606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Serviceable market you can reach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040880" y="1463040"/>
            <a:ext cx="1645920" cy="1783080"/>
          </a:xfrm>
          <a:prstGeom prst="roundRect">
            <a:avLst>
              <a:gd fmla="val 6667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7040880" y="15544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7040880" y="18745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[$ __ 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7132320" y="2606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Realistic share in 3 years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474720" y="3429000"/>
            <a:ext cx="5212080" cy="1143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3657600" y="35661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sized it + why now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3657600" y="3904488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[e.g. 4,200 clinics in Alberta × $200/mo = $10M SAM. Sources: ___. Market tailwind: ___]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Competition &amp; Differentiation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Who else solves this, and why would a customer choose you over them?</a:t>
            </a:r>
            <a:endParaRPr sz="1300"/>
          </a:p>
        </p:txBody>
      </p:sp>
      <p:sp>
        <p:nvSpPr>
          <p:cNvPr id="147" name="Google Shape;147;p9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726699" y="411475"/>
            <a:ext cx="82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WHAT JUDGES LOOK FOR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Honest list of direct and indirect alternatives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'Do nothing' counted as a competitor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differentiator customers actually care about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is hard to copy: data, distribution, insight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9"/>
          <p:cNvGraphicFramePr/>
          <p:nvPr/>
        </p:nvGraphicFramePr>
        <p:xfrm>
          <a:off x="347472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{FDA3028D-0C03-4743-9075-8F35542186BE}</a:tableStyleId>
              </a:tblPr>
              <a:tblGrid>
                <a:gridCol w="1371600"/>
                <a:gridCol w="960125"/>
                <a:gridCol w="960125"/>
                <a:gridCol w="960125"/>
                <a:gridCol w="9601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[Us]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[Competitor A]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[Competitor B]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 nothing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[Criterion 1]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[Criterion 2]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[Criterion 3]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[✓ / ✗]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9"/>
          <p:cNvSpPr/>
          <p:nvPr/>
        </p:nvSpPr>
        <p:spPr>
          <a:xfrm>
            <a:off x="3474720" y="3246120"/>
            <a:ext cx="5212080" cy="1325880"/>
          </a:xfrm>
          <a:prstGeom prst="roundRect">
            <a:avLst>
              <a:gd fmla="val 6897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3657600" y="33832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unfair advantage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3657600" y="3721608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[The one thing that makes you the obvious choice for your ICP, and why it is hard to copy]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MVP Demo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165" name="Google Shape;165;p5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Show what actually works right now. Judges would rather see one real flow than ten mockups.</a:t>
            </a:r>
            <a:endParaRPr sz="1300"/>
          </a:p>
        </p:txBody>
      </p:sp>
      <p:sp>
        <p:nvSpPr>
          <p:cNvPr id="166" name="Google Shape;166;p5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7733974" y="411475"/>
            <a:ext cx="808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WHAT JUDGES LOOK FOR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working end-to-end flow (even if rough)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Honesty about what is real vs. mocked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'aha' moment the user experiences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Technical choices that let you ship in a day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474720" y="1463040"/>
            <a:ext cx="3291840" cy="3108960"/>
          </a:xfrm>
          <a:prstGeom prst="roundRect">
            <a:avLst>
              <a:gd fmla="val 2941" name="adj"/>
            </a:avLst>
          </a:prstGeom>
          <a:solidFill>
            <a:schemeClr val="lt2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4754880" y="2331720"/>
            <a:ext cx="731520" cy="73152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3611880" y="32461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[Insert screenshot, GIF, or switch to live demo]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949440" y="1463040"/>
            <a:ext cx="1737360" cy="1463040"/>
          </a:xfrm>
          <a:prstGeom prst="roundRect">
            <a:avLst>
              <a:gd fmla="val 625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7132320" y="16002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What's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7132320" y="193852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[Features working today]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949440" y="3108960"/>
            <a:ext cx="1737360" cy="1463040"/>
          </a:xfrm>
          <a:prstGeom prst="roundRect">
            <a:avLst>
              <a:gd fmla="val 6250" name="adj"/>
            </a:avLst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7132320" y="32461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7132320" y="358444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[Mocked or not yet built]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Business Model</a:t>
            </a:r>
            <a:endParaRPr sz="3000"/>
          </a:p>
        </p:txBody>
      </p:sp>
      <p:sp>
        <p:nvSpPr>
          <p:cNvPr id="190" name="Google Shape;190;p7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How does this make money, who pays, and do the unit economics work?</a:t>
            </a:r>
            <a:endParaRPr sz="1300"/>
          </a:p>
        </p:txBody>
      </p:sp>
      <p:sp>
        <p:nvSpPr>
          <p:cNvPr id="191" name="Google Shape;191;p7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7731950" y="411475"/>
            <a:ext cx="80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WHAT JUDGES LOOK FOR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clear revenue model (SaaS, usage, marketplace, etc.)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Pricing with a rationale tied to value delivered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Rough unit economics: CAC, LTV, margin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Why customers would keep paying (retention driver)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474720" y="14630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3657600" y="16002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657600" y="19385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[Subscription / per-seat / transaction fee / freemium / other]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172200" y="14630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6355080" y="16002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6355080" y="19385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[$ __ per __. Tiers? Free trial? Anchor to value created.]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47472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365760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economics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365760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[Est. CAC $__, LTV $__, gross margin __%]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635508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assumptions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35508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[The 2 to 3 bets this model depends on]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Go-To-Market Plan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217" name="Google Shape;217;p8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How will you reach your ICP and win the first 100 customers?</a:t>
            </a:r>
            <a:endParaRPr sz="1300"/>
          </a:p>
        </p:txBody>
      </p:sp>
      <p:sp>
        <p:nvSpPr>
          <p:cNvPr id="218" name="Google Shape;218;p8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7733974" y="411475"/>
            <a:ext cx="808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WHAT JUDGES LOOK FOR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Specific channels matched to where the ICP lives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concrete plan for the first 10, then first 100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Partnerships or wedges that lower acquisition cost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metric to prove the channel is working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474720" y="1463040"/>
            <a:ext cx="1188720" cy="9144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3520440" y="14630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4846320" y="15087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[Hand-to-hand: founder outreach, warm intros, local communities]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474720" y="2514600"/>
            <a:ext cx="1188720" cy="9144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3520440" y="25146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4846320" y="25603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[Repeatable channel: content, partnerships, paid, referrals]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474720" y="3566160"/>
            <a:ext cx="1188720" cy="914400"/>
          </a:xfrm>
          <a:prstGeom prst="homePlate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3520440" y="35661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4846320" y="36118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[What unlocks growth beyond 100: self-serve, sales team, integrations]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C3E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7689050" y="411475"/>
            <a:ext cx="89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10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Roadmap &amp; The Ask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What happens after today, and what do you need to get there?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960120" y="1554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Next 30 days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57200" y="201168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[Validate: __ customer conversations, pilot with __]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246120" y="1554480"/>
            <a:ext cx="365760" cy="36576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3749040" y="1554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Next 90 days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3246120" y="201168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[Build: ship __, reach __ paying users]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035040" y="1554480"/>
            <a:ext cx="365760" cy="36576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6537960" y="1554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 to 12 months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6035040" y="201168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[Grow: __ revenue, __ customers, key hire __]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fmla="val 8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383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 txBox="1"/>
          <p:nvPr/>
        </p:nvSpPr>
        <p:spPr>
          <a:xfrm>
            <a:off x="141732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1417320" y="3474720"/>
            <a:ext cx="7040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[What do you need from judges, mentors, or the room? Intros to __, feedback on __, $__ to fund __, a design partner in __]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457200" y="47320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Product Calgary Buildathon  |  Pitch Template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5029200" y="47320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Thank you  ·  [contact email / handle]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ildathon">
  <a:themeElements>
    <a:clrScheme name="Buildathon">
      <a:dk1>
        <a:srgbClr val="1B1F3B"/>
      </a:dk1>
      <a:lt1>
        <a:srgbClr val="FFFFFF"/>
      </a:lt1>
      <a:dk2>
        <a:srgbClr val="4A4F6B"/>
      </a:dk2>
      <a:lt2>
        <a:srgbClr val="F3F4F9"/>
      </a:lt2>
      <a:accent1>
        <a:srgbClr val="FF5A5F"/>
      </a:accent1>
      <a:accent2>
        <a:srgbClr val="FFC857"/>
      </a:accent2>
      <a:accent3>
        <a:srgbClr val="2EC4B6"/>
      </a:accent3>
      <a:accent4>
        <a:srgbClr val="6C63FF"/>
      </a:accent4>
      <a:accent5>
        <a:srgbClr val="FF8C42"/>
      </a:accent5>
      <a:accent6>
        <a:srgbClr val="9AA0B8"/>
      </a:accent6>
      <a:hlink>
        <a:srgbClr val="FF5A5F"/>
      </a:hlink>
      <a:folHlink>
        <a:srgbClr val="6C6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ildathon">
  <a:themeElements>
    <a:clrScheme name="Buildathon">
      <a:dk1>
        <a:srgbClr val="1B1F3B"/>
      </a:dk1>
      <a:lt1>
        <a:srgbClr val="FFFFFF"/>
      </a:lt1>
      <a:dk2>
        <a:srgbClr val="4A4F6B"/>
      </a:dk2>
      <a:lt2>
        <a:srgbClr val="F3F4F9"/>
      </a:lt2>
      <a:accent1>
        <a:srgbClr val="FF5A5F"/>
      </a:accent1>
      <a:accent2>
        <a:srgbClr val="FFC857"/>
      </a:accent2>
      <a:accent3>
        <a:srgbClr val="2EC4B6"/>
      </a:accent3>
      <a:accent4>
        <a:srgbClr val="6C63FF"/>
      </a:accent4>
      <a:accent5>
        <a:srgbClr val="FF8C42"/>
      </a:accent5>
      <a:accent6>
        <a:srgbClr val="9AA0B8"/>
      </a:accent6>
      <a:hlink>
        <a:srgbClr val="FF5A5F"/>
      </a:hlink>
      <a:folHlink>
        <a:srgbClr val="6C6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2026-10-21T20:21:58Z</dcterms:created>
  <dc:creator>Product Calgary</dc:creator>
</cp:coreProperties>
</file>