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gjDkW6MV6o47mJQUBEMNGasPaQO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DA3028D-0C03-4743-9075-8F35542186BE}">
  <a:tblStyle styleId="{FDA3028D-0C03-4743-9075-8F35542186B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15 seconds. “We're Team 5. CoBuild YYC helps Calgary founders fill the missing role on their project with a verified builder, so the team keeps building.” Then straight into our story.</a:t>
            </a:r>
          </a:p>
        </p:txBody>
      </p:sp>
      <p:sp>
        <p:nvSpPr>
          <p:cNvPr id="22" name="Google Shape;2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Open with the room: “Look around. Research says about two-thirds of the projects built here today will stop when the event ends.” Then give our interview number from today. Name one real team's story (with permission).</a:t>
            </a:r>
          </a:p>
        </p:txBody>
      </p:sp>
      <p:sp>
        <p:nvSpPr>
          <p:cNvPr id="32" name="Google Shape;3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Name a real person from today who fits. Stress that builders are on both sides, which avoids the classic “idea person looking for a free developer” trap. Organizers pay.</a:t>
            </a:r>
          </a:p>
        </p:txBody>
      </p:sp>
      <p:sp>
        <p:nvSpPr>
          <p:cNvPr id="56" name="Google Shape;5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Lead with proof, not profile. The moat is experience verified by every organizer; the AI just ranks. Terms (equity, paid, portfolio) are a filter, not a contract: we never process equity.</a:t>
            </a:r>
          </a:p>
        </p:txBody>
      </p:sp>
      <p:sp>
        <p:nvSpPr>
          <p:cNvPr id="83" name="Google Shape;8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Walk the maths, not the big number. Admit it's a focused market; Calgary is the beachhead, and expansion is employers paying to reach builders who ship.</a:t>
            </a:r>
          </a:p>
        </p:txBody>
      </p:sp>
      <p:sp>
        <p:nvSpPr>
          <p:cNvPr id="113" name="Google Shape;11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AI Tinkerers is the local comparison judges know (it runs at Platform Calgary). Their public pages show demo-backed profiles and a talent waitlist, but no project-role matching with availability; don't overclaim. Position them as a partner: we're the layer across every organizer, including them.</a:t>
            </a:r>
          </a:p>
        </p:txBody>
      </p:sp>
      <p:sp>
        <p:nvSpPr>
          <p:cNvPr id="143" name="Google Shape;14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Live demo first, screenshot as backup. Match a real team in the room with a real attendee who signed up this morning. Use the fast-forward button to show the day-14 check-in and organizer view. Say clearly what's mocked.</a:t>
            </a:r>
          </a:p>
        </p:txBody>
      </p:sp>
      <p:sp>
        <p:nvSpPr>
          <p:cNvPr id="162" name="Google Shape;16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Builders are always free. Organizers pay because their own metric is companies formed. Say “we assume” for every number.</a:t>
            </a:r>
          </a:p>
        </p:txBody>
      </p:sp>
      <p:sp>
        <p:nvSpPr>
          <p:cNvPr id="187" name="Google Shape;18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Name the Monday action: the Hack the Change pilot. One metric per step.</a:t>
            </a:r>
          </a:p>
        </p:txBody>
      </p:sp>
      <p:sp>
        <p:nvSpPr>
          <p:cNvPr id="214" name="Google Shape;21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End on the ask, then stop talking: a pilot slot and one intro to Platform Calgary's events team.</a:t>
            </a:r>
          </a:p>
        </p:txBody>
      </p:sp>
      <p:sp>
        <p:nvSpPr>
          <p:cNvPr id="238" name="Google Shape;23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DARK">
    <p:bg>
      <p:bgPr>
        <a:solidFill>
          <a:schemeClr val="dk1"/>
        </a:solidFill>
      </p:bgPr>
    </p:bg>
    <p:spTree>
      <p:nvGrpSpPr>
        <p:cNvPr id="11" name="Shape 11"/>
        <p:cNvGrpSpPr/>
        <p:nvPr/>
      </p:nvGrpSpPr>
      <p:grpSpPr>
        <a:xfrm>
          <a:off x="0" y="0"/>
          <a:ext cx="0" cy="0"/>
          <a:chOff x="0" y="0"/>
          <a:chExt cx="0" cy="0"/>
        </a:xfrm>
      </p:grpSpPr>
      <p:sp>
        <p:nvSpPr>
          <p:cNvPr id="12" name="Google Shape;12;p12"/>
          <p:cNvSpPr/>
          <p:nvPr/>
        </p:nvSpPr>
        <p:spPr>
          <a:xfrm>
            <a:off x="457200" y="47320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000"/>
              <a:buFont typeface="Calibri"/>
              <a:buNone/>
            </a:pPr>
            <a:r>
              <a:rPr b="0" i="0" lang="en-US" sz="1000" u="none" cap="none" strike="noStrike">
                <a:solidFill>
                  <a:schemeClr val="accent6"/>
                </a:solidFill>
                <a:latin typeface="Calibri"/>
                <a:ea typeface="Calibri"/>
                <a:cs typeface="Calibri"/>
                <a:sym typeface="Calibri"/>
              </a:rPr>
              <a:t>Product Calgary Buildathon  |  Pitch Template</a:t>
            </a:r>
            <a:endParaRPr b="0" i="0" sz="10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chemeClr val="lt1"/>
        </a:solidFill>
      </p:bgPr>
    </p:bg>
    <p:spTree>
      <p:nvGrpSpPr>
        <p:cNvPr id="13" name="Shape 13"/>
        <p:cNvGrpSpPr/>
        <p:nvPr/>
      </p:nvGrpSpPr>
      <p:grpSpPr>
        <a:xfrm>
          <a:off x="0" y="0"/>
          <a:ext cx="0" cy="0"/>
          <a:chOff x="0" y="0"/>
          <a:chExt cx="0" cy="0"/>
        </a:xfrm>
      </p:grpSpPr>
      <p:sp>
        <p:nvSpPr>
          <p:cNvPr id="14" name="Google Shape;14;p13"/>
          <p:cNvSpPr txBox="1"/>
          <p:nvPr>
            <p:ph type="title"/>
          </p:nvPr>
        </p:nvSpPr>
        <p:spPr>
          <a:xfrm>
            <a:off x="457200" y="320040"/>
            <a:ext cx="6949440" cy="64008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3000"/>
              <a:buFont typeface="Arial"/>
              <a:buNone/>
              <a:defRPr b="1" i="0" sz="30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 name="Google Shape;15;p13"/>
          <p:cNvSpPr txBox="1"/>
          <p:nvPr>
            <p:ph idx="1" type="body"/>
          </p:nvPr>
        </p:nvSpPr>
        <p:spPr>
          <a:xfrm>
            <a:off x="457200" y="960120"/>
            <a:ext cx="7772400" cy="36576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60"/>
              </a:spcBef>
              <a:spcAft>
                <a:spcPts val="0"/>
              </a:spcAft>
              <a:buClr>
                <a:schemeClr val="dk2"/>
              </a:buClr>
              <a:buSzPts val="1300"/>
              <a:buFont typeface="Arial"/>
              <a:buNone/>
              <a:defRPr b="0" i="1" sz="1300" u="none" cap="none" strike="noStrike">
                <a:solidFill>
                  <a:schemeClr val="dk2"/>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6" name="Google Shape;16;p13"/>
          <p:cNvSpPr/>
          <p:nvPr/>
        </p:nvSpPr>
        <p:spPr>
          <a:xfrm>
            <a:off x="457200" y="47320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000"/>
              <a:buFont typeface="Calibri"/>
              <a:buNone/>
            </a:pPr>
            <a:r>
              <a:rPr b="0" i="0" lang="en-US" sz="1000" u="none" cap="none" strike="noStrike">
                <a:solidFill>
                  <a:schemeClr val="accent6"/>
                </a:solidFill>
                <a:latin typeface="Calibri"/>
                <a:ea typeface="Calibri"/>
                <a:cs typeface="Calibri"/>
                <a:sym typeface="Calibri"/>
              </a:rPr>
              <a:t>Product Calgary Buildathon  |  Pitch Template</a:t>
            </a:r>
            <a:endParaRPr b="0" i="0" sz="1000" u="none" cap="none" strike="noStrike">
              <a:solidFill>
                <a:schemeClr val="dk1"/>
              </a:solidFill>
              <a:latin typeface="Calibri"/>
              <a:ea typeface="Calibri"/>
              <a:cs typeface="Calibri"/>
              <a:sym typeface="Calibri"/>
            </a:endParaRPr>
          </a:p>
        </p:txBody>
      </p:sp>
      <p:sp>
        <p:nvSpPr>
          <p:cNvPr id="17" name="Google Shape;17;p13"/>
          <p:cNvSpPr txBox="1"/>
          <p:nvPr>
            <p:ph idx="12" type="sldNum"/>
          </p:nvPr>
        </p:nvSpPr>
        <p:spPr>
          <a:xfrm>
            <a:off x="7955280" y="4732020"/>
            <a:ext cx="731520" cy="27432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1000" u="none" cap="none" strike="noStrike">
                <a:solidFill>
                  <a:schemeClr val="accent6"/>
                </a:solidFill>
                <a:latin typeface="Calibri"/>
                <a:ea typeface="Calibri"/>
                <a:cs typeface="Calibri"/>
                <a:sym typeface="Calibri"/>
              </a:defRPr>
            </a:lvl1pPr>
            <a:lvl2pPr indent="0" lvl="1" marL="0" marR="0" algn="r">
              <a:spcBef>
                <a:spcPts val="0"/>
              </a:spcBef>
              <a:buNone/>
              <a:defRPr b="0" i="0" sz="1000" u="none" cap="none" strike="noStrike">
                <a:solidFill>
                  <a:schemeClr val="accent6"/>
                </a:solidFill>
                <a:latin typeface="Calibri"/>
                <a:ea typeface="Calibri"/>
                <a:cs typeface="Calibri"/>
                <a:sym typeface="Calibri"/>
              </a:defRPr>
            </a:lvl2pPr>
            <a:lvl3pPr indent="0" lvl="2" marL="0" marR="0" algn="r">
              <a:spcBef>
                <a:spcPts val="0"/>
              </a:spcBef>
              <a:buNone/>
              <a:defRPr b="0" i="0" sz="1000" u="none" cap="none" strike="noStrike">
                <a:solidFill>
                  <a:schemeClr val="accent6"/>
                </a:solidFill>
                <a:latin typeface="Calibri"/>
                <a:ea typeface="Calibri"/>
                <a:cs typeface="Calibri"/>
                <a:sym typeface="Calibri"/>
              </a:defRPr>
            </a:lvl3pPr>
            <a:lvl4pPr indent="0" lvl="3" marL="0" marR="0" algn="r">
              <a:spcBef>
                <a:spcPts val="0"/>
              </a:spcBef>
              <a:buNone/>
              <a:defRPr b="0" i="0" sz="1000" u="none" cap="none" strike="noStrike">
                <a:solidFill>
                  <a:schemeClr val="accent6"/>
                </a:solidFill>
                <a:latin typeface="Calibri"/>
                <a:ea typeface="Calibri"/>
                <a:cs typeface="Calibri"/>
                <a:sym typeface="Calibri"/>
              </a:defRPr>
            </a:lvl4pPr>
            <a:lvl5pPr indent="0" lvl="4" marL="0" marR="0" algn="r">
              <a:spcBef>
                <a:spcPts val="0"/>
              </a:spcBef>
              <a:buNone/>
              <a:defRPr b="0" i="0" sz="1000" u="none" cap="none" strike="noStrike">
                <a:solidFill>
                  <a:schemeClr val="accent6"/>
                </a:solidFill>
                <a:latin typeface="Calibri"/>
                <a:ea typeface="Calibri"/>
                <a:cs typeface="Calibri"/>
                <a:sym typeface="Calibri"/>
              </a:defRPr>
            </a:lvl5pPr>
            <a:lvl6pPr indent="0" lvl="5" marL="0" marR="0" algn="r">
              <a:spcBef>
                <a:spcPts val="0"/>
              </a:spcBef>
              <a:buNone/>
              <a:defRPr b="0" i="0" sz="1000" u="none" cap="none" strike="noStrike">
                <a:solidFill>
                  <a:schemeClr val="accent6"/>
                </a:solidFill>
                <a:latin typeface="Calibri"/>
                <a:ea typeface="Calibri"/>
                <a:cs typeface="Calibri"/>
                <a:sym typeface="Calibri"/>
              </a:defRPr>
            </a:lvl6pPr>
            <a:lvl7pPr indent="0" lvl="6" marL="0" marR="0" algn="r">
              <a:spcBef>
                <a:spcPts val="0"/>
              </a:spcBef>
              <a:buNone/>
              <a:defRPr b="0" i="0" sz="1000" u="none" cap="none" strike="noStrike">
                <a:solidFill>
                  <a:schemeClr val="accent6"/>
                </a:solidFill>
                <a:latin typeface="Calibri"/>
                <a:ea typeface="Calibri"/>
                <a:cs typeface="Calibri"/>
                <a:sym typeface="Calibri"/>
              </a:defRPr>
            </a:lvl7pPr>
            <a:lvl8pPr indent="0" lvl="7" marL="0" marR="0" algn="r">
              <a:spcBef>
                <a:spcPts val="0"/>
              </a:spcBef>
              <a:buNone/>
              <a:defRPr b="0" i="0" sz="1000" u="none" cap="none" strike="noStrike">
                <a:solidFill>
                  <a:schemeClr val="accent6"/>
                </a:solidFill>
                <a:latin typeface="Calibri"/>
                <a:ea typeface="Calibri"/>
                <a:cs typeface="Calibri"/>
                <a:sym typeface="Calibri"/>
              </a:defRPr>
            </a:lvl8pPr>
            <a:lvl9pPr indent="0" lvl="8" marL="0" marR="0" algn="r">
              <a:spcBef>
                <a:spcPts val="0"/>
              </a:spcBef>
              <a:buNone/>
              <a:defRPr b="0" i="0" sz="1000" u="none" cap="none" strike="noStrike">
                <a:solidFill>
                  <a:schemeClr val="accent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8" name="Shape 1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1"/>
          <p:cNvSpPr txBox="1"/>
          <p:nvPr>
            <p:ph idx="12" type="sldNum"/>
          </p:nvPr>
        </p:nvSpPr>
        <p:spPr>
          <a:xfrm>
            <a:off x="7955280" y="4732020"/>
            <a:ext cx="731520" cy="27432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000" u="none" cap="none" strike="noStrike">
                <a:solidFill>
                  <a:schemeClr val="accent6"/>
                </a:solidFill>
                <a:latin typeface="Calibri"/>
                <a:ea typeface="Calibri"/>
                <a:cs typeface="Calibri"/>
                <a:sym typeface="Calibri"/>
              </a:defRPr>
            </a:lvl1pPr>
            <a:lvl2pPr indent="0" lvl="1" marL="0" marR="0" rtl="0" algn="r">
              <a:spcBef>
                <a:spcPts val="0"/>
              </a:spcBef>
              <a:buNone/>
              <a:defRPr b="0" i="0" sz="1000" u="none" cap="none" strike="noStrike">
                <a:solidFill>
                  <a:schemeClr val="accent6"/>
                </a:solidFill>
                <a:latin typeface="Calibri"/>
                <a:ea typeface="Calibri"/>
                <a:cs typeface="Calibri"/>
                <a:sym typeface="Calibri"/>
              </a:defRPr>
            </a:lvl2pPr>
            <a:lvl3pPr indent="0" lvl="2" marL="0" marR="0" rtl="0" algn="r">
              <a:spcBef>
                <a:spcPts val="0"/>
              </a:spcBef>
              <a:buNone/>
              <a:defRPr b="0" i="0" sz="1000" u="none" cap="none" strike="noStrike">
                <a:solidFill>
                  <a:schemeClr val="accent6"/>
                </a:solidFill>
                <a:latin typeface="Calibri"/>
                <a:ea typeface="Calibri"/>
                <a:cs typeface="Calibri"/>
                <a:sym typeface="Calibri"/>
              </a:defRPr>
            </a:lvl3pPr>
            <a:lvl4pPr indent="0" lvl="3" marL="0" marR="0" rtl="0" algn="r">
              <a:spcBef>
                <a:spcPts val="0"/>
              </a:spcBef>
              <a:buNone/>
              <a:defRPr b="0" i="0" sz="1000" u="none" cap="none" strike="noStrike">
                <a:solidFill>
                  <a:schemeClr val="accent6"/>
                </a:solidFill>
                <a:latin typeface="Calibri"/>
                <a:ea typeface="Calibri"/>
                <a:cs typeface="Calibri"/>
                <a:sym typeface="Calibri"/>
              </a:defRPr>
            </a:lvl4pPr>
            <a:lvl5pPr indent="0" lvl="4" marL="0" marR="0" rtl="0" algn="r">
              <a:spcBef>
                <a:spcPts val="0"/>
              </a:spcBef>
              <a:buNone/>
              <a:defRPr b="0" i="0" sz="1000" u="none" cap="none" strike="noStrike">
                <a:solidFill>
                  <a:schemeClr val="accent6"/>
                </a:solidFill>
                <a:latin typeface="Calibri"/>
                <a:ea typeface="Calibri"/>
                <a:cs typeface="Calibri"/>
                <a:sym typeface="Calibri"/>
              </a:defRPr>
            </a:lvl5pPr>
            <a:lvl6pPr indent="0" lvl="5" marL="0" marR="0" rtl="0" algn="r">
              <a:spcBef>
                <a:spcPts val="0"/>
              </a:spcBef>
              <a:buNone/>
              <a:defRPr b="0" i="0" sz="1000" u="none" cap="none" strike="noStrike">
                <a:solidFill>
                  <a:schemeClr val="accent6"/>
                </a:solidFill>
                <a:latin typeface="Calibri"/>
                <a:ea typeface="Calibri"/>
                <a:cs typeface="Calibri"/>
                <a:sym typeface="Calibri"/>
              </a:defRPr>
            </a:lvl6pPr>
            <a:lvl7pPr indent="0" lvl="6" marL="0" marR="0" rtl="0" algn="r">
              <a:spcBef>
                <a:spcPts val="0"/>
              </a:spcBef>
              <a:buNone/>
              <a:defRPr b="0" i="0" sz="1000" u="none" cap="none" strike="noStrike">
                <a:solidFill>
                  <a:schemeClr val="accent6"/>
                </a:solidFill>
                <a:latin typeface="Calibri"/>
                <a:ea typeface="Calibri"/>
                <a:cs typeface="Calibri"/>
                <a:sym typeface="Calibri"/>
              </a:defRPr>
            </a:lvl7pPr>
            <a:lvl8pPr indent="0" lvl="7" marL="0" marR="0" rtl="0" algn="r">
              <a:spcBef>
                <a:spcPts val="0"/>
              </a:spcBef>
              <a:buNone/>
              <a:defRPr b="0" i="0" sz="1000" u="none" cap="none" strike="noStrike">
                <a:solidFill>
                  <a:schemeClr val="accent6"/>
                </a:solidFill>
                <a:latin typeface="Calibri"/>
                <a:ea typeface="Calibri"/>
                <a:cs typeface="Calibri"/>
                <a:sym typeface="Calibri"/>
              </a:defRPr>
            </a:lvl8pPr>
            <a:lvl9pPr indent="0" lvl="8" marL="0" marR="0" rtl="0" algn="r">
              <a:spcBef>
                <a:spcPts val="0"/>
              </a:spcBef>
              <a:buNone/>
              <a:defRPr b="0" i="0" sz="1000" u="none" cap="none" strike="noStrike">
                <a:solidFill>
                  <a:schemeClr val="accent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 name="Shape 23"/>
        <p:cNvGrpSpPr/>
        <p:nvPr/>
      </p:nvGrpSpPr>
      <p:grpSpPr>
        <a:xfrm>
          <a:off x="0" y="0"/>
          <a:ext cx="0" cy="0"/>
          <a:chOff x="0" y="0"/>
          <a:chExt cx="0" cy="0"/>
        </a:xfrm>
      </p:grpSpPr>
      <p:sp>
        <p:nvSpPr>
          <p:cNvPr id="24" name="Google Shape;24;p1"/>
          <p:cNvSpPr txBox="1"/>
          <p:nvPr/>
        </p:nvSpPr>
        <p:spPr>
          <a:xfrm>
            <a:off x="457200" y="548640"/>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lang="en-US" sz="2500">
                <a:solidFill>
                  <a:srgbClr val="00D9C7"/>
                </a:solidFill>
                <a:latin typeface="Calibri"/>
                <a:ea typeface="Calibri"/>
                <a:cs typeface="Calibri"/>
                <a:sym typeface="Calibri"/>
              </a:rPr>
              <a:t>BUILDYYC</a:t>
            </a:r>
            <a:endParaRPr b="0" i="0" sz="2500" u="none" cap="none" strike="noStrike">
              <a:solidFill>
                <a:srgbClr val="00D9C7"/>
              </a:solidFill>
              <a:latin typeface="Calibri"/>
              <a:ea typeface="Calibri"/>
              <a:cs typeface="Calibri"/>
              <a:sym typeface="Calibri"/>
            </a:endParaRPr>
          </a:p>
        </p:txBody>
      </p:sp>
      <p:sp>
        <p:nvSpPr>
          <p:cNvPr id="25" name="Google Shape;25;p1"/>
          <p:cNvSpPr txBox="1"/>
          <p:nvPr/>
        </p:nvSpPr>
        <p:spPr>
          <a:xfrm>
            <a:off x="457200" y="1234440"/>
            <a:ext cx="59436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4800"/>
              <a:buFont typeface="Calibri"/>
              <a:buNone/>
            </a:pPr>
            <a:r>
              <a:rPr b="1" i="0" lang="en-US" sz="4800" u="none" cap="none" strike="noStrike">
                <a:solidFill>
                  <a:schemeClr val="lt1"/>
                </a:solidFill>
                <a:latin typeface="Calibri"/>
                <a:ea typeface="Calibri"/>
                <a:cs typeface="Calibri"/>
                <a:sym typeface="Calibri"/>
              </a:rPr>
              <a:t>CoBuild YYC</a:t>
            </a:r>
            <a:endParaRPr b="0" i="0" sz="4800" u="none" cap="none" strike="noStrike">
              <a:solidFill>
                <a:schemeClr val="dk1"/>
              </a:solidFill>
              <a:latin typeface="Calibri"/>
              <a:ea typeface="Calibri"/>
              <a:cs typeface="Calibri"/>
              <a:sym typeface="Calibri"/>
            </a:endParaRPr>
          </a:p>
        </p:txBody>
      </p:sp>
      <p:sp>
        <p:nvSpPr>
          <p:cNvPr id="26" name="Google Shape;26;p1"/>
          <p:cNvSpPr txBox="1"/>
          <p:nvPr/>
        </p:nvSpPr>
        <p:spPr>
          <a:xfrm>
            <a:off x="457200" y="2194560"/>
            <a:ext cx="594360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800"/>
              <a:buFont typeface="Calibri"/>
              <a:buNone/>
            </a:pPr>
            <a:r>
              <a:rPr b="0" i="1" lang="en-US" sz="1800" u="none" cap="none" strike="noStrike">
                <a:solidFill>
                  <a:schemeClr val="accent6"/>
                </a:solidFill>
                <a:latin typeface="Calibri"/>
                <a:ea typeface="Calibri"/>
                <a:cs typeface="Calibri"/>
                <a:sym typeface="Calibri"/>
              </a:rPr>
              <a:t>We help Calgary founders fill the missing role on their project with a verified builder, so the team keeps building.</a:t>
            </a:r>
            <a:endParaRPr b="0" i="0" sz="1800" u="none" cap="none" strike="noStrike">
              <a:solidFill>
                <a:schemeClr val="dk1"/>
              </a:solidFill>
              <a:latin typeface="Calibri"/>
              <a:ea typeface="Calibri"/>
              <a:cs typeface="Calibri"/>
              <a:sym typeface="Calibri"/>
            </a:endParaRPr>
          </a:p>
        </p:txBody>
      </p:sp>
      <p:sp>
        <p:nvSpPr>
          <p:cNvPr id="27" name="Google Shape;27;p1"/>
          <p:cNvSpPr txBox="1"/>
          <p:nvPr/>
        </p:nvSpPr>
        <p:spPr>
          <a:xfrm>
            <a:off x="457200" y="3246120"/>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Team 5</a:t>
            </a:r>
            <a:endParaRPr b="0" i="0" sz="1600" u="none" cap="none" strike="noStrike">
              <a:solidFill>
                <a:schemeClr val="dk1"/>
              </a:solidFill>
              <a:latin typeface="Calibri"/>
              <a:ea typeface="Calibri"/>
              <a:cs typeface="Calibri"/>
              <a:sym typeface="Calibri"/>
            </a:endParaRPr>
          </a:p>
        </p:txBody>
      </p:sp>
      <p:sp>
        <p:nvSpPr>
          <p:cNvPr id="28" name="Google Shape;28;p1"/>
          <p:cNvSpPr txBox="1"/>
          <p:nvPr/>
        </p:nvSpPr>
        <p:spPr>
          <a:xfrm>
            <a:off x="457200" y="3611880"/>
            <a:ext cx="5943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300"/>
              <a:buFont typeface="Calibri"/>
              <a:buNone/>
            </a:pPr>
            <a:r>
              <a:rPr b="0" i="0" lang="en-US" sz="1300" u="none" cap="none" strike="noStrike">
                <a:solidFill>
                  <a:schemeClr val="accent6"/>
                </a:solidFill>
                <a:latin typeface="Calibri"/>
                <a:ea typeface="Calibri"/>
                <a:cs typeface="Calibri"/>
                <a:sym typeface="Calibri"/>
              </a:rPr>
              <a:t>Leo Cherupushpam · Michio Babcock · [Member 3] · [Member 4]</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 name="Shape 33"/>
        <p:cNvGrpSpPr/>
        <p:nvPr/>
      </p:nvGrpSpPr>
      <p:grpSpPr>
        <a:xfrm>
          <a:off x="0" y="0"/>
          <a:ext cx="0" cy="0"/>
          <a:chOff x="0" y="0"/>
          <a:chExt cx="0" cy="0"/>
        </a:xfrm>
      </p:grpSpPr>
      <p:sp>
        <p:nvSpPr>
          <p:cNvPr id="34" name="Google Shape;34;p2"/>
          <p:cNvSpPr txBox="1"/>
          <p:nvPr>
            <p:ph type="title"/>
          </p:nvPr>
        </p:nvSpPr>
        <p:spPr>
          <a:xfrm>
            <a:off x="457200" y="320040"/>
            <a:ext cx="6949440" cy="6400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rgbClr val="012C3E"/>
                </a:solidFill>
              </a:rPr>
              <a:t>The Problem</a:t>
            </a:r>
            <a:endParaRPr sz="3000">
              <a:solidFill>
                <a:srgbClr val="012C3E"/>
              </a:solidFill>
            </a:endParaRPr>
          </a:p>
        </p:txBody>
      </p:sp>
      <p:sp>
        <p:nvSpPr>
          <p:cNvPr id="35" name="Google Shape;35;p2"/>
          <p:cNvSpPr txBox="1"/>
          <p:nvPr>
            <p:ph idx="1" type="body"/>
          </p:nvPr>
        </p:nvSpPr>
        <p:spPr>
          <a:xfrm>
            <a:off x="457200" y="960120"/>
            <a:ext cx="7772400" cy="3657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300"/>
              <a:buNone/>
            </a:pPr>
            <a:r>
              <a:rPr i="1" lang="en-US" sz="1300">
                <a:solidFill>
                  <a:schemeClr val="dk2"/>
                </a:solidFill>
              </a:rPr>
              <a:t>Most projects built at events like this one are dead within a week, often because the team is one skill short.</a:t>
            </a:r>
            <a:endParaRPr sz="1300"/>
          </a:p>
        </p:txBody>
      </p:sp>
      <p:sp>
        <p:nvSpPr>
          <p:cNvPr id="36" name="Google Shape;36;p2"/>
          <p:cNvSpPr/>
          <p:nvPr/>
        </p:nvSpPr>
        <p:spPr>
          <a:xfrm>
            <a:off x="457200" y="1463040"/>
            <a:ext cx="2743200" cy="3108960"/>
          </a:xfrm>
          <a:prstGeom prst="roundRect">
            <a:avLst>
              <a:gd fmla="val 4000"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640080" y="1645920"/>
            <a:ext cx="411480" cy="411480"/>
          </a:xfrm>
          <a:prstGeom prst="ellipse">
            <a:avLst/>
          </a:prstGeom>
          <a:solidFill>
            <a:srgbClr val="00D9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8" name="Google Shape;38;p2"/>
          <p:cNvPicPr preferRelativeResize="0"/>
          <p:nvPr/>
        </p:nvPicPr>
        <p:blipFill rotWithShape="1">
          <a:blip r:embed="rId3">
            <a:alphaModFix/>
          </a:blip>
          <a:srcRect b="0" l="0" r="0" t="0"/>
          <a:stretch/>
        </p:blipFill>
        <p:spPr>
          <a:xfrm>
            <a:off x="731520" y="1737360"/>
            <a:ext cx="228600" cy="228600"/>
          </a:xfrm>
          <a:prstGeom prst="rect">
            <a:avLst/>
          </a:prstGeom>
          <a:noFill/>
          <a:ln>
            <a:noFill/>
          </a:ln>
        </p:spPr>
      </p:pic>
      <p:sp>
        <p:nvSpPr>
          <p:cNvPr id="39" name="Google Shape;39;p2"/>
          <p:cNvSpPr txBox="1"/>
          <p:nvPr/>
        </p:nvSpPr>
        <p:spPr>
          <a:xfrm>
            <a:off x="1170432" y="1645920"/>
            <a:ext cx="1874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100"/>
              <a:buFont typeface="Calibri"/>
              <a:buNone/>
            </a:pPr>
            <a:r>
              <a:rPr b="1" i="0" lang="en-US" sz="1100" u="none" cap="none" strike="noStrike">
                <a:solidFill>
                  <a:srgbClr val="00D9C7"/>
                </a:solidFill>
                <a:latin typeface="Calibri"/>
                <a:ea typeface="Calibri"/>
                <a:cs typeface="Calibri"/>
                <a:sym typeface="Calibri"/>
              </a:rPr>
              <a:t>THE EVIDENCE</a:t>
            </a:r>
            <a:endParaRPr b="0" i="0" sz="1100" u="none" cap="none" strike="noStrike">
              <a:solidFill>
                <a:srgbClr val="00D9C7"/>
              </a:solidFill>
              <a:latin typeface="Calibri"/>
              <a:ea typeface="Calibri"/>
              <a:cs typeface="Calibri"/>
              <a:sym typeface="Calibri"/>
            </a:endParaRPr>
          </a:p>
        </p:txBody>
      </p:sp>
      <p:sp>
        <p:nvSpPr>
          <p:cNvPr id="40" name="Google Shape;40;p2"/>
          <p:cNvSpPr txBox="1"/>
          <p:nvPr/>
        </p:nvSpPr>
        <p:spPr>
          <a:xfrm>
            <a:off x="640080" y="2194560"/>
            <a:ext cx="2377440" cy="21945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~65% of hackathon projects stop when the event ends (Nolte, 2020)</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Skill diversity predicts which projects survive</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[__ of __ teams we interviewed today lost a project to a missing role]</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[Our story: a project died missing a ___; a cofounder search failed after ___]</a:t>
            </a:r>
            <a:endParaRPr b="0" i="0" sz="1250" u="none" cap="none" strike="noStrike">
              <a:solidFill>
                <a:schemeClr val="dk1"/>
              </a:solidFill>
              <a:latin typeface="Calibri"/>
              <a:ea typeface="Calibri"/>
              <a:cs typeface="Calibri"/>
              <a:sym typeface="Calibri"/>
            </a:endParaRPr>
          </a:p>
        </p:txBody>
      </p:sp>
      <p:sp>
        <p:nvSpPr>
          <p:cNvPr id="41" name="Google Shape;41;p2"/>
          <p:cNvSpPr/>
          <p:nvPr/>
        </p:nvSpPr>
        <p:spPr>
          <a:xfrm>
            <a:off x="3474720" y="1463040"/>
            <a:ext cx="5212080" cy="1417320"/>
          </a:xfrm>
          <a:prstGeom prst="roundRect">
            <a:avLst>
              <a:gd fmla="val 6452" name="adj"/>
            </a:avLst>
          </a:prstGeom>
          <a:solidFill>
            <a:schemeClr val="lt1"/>
          </a:solidFill>
          <a:ln cap="flat" cmpd="sng" w="15875">
            <a:solidFill>
              <a:schemeClr val="accent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txBox="1"/>
          <p:nvPr/>
        </p:nvSpPr>
        <p:spPr>
          <a:xfrm>
            <a:off x="3657600" y="1600200"/>
            <a:ext cx="484632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The pain</a:t>
            </a:r>
            <a:endParaRPr b="0" i="0" sz="1400" u="none" cap="none" strike="noStrike">
              <a:solidFill>
                <a:schemeClr val="dk1"/>
              </a:solidFill>
              <a:latin typeface="Calibri"/>
              <a:ea typeface="Calibri"/>
              <a:cs typeface="Calibri"/>
              <a:sym typeface="Calibri"/>
            </a:endParaRPr>
          </a:p>
        </p:txBody>
      </p:sp>
      <p:sp>
        <p:nvSpPr>
          <p:cNvPr id="43" name="Google Shape;43;p2"/>
          <p:cNvSpPr txBox="1"/>
          <p:nvPr/>
        </p:nvSpPr>
        <p:spPr>
          <a:xfrm>
            <a:off x="3657600" y="1938528"/>
            <a:ext cx="484632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A team leaves a buildathon with a working demo and one gap: no backend dev, no designer, no PM with time. Within days the momentum is gone and the project quietly dies.</a:t>
            </a:r>
            <a:endParaRPr b="0" i="0" sz="1200" u="none" cap="none" strike="noStrike">
              <a:solidFill>
                <a:schemeClr val="dk1"/>
              </a:solidFill>
              <a:latin typeface="Calibri"/>
              <a:ea typeface="Calibri"/>
              <a:cs typeface="Calibri"/>
              <a:sym typeface="Calibri"/>
            </a:endParaRPr>
          </a:p>
        </p:txBody>
      </p:sp>
      <p:sp>
        <p:nvSpPr>
          <p:cNvPr id="44" name="Google Shape;44;p2"/>
          <p:cNvSpPr/>
          <p:nvPr/>
        </p:nvSpPr>
        <p:spPr>
          <a:xfrm>
            <a:off x="3474720" y="3063240"/>
            <a:ext cx="2514600" cy="1508760"/>
          </a:xfrm>
          <a:prstGeom prst="roundRect">
            <a:avLst>
              <a:gd fmla="val 6061" name="adj"/>
            </a:avLst>
          </a:prstGeom>
          <a:solidFill>
            <a:schemeClr val="lt1"/>
          </a:solidFill>
          <a:ln cap="flat" cmpd="sng" w="15875">
            <a:solidFill>
              <a:schemeClr val="accent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txBox="1"/>
          <p:nvPr/>
        </p:nvSpPr>
        <p:spPr>
          <a:xfrm>
            <a:off x="3657600" y="3200400"/>
            <a:ext cx="21488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How it's solved today</a:t>
            </a:r>
            <a:endParaRPr b="0" i="0" sz="1400" u="none" cap="none" strike="noStrike">
              <a:solidFill>
                <a:schemeClr val="dk1"/>
              </a:solidFill>
              <a:latin typeface="Calibri"/>
              <a:ea typeface="Calibri"/>
              <a:cs typeface="Calibri"/>
              <a:sym typeface="Calibri"/>
            </a:endParaRPr>
          </a:p>
        </p:txBody>
      </p:sp>
      <p:sp>
        <p:nvSpPr>
          <p:cNvPr id="46" name="Google Shape;46;p2"/>
          <p:cNvSpPr txBox="1"/>
          <p:nvPr/>
        </p:nvSpPr>
        <p:spPr>
          <a:xfrm>
            <a:off x="3657600" y="3538728"/>
            <a:ext cx="21488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Slack and Discord posts, LinkedIn, asking friends, waiting for the next event. Or doing nothing.</a:t>
            </a:r>
            <a:endParaRPr b="0" i="0" sz="1200" u="none" cap="none" strike="noStrike">
              <a:solidFill>
                <a:schemeClr val="dk1"/>
              </a:solidFill>
              <a:latin typeface="Calibri"/>
              <a:ea typeface="Calibri"/>
              <a:cs typeface="Calibri"/>
              <a:sym typeface="Calibri"/>
            </a:endParaRPr>
          </a:p>
        </p:txBody>
      </p:sp>
      <p:sp>
        <p:nvSpPr>
          <p:cNvPr id="47" name="Google Shape;47;p2"/>
          <p:cNvSpPr/>
          <p:nvPr/>
        </p:nvSpPr>
        <p:spPr>
          <a:xfrm>
            <a:off x="6172200" y="3063240"/>
            <a:ext cx="2514600" cy="1508760"/>
          </a:xfrm>
          <a:prstGeom prst="roundRect">
            <a:avLst>
              <a:gd fmla="val 6061" name="adj"/>
            </a:avLst>
          </a:prstGeom>
          <a:solidFill>
            <a:schemeClr val="lt1"/>
          </a:solidFill>
          <a:ln cap="flat" cmpd="sng" w="15875">
            <a:solidFill>
              <a:schemeClr val="accent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txBox="1"/>
          <p:nvPr/>
        </p:nvSpPr>
        <p:spPr>
          <a:xfrm>
            <a:off x="6355080" y="3200400"/>
            <a:ext cx="21488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Cost of the problem</a:t>
            </a:r>
            <a:endParaRPr b="0" i="0" sz="1400" u="none" cap="none" strike="noStrike">
              <a:solidFill>
                <a:schemeClr val="dk1"/>
              </a:solidFill>
              <a:latin typeface="Calibri"/>
              <a:ea typeface="Calibri"/>
              <a:cs typeface="Calibri"/>
              <a:sym typeface="Calibri"/>
            </a:endParaRPr>
          </a:p>
        </p:txBody>
      </p:sp>
      <p:sp>
        <p:nvSpPr>
          <p:cNvPr id="49" name="Google Shape;49;p2"/>
          <p:cNvSpPr txBox="1"/>
          <p:nvPr/>
        </p:nvSpPr>
        <p:spPr>
          <a:xfrm>
            <a:off x="6355080" y="3538728"/>
            <a:ext cx="21488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Abandoned projects and weeks of searching. For organizers: talent and future companies leak out of the ecosystem.</a:t>
            </a:r>
            <a:endParaRPr b="0" i="0" sz="1200" u="none" cap="none" strike="noStrike">
              <a:solidFill>
                <a:schemeClr val="dk1"/>
              </a:solidFill>
              <a:latin typeface="Calibri"/>
              <a:ea typeface="Calibri"/>
              <a:cs typeface="Calibri"/>
              <a:sym typeface="Calibri"/>
            </a:endParaRPr>
          </a:p>
        </p:txBody>
      </p:sp>
      <p:sp>
        <p:nvSpPr>
          <p:cNvPr id="50" name="Google Shape;50;p2"/>
          <p:cNvSpPr txBox="1"/>
          <p:nvPr>
            <p:ph idx="4294967295" type="sldNum"/>
          </p:nvPr>
        </p:nvSpPr>
        <p:spPr>
          <a:xfrm>
            <a:off x="7955280" y="4732020"/>
            <a:ext cx="73152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
        <p:nvSpPr>
          <p:cNvPr id="51" name="Google Shape;51;p2"/>
          <p:cNvSpPr/>
          <p:nvPr/>
        </p:nvSpPr>
        <p:spPr>
          <a:xfrm>
            <a:off x="7589520" y="411480"/>
            <a:ext cx="1097400" cy="411600"/>
          </a:xfrm>
          <a:prstGeom prst="roundRect">
            <a:avLst>
              <a:gd fmla="val 48889" name="adj"/>
            </a:avLst>
          </a:prstGeom>
          <a:solidFill>
            <a:srgbClr val="00D9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txBox="1"/>
          <p:nvPr/>
        </p:nvSpPr>
        <p:spPr>
          <a:xfrm>
            <a:off x="7704024" y="411475"/>
            <a:ext cx="8685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Slide </a:t>
            </a:r>
            <a:r>
              <a:rPr b="1" lang="en-US" sz="1100">
                <a:solidFill>
                  <a:schemeClr val="lt1"/>
                </a:solidFill>
                <a:latin typeface="Calibri"/>
                <a:ea typeface="Calibri"/>
                <a:cs typeface="Calibri"/>
                <a:sym typeface="Calibri"/>
              </a:rPr>
              <a:t>2</a:t>
            </a:r>
            <a:r>
              <a:rPr b="1" i="0" lang="en-US" sz="1100" u="none" cap="none" strike="noStrike">
                <a:solidFill>
                  <a:schemeClr val="lt1"/>
                </a:solidFill>
                <a:latin typeface="Calibri"/>
                <a:ea typeface="Calibri"/>
                <a:cs typeface="Calibri"/>
                <a:sym typeface="Calibri"/>
              </a:rPr>
              <a:t> of 10</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3"/>
          <p:cNvSpPr txBox="1"/>
          <p:nvPr>
            <p:ph type="title"/>
          </p:nvPr>
        </p:nvSpPr>
        <p:spPr>
          <a:xfrm>
            <a:off x="457200" y="320040"/>
            <a:ext cx="6949440" cy="6400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rgbClr val="012C3E"/>
                </a:solidFill>
              </a:rPr>
              <a:t>Ideal Customer Profile (ICP)</a:t>
            </a:r>
            <a:endParaRPr sz="3000">
              <a:solidFill>
                <a:srgbClr val="012C3E"/>
              </a:solidFill>
            </a:endParaRPr>
          </a:p>
        </p:txBody>
      </p:sp>
      <p:sp>
        <p:nvSpPr>
          <p:cNvPr id="59" name="Google Shape;59;p3"/>
          <p:cNvSpPr txBox="1"/>
          <p:nvPr>
            <p:ph idx="1" type="body"/>
          </p:nvPr>
        </p:nvSpPr>
        <p:spPr>
          <a:xfrm>
            <a:off x="457200" y="960120"/>
            <a:ext cx="7772400" cy="3657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300"/>
              <a:buNone/>
            </a:pPr>
            <a:r>
              <a:rPr i="1" lang="en-US" sz="1300">
                <a:solidFill>
                  <a:schemeClr val="dk2"/>
                </a:solidFill>
              </a:rPr>
              <a:t>Our first customer: a Calgary founder or builder with a live project and exactly one missing role.</a:t>
            </a:r>
            <a:endParaRPr sz="1300"/>
          </a:p>
        </p:txBody>
      </p:sp>
      <p:sp>
        <p:nvSpPr>
          <p:cNvPr id="60" name="Google Shape;60;p3"/>
          <p:cNvSpPr/>
          <p:nvPr/>
        </p:nvSpPr>
        <p:spPr>
          <a:xfrm>
            <a:off x="7589520" y="411480"/>
            <a:ext cx="1097280" cy="411480"/>
          </a:xfrm>
          <a:prstGeom prst="roundRect">
            <a:avLst>
              <a:gd fmla="val 48889" name="adj"/>
            </a:avLst>
          </a:prstGeom>
          <a:solidFill>
            <a:srgbClr val="00D9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txBox="1"/>
          <p:nvPr/>
        </p:nvSpPr>
        <p:spPr>
          <a:xfrm>
            <a:off x="7704024" y="411475"/>
            <a:ext cx="8685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Slide 3 of 10</a:t>
            </a:r>
            <a:endParaRPr b="0" i="0" sz="1100" u="none" cap="none" strike="noStrike">
              <a:solidFill>
                <a:schemeClr val="dk1"/>
              </a:solidFill>
              <a:latin typeface="Calibri"/>
              <a:ea typeface="Calibri"/>
              <a:cs typeface="Calibri"/>
              <a:sym typeface="Calibri"/>
            </a:endParaRPr>
          </a:p>
        </p:txBody>
      </p:sp>
      <p:sp>
        <p:nvSpPr>
          <p:cNvPr id="62" name="Google Shape;62;p3"/>
          <p:cNvSpPr/>
          <p:nvPr/>
        </p:nvSpPr>
        <p:spPr>
          <a:xfrm>
            <a:off x="457200" y="1463040"/>
            <a:ext cx="2743200" cy="3108960"/>
          </a:xfrm>
          <a:prstGeom prst="roundRect">
            <a:avLst>
              <a:gd fmla="val 4000"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640080" y="1645920"/>
            <a:ext cx="411480" cy="411480"/>
          </a:xfrm>
          <a:prstGeom prst="ellipse">
            <a:avLst/>
          </a:prstGeom>
          <a:solidFill>
            <a:srgbClr val="00D9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4" name="Google Shape;64;p3"/>
          <p:cNvPicPr preferRelativeResize="0"/>
          <p:nvPr/>
        </p:nvPicPr>
        <p:blipFill rotWithShape="1">
          <a:blip r:embed="rId3">
            <a:alphaModFix/>
          </a:blip>
          <a:srcRect b="0" l="0" r="0" t="0"/>
          <a:stretch/>
        </p:blipFill>
        <p:spPr>
          <a:xfrm>
            <a:off x="731520" y="1737360"/>
            <a:ext cx="228600" cy="228600"/>
          </a:xfrm>
          <a:prstGeom prst="rect">
            <a:avLst/>
          </a:prstGeom>
          <a:noFill/>
          <a:ln>
            <a:noFill/>
          </a:ln>
        </p:spPr>
      </p:pic>
      <p:sp>
        <p:nvSpPr>
          <p:cNvPr id="65" name="Google Shape;65;p3"/>
          <p:cNvSpPr txBox="1"/>
          <p:nvPr/>
        </p:nvSpPr>
        <p:spPr>
          <a:xfrm>
            <a:off x="1170432" y="1645920"/>
            <a:ext cx="1874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100"/>
              <a:buFont typeface="Calibri"/>
              <a:buNone/>
            </a:pPr>
            <a:r>
              <a:rPr b="1" i="0" lang="en-US" sz="1100" u="none" cap="none" strike="noStrike">
                <a:solidFill>
                  <a:srgbClr val="00D9C7"/>
                </a:solidFill>
                <a:latin typeface="Calibri"/>
                <a:ea typeface="Calibri"/>
                <a:cs typeface="Calibri"/>
                <a:sym typeface="Calibri"/>
              </a:rPr>
              <a:t>WHY THEM FIRST</a:t>
            </a:r>
            <a:endParaRPr b="0" i="0" sz="1100" u="none" cap="none" strike="noStrike">
              <a:solidFill>
                <a:srgbClr val="00D9C7"/>
              </a:solidFill>
              <a:latin typeface="Calibri"/>
              <a:ea typeface="Calibri"/>
              <a:cs typeface="Calibri"/>
              <a:sym typeface="Calibri"/>
            </a:endParaRPr>
          </a:p>
        </p:txBody>
      </p:sp>
      <p:sp>
        <p:nvSpPr>
          <p:cNvPr id="66" name="Google Shape;66;p3"/>
          <p:cNvSpPr txBox="1"/>
          <p:nvPr/>
        </p:nvSpPr>
        <p:spPr>
          <a:xfrm>
            <a:off x="640080" y="2194560"/>
            <a:ext cx="2377440" cy="21945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They hit this pain within 48 hours of every event</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1,000+ builders a year at Calgary hackathons</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A tight beachhead: they talk to each other</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Builders on both sides: no “idea person seeks free dev” trap</a:t>
            </a:r>
            <a:endParaRPr b="0" i="0" sz="1250" u="none" cap="none" strike="noStrike">
              <a:solidFill>
                <a:schemeClr val="dk1"/>
              </a:solidFill>
              <a:latin typeface="Calibri"/>
              <a:ea typeface="Calibri"/>
              <a:cs typeface="Calibri"/>
              <a:sym typeface="Calibri"/>
            </a:endParaRPr>
          </a:p>
        </p:txBody>
      </p:sp>
      <p:sp>
        <p:nvSpPr>
          <p:cNvPr id="67" name="Google Shape;67;p3"/>
          <p:cNvSpPr/>
          <p:nvPr/>
        </p:nvSpPr>
        <p:spPr>
          <a:xfrm>
            <a:off x="3474720" y="1463040"/>
            <a:ext cx="2514600" cy="1508760"/>
          </a:xfrm>
          <a:prstGeom prst="roundRect">
            <a:avLst>
              <a:gd fmla="val 6061" name="adj"/>
            </a:avLst>
          </a:prstGeom>
          <a:solidFill>
            <a:schemeClr val="lt1"/>
          </a:solidFill>
          <a:ln cap="flat" cmpd="sng" w="15875">
            <a:solidFill>
              <a:schemeClr val="accent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txBox="1"/>
          <p:nvPr/>
        </p:nvSpPr>
        <p:spPr>
          <a:xfrm>
            <a:off x="3657600" y="1600200"/>
            <a:ext cx="21488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Who they are</a:t>
            </a:r>
            <a:endParaRPr b="0" i="0" sz="1400" u="none" cap="none" strike="noStrike">
              <a:solidFill>
                <a:schemeClr val="dk1"/>
              </a:solidFill>
              <a:latin typeface="Calibri"/>
              <a:ea typeface="Calibri"/>
              <a:cs typeface="Calibri"/>
              <a:sym typeface="Calibri"/>
            </a:endParaRPr>
          </a:p>
        </p:txBody>
      </p:sp>
      <p:sp>
        <p:nvSpPr>
          <p:cNvPr id="69" name="Google Shape;69;p3"/>
          <p:cNvSpPr txBox="1"/>
          <p:nvPr/>
        </p:nvSpPr>
        <p:spPr>
          <a:xfrm>
            <a:off x="3657600" y="1938528"/>
            <a:ext cx="21488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Founders, students, new grads and early-career devs, designers and PMs at UCalgary, SAIT, MRU and Calgary startups.</a:t>
            </a:r>
            <a:endParaRPr b="0" i="0" sz="1200" u="none" cap="none" strike="noStrike">
              <a:solidFill>
                <a:schemeClr val="dk1"/>
              </a:solidFill>
              <a:latin typeface="Calibri"/>
              <a:ea typeface="Calibri"/>
              <a:cs typeface="Calibri"/>
              <a:sym typeface="Calibri"/>
            </a:endParaRPr>
          </a:p>
        </p:txBody>
      </p:sp>
      <p:sp>
        <p:nvSpPr>
          <p:cNvPr id="70" name="Google Shape;70;p3"/>
          <p:cNvSpPr/>
          <p:nvPr/>
        </p:nvSpPr>
        <p:spPr>
          <a:xfrm>
            <a:off x="6172200" y="1463040"/>
            <a:ext cx="2514600" cy="1508760"/>
          </a:xfrm>
          <a:prstGeom prst="roundRect">
            <a:avLst>
              <a:gd fmla="val 6061" name="adj"/>
            </a:avLst>
          </a:prstGeom>
          <a:solidFill>
            <a:schemeClr val="lt1"/>
          </a:solidFill>
          <a:ln cap="flat" cmpd="sng" w="15875">
            <a:solidFill>
              <a:schemeClr val="accent3"/>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txBox="1"/>
          <p:nvPr/>
        </p:nvSpPr>
        <p:spPr>
          <a:xfrm>
            <a:off x="6355080" y="1600200"/>
            <a:ext cx="21488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Their trigger</a:t>
            </a:r>
            <a:endParaRPr b="0" i="0" sz="1400" u="none" cap="none" strike="noStrike">
              <a:solidFill>
                <a:schemeClr val="dk1"/>
              </a:solidFill>
              <a:latin typeface="Calibri"/>
              <a:ea typeface="Calibri"/>
              <a:cs typeface="Calibri"/>
              <a:sym typeface="Calibri"/>
            </a:endParaRPr>
          </a:p>
        </p:txBody>
      </p:sp>
      <p:sp>
        <p:nvSpPr>
          <p:cNvPr id="72" name="Google Shape;72;p3"/>
          <p:cNvSpPr txBox="1"/>
          <p:nvPr/>
        </p:nvSpPr>
        <p:spPr>
          <a:xfrm>
            <a:off x="6355080" y="1938528"/>
            <a:ext cx="21488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The 48 hours after a hackathon or meetup: the demo works, but a role is missing.</a:t>
            </a:r>
            <a:endParaRPr b="0" i="0" sz="1200" u="none" cap="none" strike="noStrike">
              <a:solidFill>
                <a:schemeClr val="dk1"/>
              </a:solidFill>
              <a:latin typeface="Calibri"/>
              <a:ea typeface="Calibri"/>
              <a:cs typeface="Calibri"/>
              <a:sym typeface="Calibri"/>
            </a:endParaRPr>
          </a:p>
        </p:txBody>
      </p:sp>
      <p:sp>
        <p:nvSpPr>
          <p:cNvPr id="73" name="Google Shape;73;p3"/>
          <p:cNvSpPr/>
          <p:nvPr/>
        </p:nvSpPr>
        <p:spPr>
          <a:xfrm>
            <a:off x="3474720" y="3063240"/>
            <a:ext cx="2514600" cy="1508760"/>
          </a:xfrm>
          <a:prstGeom prst="roundRect">
            <a:avLst>
              <a:gd fmla="val 6061" name="adj"/>
            </a:avLst>
          </a:prstGeom>
          <a:solidFill>
            <a:schemeClr val="lt1"/>
          </a:solidFill>
          <a:ln cap="flat" cmpd="sng" w="15875">
            <a:solidFill>
              <a:schemeClr val="accent4"/>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txBox="1"/>
          <p:nvPr/>
        </p:nvSpPr>
        <p:spPr>
          <a:xfrm>
            <a:off x="3657600" y="3200400"/>
            <a:ext cx="21488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Where to find them</a:t>
            </a:r>
            <a:endParaRPr b="0" i="0" sz="1400" u="none" cap="none" strike="noStrike">
              <a:solidFill>
                <a:schemeClr val="dk1"/>
              </a:solidFill>
              <a:latin typeface="Calibri"/>
              <a:ea typeface="Calibri"/>
              <a:cs typeface="Calibri"/>
              <a:sym typeface="Calibri"/>
            </a:endParaRPr>
          </a:p>
        </p:txBody>
      </p:sp>
      <p:sp>
        <p:nvSpPr>
          <p:cNvPr id="75" name="Google Shape;75;p3"/>
          <p:cNvSpPr txBox="1"/>
          <p:nvPr/>
        </p:nvSpPr>
        <p:spPr>
          <a:xfrm>
            <a:off x="3657600" y="3538728"/>
            <a:ext cx="21488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BuildYYC, CalgaryHacks, Hack the Change, Product Calgary meetups, Platform Calgary, campus clubs.</a:t>
            </a:r>
            <a:endParaRPr b="0" i="0" sz="1200" u="none" cap="none" strike="noStrike">
              <a:solidFill>
                <a:schemeClr val="dk1"/>
              </a:solidFill>
              <a:latin typeface="Calibri"/>
              <a:ea typeface="Calibri"/>
              <a:cs typeface="Calibri"/>
              <a:sym typeface="Calibri"/>
            </a:endParaRPr>
          </a:p>
        </p:txBody>
      </p:sp>
      <p:sp>
        <p:nvSpPr>
          <p:cNvPr id="76" name="Google Shape;76;p3"/>
          <p:cNvSpPr/>
          <p:nvPr/>
        </p:nvSpPr>
        <p:spPr>
          <a:xfrm>
            <a:off x="6172200" y="3063240"/>
            <a:ext cx="2514600" cy="1508760"/>
          </a:xfrm>
          <a:prstGeom prst="roundRect">
            <a:avLst>
              <a:gd fmla="val 6061" name="adj"/>
            </a:avLst>
          </a:prstGeom>
          <a:solidFill>
            <a:schemeClr val="lt1"/>
          </a:solidFill>
          <a:ln cap="flat" cmpd="sng" w="15875">
            <a:solidFill>
              <a:schemeClr val="accent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txBox="1"/>
          <p:nvPr/>
        </p:nvSpPr>
        <p:spPr>
          <a:xfrm>
            <a:off x="6355080" y="3200400"/>
            <a:ext cx="21488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Buyer vs. user</a:t>
            </a:r>
            <a:endParaRPr b="0" i="0" sz="1400" u="none" cap="none" strike="noStrike">
              <a:solidFill>
                <a:schemeClr val="dk1"/>
              </a:solidFill>
              <a:latin typeface="Calibri"/>
              <a:ea typeface="Calibri"/>
              <a:cs typeface="Calibri"/>
              <a:sym typeface="Calibri"/>
            </a:endParaRPr>
          </a:p>
        </p:txBody>
      </p:sp>
      <p:sp>
        <p:nvSpPr>
          <p:cNvPr id="78" name="Google Shape;78;p3"/>
          <p:cNvSpPr txBox="1"/>
          <p:nvPr/>
        </p:nvSpPr>
        <p:spPr>
          <a:xfrm>
            <a:off x="6355080" y="3538728"/>
            <a:ext cx="21488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Builders use it free. Event organizers and ecosystem orgs (Platform Calgary, Product Calgary) pay.</a:t>
            </a:r>
            <a:endParaRPr b="0" i="0" sz="1200" u="none" cap="none" strike="noStrike">
              <a:solidFill>
                <a:schemeClr val="dk1"/>
              </a:solidFill>
              <a:latin typeface="Calibri"/>
              <a:ea typeface="Calibri"/>
              <a:cs typeface="Calibri"/>
              <a:sym typeface="Calibri"/>
            </a:endParaRPr>
          </a:p>
        </p:txBody>
      </p:sp>
      <p:sp>
        <p:nvSpPr>
          <p:cNvPr id="79" name="Google Shape;79;p3"/>
          <p:cNvSpPr txBox="1"/>
          <p:nvPr>
            <p:ph idx="4294967295" type="sldNum"/>
          </p:nvPr>
        </p:nvSpPr>
        <p:spPr>
          <a:xfrm>
            <a:off x="7955280" y="4732020"/>
            <a:ext cx="73152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4"/>
          <p:cNvSpPr txBox="1"/>
          <p:nvPr>
            <p:ph type="title"/>
          </p:nvPr>
        </p:nvSpPr>
        <p:spPr>
          <a:xfrm>
            <a:off x="457200" y="320040"/>
            <a:ext cx="6949440" cy="6400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rgbClr val="012C3E"/>
                </a:solidFill>
              </a:rPr>
              <a:t>The Solution</a:t>
            </a:r>
            <a:endParaRPr sz="3000">
              <a:solidFill>
                <a:srgbClr val="012C3E"/>
              </a:solidFill>
            </a:endParaRPr>
          </a:p>
        </p:txBody>
      </p:sp>
      <p:sp>
        <p:nvSpPr>
          <p:cNvPr id="86" name="Google Shape;86;p4"/>
          <p:cNvSpPr txBox="1"/>
          <p:nvPr>
            <p:ph idx="1" type="body"/>
          </p:nvPr>
        </p:nvSpPr>
        <p:spPr>
          <a:xfrm>
            <a:off x="457200" y="960120"/>
            <a:ext cx="7772400" cy="3657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300"/>
              <a:buNone/>
            </a:pPr>
            <a:r>
              <a:rPr i="1" lang="en-US" sz="1300">
                <a:solidFill>
                  <a:schemeClr val="dk2"/>
                </a:solidFill>
              </a:rPr>
              <a:t>Match a missing role to a builder verified across every Calgary event, with hours free this month.</a:t>
            </a:r>
            <a:endParaRPr sz="1300"/>
          </a:p>
        </p:txBody>
      </p:sp>
      <p:sp>
        <p:nvSpPr>
          <p:cNvPr id="87" name="Google Shape;87;p4"/>
          <p:cNvSpPr/>
          <p:nvPr/>
        </p:nvSpPr>
        <p:spPr>
          <a:xfrm>
            <a:off x="7589520" y="411480"/>
            <a:ext cx="1097280" cy="411480"/>
          </a:xfrm>
          <a:prstGeom prst="roundRect">
            <a:avLst>
              <a:gd fmla="val 48889" name="adj"/>
            </a:avLst>
          </a:prstGeom>
          <a:solidFill>
            <a:srgbClr val="00D9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4"/>
          <p:cNvSpPr txBox="1"/>
          <p:nvPr/>
        </p:nvSpPr>
        <p:spPr>
          <a:xfrm>
            <a:off x="7726474" y="411475"/>
            <a:ext cx="8235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Slide 4 of 10</a:t>
            </a:r>
            <a:endParaRPr b="0" i="0" sz="1100" u="none" cap="none" strike="noStrike">
              <a:solidFill>
                <a:schemeClr val="dk1"/>
              </a:solidFill>
              <a:latin typeface="Calibri"/>
              <a:ea typeface="Calibri"/>
              <a:cs typeface="Calibri"/>
              <a:sym typeface="Calibri"/>
            </a:endParaRPr>
          </a:p>
        </p:txBody>
      </p:sp>
      <p:sp>
        <p:nvSpPr>
          <p:cNvPr id="89" name="Google Shape;89;p4"/>
          <p:cNvSpPr/>
          <p:nvPr/>
        </p:nvSpPr>
        <p:spPr>
          <a:xfrm>
            <a:off x="457200" y="1463040"/>
            <a:ext cx="2743200" cy="3108960"/>
          </a:xfrm>
          <a:prstGeom prst="roundRect">
            <a:avLst>
              <a:gd fmla="val 4000"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4"/>
          <p:cNvSpPr/>
          <p:nvPr/>
        </p:nvSpPr>
        <p:spPr>
          <a:xfrm>
            <a:off x="640080" y="1645920"/>
            <a:ext cx="411480" cy="411480"/>
          </a:xfrm>
          <a:prstGeom prst="ellipse">
            <a:avLst/>
          </a:prstGeom>
          <a:solidFill>
            <a:srgbClr val="00D9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1" name="Google Shape;91;p4"/>
          <p:cNvPicPr preferRelativeResize="0"/>
          <p:nvPr/>
        </p:nvPicPr>
        <p:blipFill rotWithShape="1">
          <a:blip r:embed="rId3">
            <a:alphaModFix/>
          </a:blip>
          <a:srcRect b="0" l="0" r="0" t="0"/>
          <a:stretch/>
        </p:blipFill>
        <p:spPr>
          <a:xfrm>
            <a:off x="731520" y="1737360"/>
            <a:ext cx="228600" cy="228600"/>
          </a:xfrm>
          <a:prstGeom prst="rect">
            <a:avLst/>
          </a:prstGeom>
          <a:noFill/>
          <a:ln>
            <a:noFill/>
          </a:ln>
        </p:spPr>
      </p:pic>
      <p:sp>
        <p:nvSpPr>
          <p:cNvPr id="92" name="Google Shape;92;p4"/>
          <p:cNvSpPr txBox="1"/>
          <p:nvPr/>
        </p:nvSpPr>
        <p:spPr>
          <a:xfrm>
            <a:off x="1170432" y="1645920"/>
            <a:ext cx="1874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100"/>
              <a:buFont typeface="Calibri"/>
              <a:buNone/>
            </a:pPr>
            <a:r>
              <a:rPr b="1" i="0" lang="en-US" sz="1100" u="none" cap="none" strike="noStrike">
                <a:solidFill>
                  <a:srgbClr val="00D9C7"/>
                </a:solidFill>
                <a:latin typeface="Calibri"/>
                <a:ea typeface="Calibri"/>
                <a:cs typeface="Calibri"/>
                <a:sym typeface="Calibri"/>
              </a:rPr>
              <a:t>HOW IT WORKS</a:t>
            </a:r>
            <a:endParaRPr b="0" i="0" sz="1100" u="none" cap="none" strike="noStrike">
              <a:solidFill>
                <a:srgbClr val="00D9C7"/>
              </a:solidFill>
              <a:latin typeface="Calibri"/>
              <a:ea typeface="Calibri"/>
              <a:cs typeface="Calibri"/>
              <a:sym typeface="Calibri"/>
            </a:endParaRPr>
          </a:p>
        </p:txBody>
      </p:sp>
      <p:sp>
        <p:nvSpPr>
          <p:cNvPr id="93" name="Google Shape;93;p4"/>
          <p:cNvSpPr txBox="1"/>
          <p:nvPr/>
        </p:nvSpPr>
        <p:spPr>
          <a:xfrm>
            <a:off x="640080" y="2194560"/>
            <a:ext cx="2377440" cy="21945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Builders join at event check-in: skills, hours free, terms (equity, paid, portfolio)</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A team posts its missing role</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AI returns the top 3 verified builders, with reasons</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Coffee chat booked; a day-14 check-in tracks follow-through</a:t>
            </a:r>
            <a:endParaRPr b="0" i="0" sz="1250" u="none" cap="none" strike="noStrike">
              <a:solidFill>
                <a:schemeClr val="dk1"/>
              </a:solidFill>
              <a:latin typeface="Calibri"/>
              <a:ea typeface="Calibri"/>
              <a:cs typeface="Calibri"/>
              <a:sym typeface="Calibri"/>
            </a:endParaRPr>
          </a:p>
        </p:txBody>
      </p:sp>
      <p:sp>
        <p:nvSpPr>
          <p:cNvPr id="94" name="Google Shape;94;p4"/>
          <p:cNvSpPr/>
          <p:nvPr/>
        </p:nvSpPr>
        <p:spPr>
          <a:xfrm>
            <a:off x="3474720" y="1463040"/>
            <a:ext cx="5212080" cy="1005840"/>
          </a:xfrm>
          <a:prstGeom prst="roundRect">
            <a:avLst>
              <a:gd fmla="val 9091" name="adj"/>
            </a:avLst>
          </a:prstGeom>
          <a:solidFill>
            <a:schemeClr val="lt1"/>
          </a:solidFill>
          <a:ln cap="flat" cmpd="sng" w="15875">
            <a:solidFill>
              <a:schemeClr val="accent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txBox="1"/>
          <p:nvPr/>
        </p:nvSpPr>
        <p:spPr>
          <a:xfrm>
            <a:off x="3657600" y="1600200"/>
            <a:ext cx="484632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Value proposition</a:t>
            </a:r>
            <a:endParaRPr b="0" i="0" sz="1400" u="none" cap="none" strike="noStrike">
              <a:solidFill>
                <a:schemeClr val="dk1"/>
              </a:solidFill>
              <a:latin typeface="Calibri"/>
              <a:ea typeface="Calibri"/>
              <a:cs typeface="Calibri"/>
              <a:sym typeface="Calibri"/>
            </a:endParaRPr>
          </a:p>
        </p:txBody>
      </p:sp>
      <p:sp>
        <p:nvSpPr>
          <p:cNvPr id="96" name="Google Shape;96;p4"/>
          <p:cNvSpPr txBox="1"/>
          <p:nvPr/>
        </p:nvSpPr>
        <p:spPr>
          <a:xfrm>
            <a:off x="3657600" y="1938528"/>
            <a:ext cx="484632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For Calgary founders with a live project, CoBuild YYC finds a verified builder for your missing role. Unlike a Slack post, it's proof, not a profile.</a:t>
            </a:r>
            <a:endParaRPr b="0" i="0" sz="1200" u="none" cap="none" strike="noStrike">
              <a:solidFill>
                <a:schemeClr val="dk1"/>
              </a:solidFill>
              <a:latin typeface="Calibri"/>
              <a:ea typeface="Calibri"/>
              <a:cs typeface="Calibri"/>
              <a:sym typeface="Calibri"/>
            </a:endParaRPr>
          </a:p>
        </p:txBody>
      </p:sp>
      <p:sp>
        <p:nvSpPr>
          <p:cNvPr id="97" name="Google Shape;97;p4"/>
          <p:cNvSpPr/>
          <p:nvPr/>
        </p:nvSpPr>
        <p:spPr>
          <a:xfrm>
            <a:off x="3474720" y="2651760"/>
            <a:ext cx="457200" cy="457200"/>
          </a:xfrm>
          <a:prstGeom prst="ellipse">
            <a:avLst/>
          </a:prstGeom>
          <a:solidFill>
            <a:schemeClr val="accent3"/>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
          <p:cNvSpPr txBox="1"/>
          <p:nvPr/>
        </p:nvSpPr>
        <p:spPr>
          <a:xfrm>
            <a:off x="3474720" y="265176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600"/>
              <a:buFont typeface="Calibri"/>
              <a:buNone/>
            </a:pPr>
            <a:r>
              <a:rPr b="1" i="0" lang="en-US" sz="1600" u="none" cap="none" strike="noStrike">
                <a:solidFill>
                  <a:schemeClr val="dk1"/>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99" name="Google Shape;99;p4"/>
          <p:cNvSpPr txBox="1"/>
          <p:nvPr/>
        </p:nvSpPr>
        <p:spPr>
          <a:xfrm>
            <a:off x="3474720" y="3200400"/>
            <a:ext cx="1645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1" i="0" lang="en-US" sz="1300" u="none" cap="none" strike="noStrike">
                <a:solidFill>
                  <a:schemeClr val="dk1"/>
                </a:solidFill>
                <a:latin typeface="Calibri"/>
                <a:ea typeface="Calibri"/>
                <a:cs typeface="Calibri"/>
                <a:sym typeface="Calibri"/>
              </a:rPr>
              <a:t>Smart matching</a:t>
            </a:r>
            <a:endParaRPr b="0" i="0" sz="1300" u="none" cap="none" strike="noStrike">
              <a:solidFill>
                <a:schemeClr val="dk1"/>
              </a:solidFill>
              <a:latin typeface="Calibri"/>
              <a:ea typeface="Calibri"/>
              <a:cs typeface="Calibri"/>
              <a:sym typeface="Calibri"/>
            </a:endParaRPr>
          </a:p>
        </p:txBody>
      </p:sp>
      <p:sp>
        <p:nvSpPr>
          <p:cNvPr id="100" name="Google Shape;100;p4"/>
          <p:cNvSpPr txBox="1"/>
          <p:nvPr/>
        </p:nvSpPr>
        <p:spPr>
          <a:xfrm>
            <a:off x="3474720" y="3520440"/>
            <a:ext cx="164592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150"/>
              <a:buFont typeface="Calibri"/>
              <a:buNone/>
            </a:pPr>
            <a:r>
              <a:rPr b="0" i="0" lang="en-US" sz="1150" u="none" cap="none" strike="noStrike">
                <a:solidFill>
                  <a:schemeClr val="dk2"/>
                </a:solidFill>
                <a:latin typeface="Calibri"/>
                <a:ea typeface="Calibri"/>
                <a:cs typeface="Calibri"/>
                <a:sym typeface="Calibri"/>
              </a:rPr>
              <a:t>Top 3 builders ranked by skill fit, hours free and terms (equity, paid, portfolio), each with a reason.</a:t>
            </a:r>
            <a:endParaRPr b="0" i="0" sz="1150" u="none" cap="none" strike="noStrike">
              <a:solidFill>
                <a:schemeClr val="dk1"/>
              </a:solidFill>
              <a:latin typeface="Calibri"/>
              <a:ea typeface="Calibri"/>
              <a:cs typeface="Calibri"/>
              <a:sym typeface="Calibri"/>
            </a:endParaRPr>
          </a:p>
        </p:txBody>
      </p:sp>
      <p:sp>
        <p:nvSpPr>
          <p:cNvPr id="101" name="Google Shape;101;p4"/>
          <p:cNvSpPr/>
          <p:nvPr/>
        </p:nvSpPr>
        <p:spPr>
          <a:xfrm>
            <a:off x="5257800" y="2651760"/>
            <a:ext cx="457200" cy="457200"/>
          </a:xfrm>
          <a:prstGeom prst="ellipse">
            <a:avLst/>
          </a:prstGeom>
          <a:solidFill>
            <a:schemeClr val="accent4"/>
          </a:solidFill>
          <a:ln cap="flat" cmpd="sng" w="127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
          <p:cNvSpPr txBox="1"/>
          <p:nvPr/>
        </p:nvSpPr>
        <p:spPr>
          <a:xfrm>
            <a:off x="5257800" y="265176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600"/>
              <a:buFont typeface="Calibri"/>
              <a:buNone/>
            </a:pPr>
            <a:r>
              <a:rPr b="1" i="0" lang="en-US" sz="1600" u="none" cap="none" strike="noStrike">
                <a:solidFill>
                  <a:schemeClr val="dk1"/>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103" name="Google Shape;103;p4"/>
          <p:cNvSpPr txBox="1"/>
          <p:nvPr/>
        </p:nvSpPr>
        <p:spPr>
          <a:xfrm>
            <a:off x="5257800" y="3200400"/>
            <a:ext cx="1645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1" i="0" lang="en-US" sz="1300" u="none" cap="none" strike="noStrike">
                <a:solidFill>
                  <a:schemeClr val="dk1"/>
                </a:solidFill>
                <a:latin typeface="Calibri"/>
                <a:ea typeface="Calibri"/>
                <a:cs typeface="Calibri"/>
                <a:sym typeface="Calibri"/>
              </a:rPr>
              <a:t>Verified passport</a:t>
            </a:r>
            <a:endParaRPr b="0" i="0" sz="1300" u="none" cap="none" strike="noStrike">
              <a:solidFill>
                <a:schemeClr val="dk1"/>
              </a:solidFill>
              <a:latin typeface="Calibri"/>
              <a:ea typeface="Calibri"/>
              <a:cs typeface="Calibri"/>
              <a:sym typeface="Calibri"/>
            </a:endParaRPr>
          </a:p>
        </p:txBody>
      </p:sp>
      <p:sp>
        <p:nvSpPr>
          <p:cNvPr id="104" name="Google Shape;104;p4"/>
          <p:cNvSpPr txBox="1"/>
          <p:nvPr/>
        </p:nvSpPr>
        <p:spPr>
          <a:xfrm>
            <a:off x="5257800" y="3520440"/>
            <a:ext cx="164592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150"/>
              <a:buFont typeface="Calibri"/>
              <a:buNone/>
            </a:pPr>
            <a:r>
              <a:rPr b="0" i="0" lang="en-US" sz="1150" u="none" cap="none" strike="noStrike">
                <a:solidFill>
                  <a:schemeClr val="dk2"/>
                </a:solidFill>
                <a:latin typeface="Calibri"/>
                <a:ea typeface="Calibri"/>
                <a:cs typeface="Calibri"/>
                <a:sym typeface="Calibri"/>
              </a:rPr>
              <a:t>Every Calgary organizer verifies attendance and projects. Day-14 check-ins add follow-through.</a:t>
            </a:r>
            <a:endParaRPr b="0" i="0" sz="1150" u="none" cap="none" strike="noStrike">
              <a:solidFill>
                <a:schemeClr val="dk1"/>
              </a:solidFill>
              <a:latin typeface="Calibri"/>
              <a:ea typeface="Calibri"/>
              <a:cs typeface="Calibri"/>
              <a:sym typeface="Calibri"/>
            </a:endParaRPr>
          </a:p>
        </p:txBody>
      </p:sp>
      <p:sp>
        <p:nvSpPr>
          <p:cNvPr id="105" name="Google Shape;105;p4"/>
          <p:cNvSpPr/>
          <p:nvPr/>
        </p:nvSpPr>
        <p:spPr>
          <a:xfrm>
            <a:off x="7040880" y="2651760"/>
            <a:ext cx="457200" cy="457200"/>
          </a:xfrm>
          <a:prstGeom prst="ellipse">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txBox="1"/>
          <p:nvPr/>
        </p:nvSpPr>
        <p:spPr>
          <a:xfrm>
            <a:off x="7040880" y="265176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600"/>
              <a:buFont typeface="Calibri"/>
              <a:buNone/>
            </a:pPr>
            <a:r>
              <a:rPr b="1" i="0" lang="en-US" sz="1600" u="none" cap="none" strike="noStrike">
                <a:solidFill>
                  <a:schemeClr val="dk1"/>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107" name="Google Shape;107;p4"/>
          <p:cNvSpPr txBox="1"/>
          <p:nvPr/>
        </p:nvSpPr>
        <p:spPr>
          <a:xfrm>
            <a:off x="7040880" y="3200400"/>
            <a:ext cx="1645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1" i="0" lang="en-US" sz="1300" u="none" cap="none" strike="noStrike">
                <a:solidFill>
                  <a:schemeClr val="dk1"/>
                </a:solidFill>
                <a:latin typeface="Calibri"/>
                <a:ea typeface="Calibri"/>
                <a:cs typeface="Calibri"/>
                <a:sym typeface="Calibri"/>
              </a:rPr>
              <a:t>Organizer dashboard</a:t>
            </a:r>
            <a:endParaRPr b="0" i="0" sz="1300" u="none" cap="none" strike="noStrike">
              <a:solidFill>
                <a:schemeClr val="dk1"/>
              </a:solidFill>
              <a:latin typeface="Calibri"/>
              <a:ea typeface="Calibri"/>
              <a:cs typeface="Calibri"/>
              <a:sym typeface="Calibri"/>
            </a:endParaRPr>
          </a:p>
        </p:txBody>
      </p:sp>
      <p:sp>
        <p:nvSpPr>
          <p:cNvPr id="108" name="Google Shape;108;p4"/>
          <p:cNvSpPr txBox="1"/>
          <p:nvPr/>
        </p:nvSpPr>
        <p:spPr>
          <a:xfrm>
            <a:off x="7040880" y="3520440"/>
            <a:ext cx="164592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150"/>
              <a:buFont typeface="Calibri"/>
              <a:buNone/>
            </a:pPr>
            <a:r>
              <a:rPr b="0" i="0" lang="en-US" sz="1150" u="none" cap="none" strike="noStrike">
                <a:solidFill>
                  <a:schemeClr val="dk2"/>
                </a:solidFill>
                <a:latin typeface="Calibri"/>
                <a:ea typeface="Calibri"/>
                <a:cs typeface="Calibri"/>
                <a:sym typeface="Calibri"/>
              </a:rPr>
              <a:t>Shows matches made and projects still alive at 7, 30 and 90 days.</a:t>
            </a:r>
            <a:endParaRPr b="0" i="0" sz="1150" u="none" cap="none" strike="noStrike">
              <a:solidFill>
                <a:schemeClr val="dk1"/>
              </a:solidFill>
              <a:latin typeface="Calibri"/>
              <a:ea typeface="Calibri"/>
              <a:cs typeface="Calibri"/>
              <a:sym typeface="Calibri"/>
            </a:endParaRPr>
          </a:p>
        </p:txBody>
      </p:sp>
      <p:sp>
        <p:nvSpPr>
          <p:cNvPr id="109" name="Google Shape;109;p4"/>
          <p:cNvSpPr txBox="1"/>
          <p:nvPr>
            <p:ph idx="4294967295" type="sldNum"/>
          </p:nvPr>
        </p:nvSpPr>
        <p:spPr>
          <a:xfrm>
            <a:off x="7955280" y="4732020"/>
            <a:ext cx="73152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6"/>
          <p:cNvSpPr txBox="1"/>
          <p:nvPr>
            <p:ph type="title"/>
          </p:nvPr>
        </p:nvSpPr>
        <p:spPr>
          <a:xfrm>
            <a:off x="457200" y="320040"/>
            <a:ext cx="6949440" cy="6400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rgbClr val="012C3E"/>
                </a:solidFill>
              </a:rPr>
              <a:t>Market Opportunity</a:t>
            </a:r>
            <a:endParaRPr sz="3000">
              <a:solidFill>
                <a:srgbClr val="012C3E"/>
              </a:solidFill>
            </a:endParaRPr>
          </a:p>
        </p:txBody>
      </p:sp>
      <p:sp>
        <p:nvSpPr>
          <p:cNvPr id="116" name="Google Shape;116;p6"/>
          <p:cNvSpPr txBox="1"/>
          <p:nvPr>
            <p:ph idx="1" type="body"/>
          </p:nvPr>
        </p:nvSpPr>
        <p:spPr>
          <a:xfrm>
            <a:off x="457200" y="960120"/>
            <a:ext cx="7772400" cy="3657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300"/>
              <a:buNone/>
            </a:pPr>
            <a:r>
              <a:rPr i="1" lang="en-US" sz="1300">
                <a:solidFill>
                  <a:schemeClr val="dk2"/>
                </a:solidFill>
              </a:rPr>
              <a:t>Organizer-paid, sized bottom-up: a focused beachhead with a clear path beyond Calgary.</a:t>
            </a:r>
            <a:endParaRPr sz="1300"/>
          </a:p>
        </p:txBody>
      </p:sp>
      <p:sp>
        <p:nvSpPr>
          <p:cNvPr id="117" name="Google Shape;117;p6"/>
          <p:cNvSpPr/>
          <p:nvPr/>
        </p:nvSpPr>
        <p:spPr>
          <a:xfrm>
            <a:off x="7589520" y="411480"/>
            <a:ext cx="1097280" cy="411480"/>
          </a:xfrm>
          <a:prstGeom prst="roundRect">
            <a:avLst>
              <a:gd fmla="val 48889" name="adj"/>
            </a:avLst>
          </a:prstGeom>
          <a:solidFill>
            <a:srgbClr val="00D9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6"/>
          <p:cNvSpPr txBox="1"/>
          <p:nvPr/>
        </p:nvSpPr>
        <p:spPr>
          <a:xfrm>
            <a:off x="7772399" y="411475"/>
            <a:ext cx="7314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Slide </a:t>
            </a:r>
            <a:r>
              <a:rPr b="1" lang="en-US" sz="1100">
                <a:solidFill>
                  <a:schemeClr val="lt1"/>
                </a:solidFill>
                <a:latin typeface="Calibri"/>
                <a:ea typeface="Calibri"/>
                <a:cs typeface="Calibri"/>
                <a:sym typeface="Calibri"/>
              </a:rPr>
              <a:t>5</a:t>
            </a:r>
            <a:r>
              <a:rPr b="1" i="0" lang="en-US" sz="1100" u="none" cap="none" strike="noStrike">
                <a:solidFill>
                  <a:schemeClr val="lt1"/>
                </a:solidFill>
                <a:latin typeface="Calibri"/>
                <a:ea typeface="Calibri"/>
                <a:cs typeface="Calibri"/>
                <a:sym typeface="Calibri"/>
              </a:rPr>
              <a:t> of 10</a:t>
            </a:r>
            <a:endParaRPr b="0" i="0" sz="1100" u="none" cap="none" strike="noStrike">
              <a:solidFill>
                <a:schemeClr val="dk1"/>
              </a:solidFill>
              <a:latin typeface="Calibri"/>
              <a:ea typeface="Calibri"/>
              <a:cs typeface="Calibri"/>
              <a:sym typeface="Calibri"/>
            </a:endParaRPr>
          </a:p>
        </p:txBody>
      </p:sp>
      <p:sp>
        <p:nvSpPr>
          <p:cNvPr id="119" name="Google Shape;119;p6"/>
          <p:cNvSpPr/>
          <p:nvPr/>
        </p:nvSpPr>
        <p:spPr>
          <a:xfrm>
            <a:off x="457200" y="1463040"/>
            <a:ext cx="2743200" cy="3108960"/>
          </a:xfrm>
          <a:prstGeom prst="roundRect">
            <a:avLst>
              <a:gd fmla="val 4000"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6"/>
          <p:cNvSpPr/>
          <p:nvPr/>
        </p:nvSpPr>
        <p:spPr>
          <a:xfrm>
            <a:off x="640080" y="1645920"/>
            <a:ext cx="411480" cy="411480"/>
          </a:xfrm>
          <a:prstGeom prst="ellipse">
            <a:avLst/>
          </a:prstGeom>
          <a:solidFill>
            <a:srgbClr val="00D9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1" name="Google Shape;121;p6"/>
          <p:cNvPicPr preferRelativeResize="0"/>
          <p:nvPr/>
        </p:nvPicPr>
        <p:blipFill rotWithShape="1">
          <a:blip r:embed="rId3">
            <a:alphaModFix/>
          </a:blip>
          <a:srcRect b="0" l="0" r="0" t="0"/>
          <a:stretch/>
        </p:blipFill>
        <p:spPr>
          <a:xfrm>
            <a:off x="731520" y="1737360"/>
            <a:ext cx="228600" cy="228600"/>
          </a:xfrm>
          <a:prstGeom prst="rect">
            <a:avLst/>
          </a:prstGeom>
          <a:noFill/>
          <a:ln>
            <a:noFill/>
          </a:ln>
        </p:spPr>
      </p:pic>
      <p:sp>
        <p:nvSpPr>
          <p:cNvPr id="122" name="Google Shape;122;p6"/>
          <p:cNvSpPr txBox="1"/>
          <p:nvPr/>
        </p:nvSpPr>
        <p:spPr>
          <a:xfrm>
            <a:off x="1170432" y="1645920"/>
            <a:ext cx="1874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100"/>
              <a:buFont typeface="Calibri"/>
              <a:buNone/>
            </a:pPr>
            <a:r>
              <a:rPr b="1" i="0" lang="en-US" sz="1100" u="none" cap="none" strike="noStrike">
                <a:solidFill>
                  <a:srgbClr val="00D9C7"/>
                </a:solidFill>
                <a:latin typeface="Calibri"/>
                <a:ea typeface="Calibri"/>
                <a:cs typeface="Calibri"/>
                <a:sym typeface="Calibri"/>
              </a:rPr>
              <a:t>OUR ASSUMPTIONS</a:t>
            </a:r>
            <a:endParaRPr b="0" i="0" sz="1100" u="none" cap="none" strike="noStrike">
              <a:solidFill>
                <a:srgbClr val="00D9C7"/>
              </a:solidFill>
              <a:latin typeface="Calibri"/>
              <a:ea typeface="Calibri"/>
              <a:cs typeface="Calibri"/>
              <a:sym typeface="Calibri"/>
            </a:endParaRPr>
          </a:p>
        </p:txBody>
      </p:sp>
      <p:sp>
        <p:nvSpPr>
          <p:cNvPr id="123" name="Google Shape;123;p6"/>
          <p:cNvSpPr txBox="1"/>
          <p:nvPr/>
        </p:nvSpPr>
        <p:spPr>
          <a:xfrm>
            <a:off x="640080" y="2194560"/>
            <a:ext cx="2377440" cy="21945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Price: ~$3K/yr in Calgary, ~$5K/yr elsewhere (per-event fees + licences)</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We count buyers × price, not a % of a report</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Organizers already pay: Luma Plus $59–69/mo, Brella from $3,500/event</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Buyer counts are our estimates</a:t>
            </a:r>
            <a:endParaRPr b="0" i="0" sz="1250" u="none" cap="none" strike="noStrike">
              <a:solidFill>
                <a:schemeClr val="dk1"/>
              </a:solidFill>
              <a:latin typeface="Calibri"/>
              <a:ea typeface="Calibri"/>
              <a:cs typeface="Calibri"/>
              <a:sym typeface="Calibri"/>
            </a:endParaRPr>
          </a:p>
        </p:txBody>
      </p:sp>
      <p:sp>
        <p:nvSpPr>
          <p:cNvPr id="124" name="Google Shape;124;p6"/>
          <p:cNvSpPr/>
          <p:nvPr/>
        </p:nvSpPr>
        <p:spPr>
          <a:xfrm>
            <a:off x="3474720" y="1463040"/>
            <a:ext cx="1645920" cy="1783080"/>
          </a:xfrm>
          <a:prstGeom prst="roundRect">
            <a:avLst>
              <a:gd fmla="val 6667" name="adj"/>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6"/>
          <p:cNvSpPr txBox="1"/>
          <p:nvPr/>
        </p:nvSpPr>
        <p:spPr>
          <a:xfrm>
            <a:off x="3474720" y="1554480"/>
            <a:ext cx="16459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TAM</a:t>
            </a:r>
            <a:endParaRPr b="0" i="0" sz="1200" u="none" cap="none" strike="noStrike">
              <a:solidFill>
                <a:schemeClr val="dk1"/>
              </a:solidFill>
              <a:latin typeface="Calibri"/>
              <a:ea typeface="Calibri"/>
              <a:cs typeface="Calibri"/>
              <a:sym typeface="Calibri"/>
            </a:endParaRPr>
          </a:p>
        </p:txBody>
      </p:sp>
      <p:sp>
        <p:nvSpPr>
          <p:cNvPr id="126" name="Google Shape;126;p6"/>
          <p:cNvSpPr txBox="1"/>
          <p:nvPr/>
        </p:nvSpPr>
        <p:spPr>
          <a:xfrm>
            <a:off x="3474720" y="1874520"/>
            <a:ext cx="164592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800"/>
              <a:buFont typeface="Calibri"/>
              <a:buNone/>
            </a:pPr>
            <a:r>
              <a:rPr b="1" i="0" lang="en-US" sz="2800" u="none" cap="none" strike="noStrike">
                <a:solidFill>
                  <a:schemeClr val="lt1"/>
                </a:solidFill>
                <a:latin typeface="Calibri"/>
                <a:ea typeface="Calibri"/>
                <a:cs typeface="Calibri"/>
                <a:sym typeface="Calibri"/>
              </a:rPr>
              <a:t>$15M</a:t>
            </a:r>
            <a:endParaRPr b="0" i="0" sz="2800" u="none" cap="none" strike="noStrike">
              <a:solidFill>
                <a:schemeClr val="dk1"/>
              </a:solidFill>
              <a:latin typeface="Calibri"/>
              <a:ea typeface="Calibri"/>
              <a:cs typeface="Calibri"/>
              <a:sym typeface="Calibri"/>
            </a:endParaRPr>
          </a:p>
        </p:txBody>
      </p:sp>
      <p:sp>
        <p:nvSpPr>
          <p:cNvPr id="127" name="Google Shape;127;p6"/>
          <p:cNvSpPr txBox="1"/>
          <p:nvPr/>
        </p:nvSpPr>
        <p:spPr>
          <a:xfrm>
            <a:off x="3566160" y="2606040"/>
            <a:ext cx="1463040"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lt1"/>
              </a:buClr>
              <a:buSzPts val="1050"/>
              <a:buFont typeface="Calibri"/>
              <a:buNone/>
            </a:pPr>
            <a:r>
              <a:rPr b="0" i="0" lang="en-US" sz="1050" u="none" cap="none" strike="noStrike">
                <a:solidFill>
                  <a:schemeClr val="lt1"/>
                </a:solidFill>
                <a:latin typeface="Calibri"/>
                <a:ea typeface="Calibri"/>
                <a:cs typeface="Calibri"/>
                <a:sym typeface="Calibri"/>
              </a:rPr>
              <a:t>North America: ESOs, university centres, hackathons</a:t>
            </a:r>
            <a:endParaRPr b="0" i="0" sz="1050" u="none" cap="none" strike="noStrike">
              <a:solidFill>
                <a:schemeClr val="dk1"/>
              </a:solidFill>
              <a:latin typeface="Calibri"/>
              <a:ea typeface="Calibri"/>
              <a:cs typeface="Calibri"/>
              <a:sym typeface="Calibri"/>
            </a:endParaRPr>
          </a:p>
        </p:txBody>
      </p:sp>
      <p:sp>
        <p:nvSpPr>
          <p:cNvPr id="128" name="Google Shape;128;p6"/>
          <p:cNvSpPr/>
          <p:nvPr/>
        </p:nvSpPr>
        <p:spPr>
          <a:xfrm>
            <a:off x="5257800" y="1463040"/>
            <a:ext cx="1645920" cy="1783080"/>
          </a:xfrm>
          <a:prstGeom prst="roundRect">
            <a:avLst>
              <a:gd fmla="val 6667" name="adj"/>
            </a:avLst>
          </a:prstGeom>
          <a:solidFill>
            <a:schemeClr val="accent4"/>
          </a:solidFill>
          <a:ln cap="flat" cmpd="sng" w="127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6"/>
          <p:cNvSpPr txBox="1"/>
          <p:nvPr/>
        </p:nvSpPr>
        <p:spPr>
          <a:xfrm>
            <a:off x="5257800" y="1554480"/>
            <a:ext cx="16459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SAM</a:t>
            </a:r>
            <a:endParaRPr b="0" i="0" sz="1200" u="none" cap="none" strike="noStrike">
              <a:solidFill>
                <a:schemeClr val="dk1"/>
              </a:solidFill>
              <a:latin typeface="Calibri"/>
              <a:ea typeface="Calibri"/>
              <a:cs typeface="Calibri"/>
              <a:sym typeface="Calibri"/>
            </a:endParaRPr>
          </a:p>
        </p:txBody>
      </p:sp>
      <p:sp>
        <p:nvSpPr>
          <p:cNvPr id="130" name="Google Shape;130;p6"/>
          <p:cNvSpPr txBox="1"/>
          <p:nvPr/>
        </p:nvSpPr>
        <p:spPr>
          <a:xfrm>
            <a:off x="5257800" y="1874520"/>
            <a:ext cx="164592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800"/>
              <a:buFont typeface="Calibri"/>
              <a:buNone/>
            </a:pPr>
            <a:r>
              <a:rPr b="1" i="0" lang="en-US" sz="2800" u="none" cap="none" strike="noStrike">
                <a:solidFill>
                  <a:schemeClr val="lt1"/>
                </a:solidFill>
                <a:latin typeface="Calibri"/>
                <a:ea typeface="Calibri"/>
                <a:cs typeface="Calibri"/>
                <a:sym typeface="Calibri"/>
              </a:rPr>
              <a:t>$2.65M</a:t>
            </a:r>
            <a:endParaRPr b="0" i="0" sz="2800" u="none" cap="none" strike="noStrike">
              <a:solidFill>
                <a:schemeClr val="dk1"/>
              </a:solidFill>
              <a:latin typeface="Calibri"/>
              <a:ea typeface="Calibri"/>
              <a:cs typeface="Calibri"/>
              <a:sym typeface="Calibri"/>
            </a:endParaRPr>
          </a:p>
        </p:txBody>
      </p:sp>
      <p:sp>
        <p:nvSpPr>
          <p:cNvPr id="131" name="Google Shape;131;p6"/>
          <p:cNvSpPr txBox="1"/>
          <p:nvPr/>
        </p:nvSpPr>
        <p:spPr>
          <a:xfrm>
            <a:off x="5349240" y="2606040"/>
            <a:ext cx="1463040"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lt1"/>
              </a:buClr>
              <a:buSzPts val="1050"/>
              <a:buFont typeface="Calibri"/>
              <a:buNone/>
            </a:pPr>
            <a:r>
              <a:rPr b="0" i="0" lang="en-US" sz="1050" u="none" cap="none" strike="noStrike">
                <a:solidFill>
                  <a:schemeClr val="lt1"/>
                </a:solidFill>
                <a:latin typeface="Calibri"/>
                <a:ea typeface="Calibri"/>
                <a:cs typeface="Calibri"/>
                <a:sym typeface="Calibri"/>
              </a:rPr>
              <a:t>Canada: ~400 accelerators + 100 university centres + 150 hackathons</a:t>
            </a:r>
            <a:endParaRPr b="0" i="0" sz="1050" u="none" cap="none" strike="noStrike">
              <a:solidFill>
                <a:schemeClr val="dk1"/>
              </a:solidFill>
              <a:latin typeface="Calibri"/>
              <a:ea typeface="Calibri"/>
              <a:cs typeface="Calibri"/>
              <a:sym typeface="Calibri"/>
            </a:endParaRPr>
          </a:p>
        </p:txBody>
      </p:sp>
      <p:sp>
        <p:nvSpPr>
          <p:cNvPr id="132" name="Google Shape;132;p6"/>
          <p:cNvSpPr/>
          <p:nvPr/>
        </p:nvSpPr>
        <p:spPr>
          <a:xfrm>
            <a:off x="7040880" y="1463040"/>
            <a:ext cx="1645920" cy="1783080"/>
          </a:xfrm>
          <a:prstGeom prst="roundRect">
            <a:avLst>
              <a:gd fmla="val 6667" name="adj"/>
            </a:avLst>
          </a:prstGeom>
          <a:solidFill>
            <a:schemeClr val="accent3"/>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6"/>
          <p:cNvSpPr txBox="1"/>
          <p:nvPr/>
        </p:nvSpPr>
        <p:spPr>
          <a:xfrm>
            <a:off x="7040880" y="1554480"/>
            <a:ext cx="16459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SOM</a:t>
            </a:r>
            <a:endParaRPr b="0" i="0" sz="1200" u="none" cap="none" strike="noStrike">
              <a:solidFill>
                <a:schemeClr val="dk1"/>
              </a:solidFill>
              <a:latin typeface="Calibri"/>
              <a:ea typeface="Calibri"/>
              <a:cs typeface="Calibri"/>
              <a:sym typeface="Calibri"/>
            </a:endParaRPr>
          </a:p>
        </p:txBody>
      </p:sp>
      <p:sp>
        <p:nvSpPr>
          <p:cNvPr id="134" name="Google Shape;134;p6"/>
          <p:cNvSpPr txBox="1"/>
          <p:nvPr/>
        </p:nvSpPr>
        <p:spPr>
          <a:xfrm>
            <a:off x="7040880" y="1874520"/>
            <a:ext cx="164592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800"/>
              <a:buFont typeface="Calibri"/>
              <a:buNone/>
            </a:pPr>
            <a:r>
              <a:rPr b="1" i="0" lang="en-US" sz="2800" u="none" cap="none" strike="noStrike">
                <a:solidFill>
                  <a:schemeClr val="lt1"/>
                </a:solidFill>
                <a:latin typeface="Calibri"/>
                <a:ea typeface="Calibri"/>
                <a:cs typeface="Calibri"/>
                <a:sym typeface="Calibri"/>
              </a:rPr>
              <a:t>$200K</a:t>
            </a:r>
            <a:endParaRPr b="0" i="0" sz="2800" u="none" cap="none" strike="noStrike">
              <a:solidFill>
                <a:schemeClr val="dk1"/>
              </a:solidFill>
              <a:latin typeface="Calibri"/>
              <a:ea typeface="Calibri"/>
              <a:cs typeface="Calibri"/>
              <a:sym typeface="Calibri"/>
            </a:endParaRPr>
          </a:p>
        </p:txBody>
      </p:sp>
      <p:sp>
        <p:nvSpPr>
          <p:cNvPr id="135" name="Google Shape;135;p6"/>
          <p:cNvSpPr txBox="1"/>
          <p:nvPr/>
        </p:nvSpPr>
        <p:spPr>
          <a:xfrm>
            <a:off x="7132320" y="2606040"/>
            <a:ext cx="1463040"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lt1"/>
              </a:buClr>
              <a:buSzPts val="1050"/>
              <a:buFont typeface="Calibri"/>
              <a:buNone/>
            </a:pPr>
            <a:r>
              <a:rPr b="0" i="0" lang="en-US" sz="1050" u="none" cap="none" strike="noStrike">
                <a:solidFill>
                  <a:schemeClr val="lt1"/>
                </a:solidFill>
                <a:latin typeface="Calibri"/>
                <a:ea typeface="Calibri"/>
                <a:cs typeface="Calibri"/>
                <a:sym typeface="Calibri"/>
              </a:rPr>
              <a:t>40 Canadian organizers × $5K within 3 years</a:t>
            </a:r>
            <a:endParaRPr b="0" i="0" sz="1050" u="none" cap="none" strike="noStrike">
              <a:solidFill>
                <a:schemeClr val="dk1"/>
              </a:solidFill>
              <a:latin typeface="Calibri"/>
              <a:ea typeface="Calibri"/>
              <a:cs typeface="Calibri"/>
              <a:sym typeface="Calibri"/>
            </a:endParaRPr>
          </a:p>
        </p:txBody>
      </p:sp>
      <p:sp>
        <p:nvSpPr>
          <p:cNvPr id="136" name="Google Shape;136;p6"/>
          <p:cNvSpPr/>
          <p:nvPr/>
        </p:nvSpPr>
        <p:spPr>
          <a:xfrm>
            <a:off x="3474720" y="3429000"/>
            <a:ext cx="5212080" cy="1143000"/>
          </a:xfrm>
          <a:prstGeom prst="roundRect">
            <a:avLst>
              <a:gd fmla="val 8000" name="adj"/>
            </a:avLst>
          </a:prstGeom>
          <a:solidFill>
            <a:schemeClr val="lt1"/>
          </a:solidFill>
          <a:ln cap="flat" cmpd="sng" w="15875">
            <a:solidFill>
              <a:schemeClr val="accent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6"/>
          <p:cNvSpPr txBox="1"/>
          <p:nvPr/>
        </p:nvSpPr>
        <p:spPr>
          <a:xfrm>
            <a:off x="3657600" y="3566160"/>
            <a:ext cx="484632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How we sized it + why now</a:t>
            </a:r>
            <a:endParaRPr b="0" i="0" sz="1400" u="none" cap="none" strike="noStrike">
              <a:solidFill>
                <a:schemeClr val="dk1"/>
              </a:solidFill>
              <a:latin typeface="Calibri"/>
              <a:ea typeface="Calibri"/>
              <a:cs typeface="Calibri"/>
              <a:sym typeface="Calibri"/>
            </a:endParaRPr>
          </a:p>
        </p:txBody>
      </p:sp>
      <p:sp>
        <p:nvSpPr>
          <p:cNvPr id="138" name="Google Shape;138;p6"/>
          <p:cNvSpPr txBox="1"/>
          <p:nvPr/>
        </p:nvSpPr>
        <p:spPr>
          <a:xfrm>
            <a:off x="3657600" y="3904488"/>
            <a:ext cx="484632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Canada ≈ 400 accelerators × $5K + 100 university centres × $5K + 150 hackathons × $1K. Calgary beachhead ≈ $105K/yr. Tailwind: Calgary tech talent +56% since 2022 (CBRE 2026).</a:t>
            </a:r>
            <a:endParaRPr b="0" i="0" sz="1200" u="none" cap="none" strike="noStrike">
              <a:solidFill>
                <a:schemeClr val="dk1"/>
              </a:solidFill>
              <a:latin typeface="Calibri"/>
              <a:ea typeface="Calibri"/>
              <a:cs typeface="Calibri"/>
              <a:sym typeface="Calibri"/>
            </a:endParaRPr>
          </a:p>
        </p:txBody>
      </p:sp>
      <p:sp>
        <p:nvSpPr>
          <p:cNvPr id="139" name="Google Shape;139;p6"/>
          <p:cNvSpPr txBox="1"/>
          <p:nvPr>
            <p:ph idx="4294967295" type="sldNum"/>
          </p:nvPr>
        </p:nvSpPr>
        <p:spPr>
          <a:xfrm>
            <a:off x="7955280" y="4732020"/>
            <a:ext cx="73152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9"/>
          <p:cNvSpPr txBox="1"/>
          <p:nvPr>
            <p:ph type="title"/>
          </p:nvPr>
        </p:nvSpPr>
        <p:spPr>
          <a:xfrm>
            <a:off x="457200" y="320040"/>
            <a:ext cx="6949440" cy="6400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rgbClr val="012C3E"/>
                </a:solidFill>
              </a:rPr>
              <a:t>Competition &amp; Differentiation</a:t>
            </a:r>
            <a:endParaRPr sz="3000">
              <a:solidFill>
                <a:srgbClr val="012C3E"/>
              </a:solidFill>
            </a:endParaRPr>
          </a:p>
        </p:txBody>
      </p:sp>
      <p:sp>
        <p:nvSpPr>
          <p:cNvPr id="146" name="Google Shape;146;p9"/>
          <p:cNvSpPr txBox="1"/>
          <p:nvPr>
            <p:ph idx="1" type="body"/>
          </p:nvPr>
        </p:nvSpPr>
        <p:spPr>
          <a:xfrm>
            <a:off x="457200" y="960120"/>
            <a:ext cx="7772400" cy="3657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300"/>
              <a:buNone/>
            </a:pPr>
            <a:r>
              <a:rPr i="1" lang="en-US" sz="1300">
                <a:solidFill>
                  <a:schemeClr val="dk2"/>
                </a:solidFill>
              </a:rPr>
              <a:t>We're the neutral layer across every Calgary event, not another single community.</a:t>
            </a:r>
            <a:endParaRPr sz="1300"/>
          </a:p>
        </p:txBody>
      </p:sp>
      <p:sp>
        <p:nvSpPr>
          <p:cNvPr id="147" name="Google Shape;147;p9"/>
          <p:cNvSpPr/>
          <p:nvPr/>
        </p:nvSpPr>
        <p:spPr>
          <a:xfrm>
            <a:off x="7589520" y="411480"/>
            <a:ext cx="1097280" cy="411480"/>
          </a:xfrm>
          <a:prstGeom prst="roundRect">
            <a:avLst>
              <a:gd fmla="val 48889" name="adj"/>
            </a:avLst>
          </a:prstGeom>
          <a:solidFill>
            <a:srgbClr val="00D9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9"/>
          <p:cNvSpPr txBox="1"/>
          <p:nvPr/>
        </p:nvSpPr>
        <p:spPr>
          <a:xfrm>
            <a:off x="7726699" y="411475"/>
            <a:ext cx="8229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Slide </a:t>
            </a:r>
            <a:r>
              <a:rPr b="1" lang="en-US" sz="1100">
                <a:solidFill>
                  <a:schemeClr val="lt1"/>
                </a:solidFill>
                <a:latin typeface="Calibri"/>
                <a:ea typeface="Calibri"/>
                <a:cs typeface="Calibri"/>
                <a:sym typeface="Calibri"/>
              </a:rPr>
              <a:t>6</a:t>
            </a:r>
            <a:r>
              <a:rPr b="1" i="0" lang="en-US" sz="1100" u="none" cap="none" strike="noStrike">
                <a:solidFill>
                  <a:schemeClr val="lt1"/>
                </a:solidFill>
                <a:latin typeface="Calibri"/>
                <a:ea typeface="Calibri"/>
                <a:cs typeface="Calibri"/>
                <a:sym typeface="Calibri"/>
              </a:rPr>
              <a:t> of 10</a:t>
            </a:r>
            <a:endParaRPr b="0" i="0" sz="1100" u="none" cap="none" strike="noStrike">
              <a:solidFill>
                <a:schemeClr val="dk1"/>
              </a:solidFill>
              <a:latin typeface="Calibri"/>
              <a:ea typeface="Calibri"/>
              <a:cs typeface="Calibri"/>
              <a:sym typeface="Calibri"/>
            </a:endParaRPr>
          </a:p>
        </p:txBody>
      </p:sp>
      <p:sp>
        <p:nvSpPr>
          <p:cNvPr id="149" name="Google Shape;149;p9"/>
          <p:cNvSpPr/>
          <p:nvPr/>
        </p:nvSpPr>
        <p:spPr>
          <a:xfrm>
            <a:off x="457200" y="1463040"/>
            <a:ext cx="2743200" cy="3108960"/>
          </a:xfrm>
          <a:prstGeom prst="roundRect">
            <a:avLst>
              <a:gd fmla="val 4000"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9"/>
          <p:cNvSpPr/>
          <p:nvPr/>
        </p:nvSpPr>
        <p:spPr>
          <a:xfrm>
            <a:off x="640080" y="1645920"/>
            <a:ext cx="411480" cy="411480"/>
          </a:xfrm>
          <a:prstGeom prst="ellipse">
            <a:avLst/>
          </a:prstGeom>
          <a:solidFill>
            <a:srgbClr val="00D9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1" name="Google Shape;151;p9"/>
          <p:cNvPicPr preferRelativeResize="0"/>
          <p:nvPr/>
        </p:nvPicPr>
        <p:blipFill rotWithShape="1">
          <a:blip r:embed="rId3">
            <a:alphaModFix/>
          </a:blip>
          <a:srcRect b="0" l="0" r="0" t="0"/>
          <a:stretch/>
        </p:blipFill>
        <p:spPr>
          <a:xfrm>
            <a:off x="731520" y="1737360"/>
            <a:ext cx="228600" cy="228600"/>
          </a:xfrm>
          <a:prstGeom prst="rect">
            <a:avLst/>
          </a:prstGeom>
          <a:noFill/>
          <a:ln>
            <a:noFill/>
          </a:ln>
        </p:spPr>
      </p:pic>
      <p:sp>
        <p:nvSpPr>
          <p:cNvPr id="152" name="Google Shape;152;p9"/>
          <p:cNvSpPr txBox="1"/>
          <p:nvPr/>
        </p:nvSpPr>
        <p:spPr>
          <a:xfrm>
            <a:off x="1170432" y="1645920"/>
            <a:ext cx="1874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100"/>
              <a:buFont typeface="Calibri"/>
              <a:buNone/>
            </a:pPr>
            <a:r>
              <a:rPr b="1" i="0" lang="en-US" sz="1100" u="none" cap="none" strike="noStrike">
                <a:solidFill>
                  <a:srgbClr val="00D9C7"/>
                </a:solidFill>
                <a:latin typeface="Calibri"/>
                <a:ea typeface="Calibri"/>
                <a:cs typeface="Calibri"/>
                <a:sym typeface="Calibri"/>
              </a:rPr>
              <a:t>ALSO IN THE MARKET</a:t>
            </a:r>
            <a:endParaRPr b="0" i="0" sz="1100" u="none" cap="none" strike="noStrike">
              <a:solidFill>
                <a:srgbClr val="00D9C7"/>
              </a:solidFill>
              <a:latin typeface="Calibri"/>
              <a:ea typeface="Calibri"/>
              <a:cs typeface="Calibri"/>
              <a:sym typeface="Calibri"/>
            </a:endParaRPr>
          </a:p>
        </p:txBody>
      </p:sp>
      <p:sp>
        <p:nvSpPr>
          <p:cNvPr id="153" name="Google Shape;153;p9"/>
          <p:cNvSpPr txBox="1"/>
          <p:nvPr/>
        </p:nvSpPr>
        <p:spPr>
          <a:xfrm>
            <a:off x="640080" y="2194560"/>
            <a:ext cx="2377440" cy="21945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YC Co-Founder Matching: global, co-founder-only, self-reported profiles</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UCeed Founder Matching: researcher-to-operator pairs; a partner</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Devpost: teams dissolve when the event ends</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Upwork / Contra: paid freelancing, not teammates</a:t>
            </a:r>
            <a:endParaRPr b="0" i="0" sz="1250" u="none" cap="none" strike="noStrike">
              <a:solidFill>
                <a:schemeClr val="dk1"/>
              </a:solidFill>
              <a:latin typeface="Calibri"/>
              <a:ea typeface="Calibri"/>
              <a:cs typeface="Calibri"/>
              <a:sym typeface="Calibri"/>
            </a:endParaRPr>
          </a:p>
        </p:txBody>
      </p:sp>
      <p:graphicFrame>
        <p:nvGraphicFramePr>
          <p:cNvPr id="154" name="Google Shape;154;p9"/>
          <p:cNvGraphicFramePr/>
          <p:nvPr/>
        </p:nvGraphicFramePr>
        <p:xfrm>
          <a:off x="3474720" y="1463040"/>
          <a:ext cx="3000000" cy="3000000"/>
        </p:xfrm>
        <a:graphic>
          <a:graphicData uri="http://schemas.openxmlformats.org/drawingml/2006/table">
            <a:tbl>
              <a:tblPr>
                <a:noFill/>
                <a:tableStyleId>{FDA3028D-0C03-4743-9075-8F35542186BE}</a:tableStyleId>
              </a:tblPr>
              <a:tblGrid>
                <a:gridCol w="1371600"/>
                <a:gridCol w="960125"/>
                <a:gridCol w="960125"/>
                <a:gridCol w="960125"/>
                <a:gridCol w="960125"/>
              </a:tblGrid>
              <a:tr h="384050">
                <a:tc>
                  <a:txBody>
                    <a:bodyPr/>
                    <a:lstStyle/>
                    <a:p>
                      <a:pPr indent="0" lvl="0" marL="0" marR="0" rtl="0" algn="ctr">
                        <a:spcBef>
                          <a:spcPts val="0"/>
                        </a:spcBef>
                        <a:spcAft>
                          <a:spcPts val="0"/>
                        </a:spcAft>
                        <a:buClr>
                          <a:schemeClr val="dk1"/>
                        </a:buClr>
                        <a:buSzPts val="1150"/>
                        <a:buFont typeface="Calibri"/>
                        <a:buNone/>
                      </a:pPr>
                      <a:r>
                        <a:rPr/>
                        <a:t/>
                      </a:r>
                      <a:endParaRPr sz="115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solidFill>
                      <a:srgbClr val="1B1F3B"/>
                    </a:solidFill>
                  </a:tcPr>
                </a:tc>
                <a:tc>
                  <a:txBody>
                    <a:bodyPr/>
                    <a:lstStyle/>
                    <a:p>
                      <a:pPr indent="0" lvl="0" marL="0" marR="0" rtl="0" algn="ctr">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CoBuild YYC</a:t>
                      </a:r>
                      <a:endParaRPr sz="115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solidFill>
                      <a:srgbClr val="FF5A5F"/>
                    </a:solidFill>
                  </a:tcPr>
                </a:tc>
                <a:tc>
                  <a:txBody>
                    <a:bodyPr/>
                    <a:lstStyle/>
                    <a:p>
                      <a:pPr indent="0" lvl="0" marL="0" marR="0" rtl="0" algn="ctr">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AI Tinkerers</a:t>
                      </a:r>
                      <a:endParaRPr sz="115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solidFill>
                      <a:srgbClr val="1B1F3B"/>
                    </a:solidFill>
                  </a:tcPr>
                </a:tc>
                <a:tc>
                  <a:txBody>
                    <a:bodyPr/>
                    <a:lstStyle/>
                    <a:p>
                      <a:pPr indent="0" lvl="0" marL="0" marR="0" rtl="0" algn="ctr">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Slack / LinkedIn</a:t>
                      </a:r>
                      <a:endParaRPr sz="115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solidFill>
                      <a:srgbClr val="1B1F3B"/>
                    </a:solidFill>
                  </a:tcPr>
                </a:tc>
                <a:tc>
                  <a:txBody>
                    <a:bodyPr/>
                    <a:lstStyle/>
                    <a:p>
                      <a:pPr indent="0" lvl="0" marL="0" marR="0" rtl="0" algn="ctr">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Do nothing</a:t>
                      </a:r>
                      <a:endParaRPr sz="115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solidFill>
                      <a:srgbClr val="1B1F3B"/>
                    </a:solidFill>
                  </a:tcPr>
                </a:tc>
              </a:tr>
              <a:tr h="384050">
                <a:tc>
                  <a:txBody>
                    <a:bodyPr/>
                    <a:lstStyle/>
                    <a:p>
                      <a:pPr indent="0" lvl="0" marL="0" marR="0" rtl="0" algn="l">
                        <a:spcBef>
                          <a:spcPts val="0"/>
                        </a:spcBef>
                        <a:spcAft>
                          <a:spcPts val="0"/>
                        </a:spcAft>
                        <a:buClr>
                          <a:srgbClr val="4A4F6B"/>
                        </a:buClr>
                        <a:buSzPts val="1100"/>
                        <a:buFont typeface="Calibri"/>
                        <a:buNone/>
                      </a:pPr>
                      <a:r>
                        <a:rPr b="1" lang="en-US" sz="1100" u="none" cap="none" strike="noStrike">
                          <a:solidFill>
                            <a:srgbClr val="4A4F6B"/>
                          </a:solidFill>
                          <a:latin typeface="Calibri"/>
                          <a:ea typeface="Calibri"/>
                          <a:cs typeface="Calibri"/>
                          <a:sym typeface="Calibri"/>
                        </a:rPr>
                        <a:t>Matches a role + hours</a:t>
                      </a:r>
                      <a:endParaRPr sz="110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tcPr>
                </a:tc>
                <a:tc>
                  <a:txBody>
                    <a:bodyPr/>
                    <a:lstStyle/>
                    <a:p>
                      <a:pPr indent="0" lvl="0" marL="0" marR="0" rtl="0" algn="l">
                        <a:spcBef>
                          <a:spcPts val="0"/>
                        </a:spcBef>
                        <a:spcAft>
                          <a:spcPts val="0"/>
                        </a:spcAft>
                        <a:buClr>
                          <a:srgbClr val="4A4F6B"/>
                        </a:buClr>
                        <a:buSzPts val="1100"/>
                        <a:buFont typeface="Calibri"/>
                        <a:buNone/>
                      </a:pPr>
                      <a:r>
                        <a:rPr i="0" lang="en-US" sz="1100" u="none" cap="none" strike="noStrike">
                          <a:solidFill>
                            <a:srgbClr val="4A4F6B"/>
                          </a:solidFill>
                          <a:latin typeface="Calibri"/>
                          <a:ea typeface="Calibri"/>
                          <a:cs typeface="Calibri"/>
                          <a:sym typeface="Calibri"/>
                        </a:rPr>
                        <a:t>✓</a:t>
                      </a:r>
                      <a:endParaRPr sz="110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tcPr>
                </a:tc>
                <a:tc>
                  <a:txBody>
                    <a:bodyPr/>
                    <a:lstStyle/>
                    <a:p>
                      <a:pPr indent="0" lvl="0" marL="0" marR="0" rtl="0" algn="l">
                        <a:spcBef>
                          <a:spcPts val="0"/>
                        </a:spcBef>
                        <a:spcAft>
                          <a:spcPts val="0"/>
                        </a:spcAft>
                        <a:buClr>
                          <a:srgbClr val="4A4F6B"/>
                        </a:buClr>
                        <a:buSzPts val="1100"/>
                        <a:buFont typeface="Calibri"/>
                        <a:buNone/>
                      </a:pPr>
                      <a:r>
                        <a:rPr i="0" lang="en-US" sz="1100" u="none" cap="none" strike="noStrike">
                          <a:solidFill>
                            <a:srgbClr val="4A4F6B"/>
                          </a:solidFill>
                          <a:latin typeface="Calibri"/>
                          <a:ea typeface="Calibri"/>
                          <a:cs typeface="Calibri"/>
                          <a:sym typeface="Calibri"/>
                        </a:rPr>
                        <a:t>✗</a:t>
                      </a:r>
                      <a:endParaRPr sz="110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tcPr>
                </a:tc>
                <a:tc>
                  <a:txBody>
                    <a:bodyPr/>
                    <a:lstStyle/>
                    <a:p>
                      <a:pPr indent="0" lvl="0" marL="0" marR="0" rtl="0" algn="l">
                        <a:spcBef>
                          <a:spcPts val="0"/>
                        </a:spcBef>
                        <a:spcAft>
                          <a:spcPts val="0"/>
                        </a:spcAft>
                        <a:buClr>
                          <a:srgbClr val="4A4F6B"/>
                        </a:buClr>
                        <a:buSzPts val="1100"/>
                        <a:buFont typeface="Calibri"/>
                        <a:buNone/>
                      </a:pPr>
                      <a:r>
                        <a:rPr i="0" lang="en-US" sz="1100" u="none" cap="none" strike="noStrike">
                          <a:solidFill>
                            <a:srgbClr val="4A4F6B"/>
                          </a:solidFill>
                          <a:latin typeface="Calibri"/>
                          <a:ea typeface="Calibri"/>
                          <a:cs typeface="Calibri"/>
                          <a:sym typeface="Calibri"/>
                        </a:rPr>
                        <a:t>~</a:t>
                      </a:r>
                      <a:endParaRPr sz="110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tcPr>
                </a:tc>
                <a:tc>
                  <a:txBody>
                    <a:bodyPr/>
                    <a:lstStyle/>
                    <a:p>
                      <a:pPr indent="0" lvl="0" marL="0" marR="0" rtl="0" algn="l">
                        <a:spcBef>
                          <a:spcPts val="0"/>
                        </a:spcBef>
                        <a:spcAft>
                          <a:spcPts val="0"/>
                        </a:spcAft>
                        <a:buClr>
                          <a:srgbClr val="4A4F6B"/>
                        </a:buClr>
                        <a:buSzPts val="1100"/>
                        <a:buFont typeface="Calibri"/>
                        <a:buNone/>
                      </a:pPr>
                      <a:r>
                        <a:rPr i="0" lang="en-US" sz="1100" u="none" cap="none" strike="noStrike">
                          <a:solidFill>
                            <a:srgbClr val="4A4F6B"/>
                          </a:solidFill>
                          <a:latin typeface="Calibri"/>
                          <a:ea typeface="Calibri"/>
                          <a:cs typeface="Calibri"/>
                          <a:sym typeface="Calibri"/>
                        </a:rPr>
                        <a:t>✗</a:t>
                      </a:r>
                      <a:endParaRPr sz="110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tcPr>
                </a:tc>
              </a:tr>
              <a:tr h="384050">
                <a:tc>
                  <a:txBody>
                    <a:bodyPr/>
                    <a:lstStyle/>
                    <a:p>
                      <a:pPr indent="0" lvl="0" marL="0" marR="0" rtl="0" algn="l">
                        <a:spcBef>
                          <a:spcPts val="0"/>
                        </a:spcBef>
                        <a:spcAft>
                          <a:spcPts val="0"/>
                        </a:spcAft>
                        <a:buClr>
                          <a:srgbClr val="4A4F6B"/>
                        </a:buClr>
                        <a:buSzPts val="1100"/>
                        <a:buFont typeface="Calibri"/>
                        <a:buNone/>
                      </a:pPr>
                      <a:r>
                        <a:rPr b="1" lang="en-US" sz="1100" u="none" cap="none" strike="noStrike">
                          <a:solidFill>
                            <a:srgbClr val="4A4F6B"/>
                          </a:solidFill>
                          <a:latin typeface="Calibri"/>
                          <a:ea typeface="Calibri"/>
                          <a:cs typeface="Calibri"/>
                          <a:sym typeface="Calibri"/>
                        </a:rPr>
                        <a:t>Verified across all events</a:t>
                      </a:r>
                      <a:endParaRPr sz="110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tcPr>
                </a:tc>
                <a:tc>
                  <a:txBody>
                    <a:bodyPr/>
                    <a:lstStyle/>
                    <a:p>
                      <a:pPr indent="0" lvl="0" marL="0" marR="0" rtl="0" algn="l">
                        <a:spcBef>
                          <a:spcPts val="0"/>
                        </a:spcBef>
                        <a:spcAft>
                          <a:spcPts val="0"/>
                        </a:spcAft>
                        <a:buClr>
                          <a:srgbClr val="4A4F6B"/>
                        </a:buClr>
                        <a:buSzPts val="1100"/>
                        <a:buFont typeface="Calibri"/>
                        <a:buNone/>
                      </a:pPr>
                      <a:r>
                        <a:rPr i="0" lang="en-US" sz="1100" u="none" cap="none" strike="noStrike">
                          <a:solidFill>
                            <a:srgbClr val="4A4F6B"/>
                          </a:solidFill>
                          <a:latin typeface="Calibri"/>
                          <a:ea typeface="Calibri"/>
                          <a:cs typeface="Calibri"/>
                          <a:sym typeface="Calibri"/>
                        </a:rPr>
                        <a:t>✓</a:t>
                      </a:r>
                      <a:endParaRPr sz="110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tcPr>
                </a:tc>
                <a:tc>
                  <a:txBody>
                    <a:bodyPr/>
                    <a:lstStyle/>
                    <a:p>
                      <a:pPr indent="0" lvl="0" marL="0" marR="0" rtl="0" algn="l">
                        <a:spcBef>
                          <a:spcPts val="0"/>
                        </a:spcBef>
                        <a:spcAft>
                          <a:spcPts val="0"/>
                        </a:spcAft>
                        <a:buClr>
                          <a:srgbClr val="4A4F6B"/>
                        </a:buClr>
                        <a:buSzPts val="1100"/>
                        <a:buFont typeface="Calibri"/>
                        <a:buNone/>
                      </a:pPr>
                      <a:r>
                        <a:rPr i="0" lang="en-US" sz="1100" u="none" cap="none" strike="noStrike">
                          <a:solidFill>
                            <a:srgbClr val="4A4F6B"/>
                          </a:solidFill>
                          <a:latin typeface="Calibri"/>
                          <a:ea typeface="Calibri"/>
                          <a:cs typeface="Calibri"/>
                          <a:sym typeface="Calibri"/>
                        </a:rPr>
                        <a:t>~</a:t>
                      </a:r>
                      <a:endParaRPr sz="110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tcPr>
                </a:tc>
                <a:tc>
                  <a:txBody>
                    <a:bodyPr/>
                    <a:lstStyle/>
                    <a:p>
                      <a:pPr indent="0" lvl="0" marL="0" marR="0" rtl="0" algn="l">
                        <a:spcBef>
                          <a:spcPts val="0"/>
                        </a:spcBef>
                        <a:spcAft>
                          <a:spcPts val="0"/>
                        </a:spcAft>
                        <a:buClr>
                          <a:srgbClr val="4A4F6B"/>
                        </a:buClr>
                        <a:buSzPts val="1100"/>
                        <a:buFont typeface="Calibri"/>
                        <a:buNone/>
                      </a:pPr>
                      <a:r>
                        <a:rPr i="0" lang="en-US" sz="1100" u="none" cap="none" strike="noStrike">
                          <a:solidFill>
                            <a:srgbClr val="4A4F6B"/>
                          </a:solidFill>
                          <a:latin typeface="Calibri"/>
                          <a:ea typeface="Calibri"/>
                          <a:cs typeface="Calibri"/>
                          <a:sym typeface="Calibri"/>
                        </a:rPr>
                        <a:t>✗</a:t>
                      </a:r>
                      <a:endParaRPr sz="110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tcPr>
                </a:tc>
                <a:tc>
                  <a:txBody>
                    <a:bodyPr/>
                    <a:lstStyle/>
                    <a:p>
                      <a:pPr indent="0" lvl="0" marL="0" marR="0" rtl="0" algn="l">
                        <a:spcBef>
                          <a:spcPts val="0"/>
                        </a:spcBef>
                        <a:spcAft>
                          <a:spcPts val="0"/>
                        </a:spcAft>
                        <a:buClr>
                          <a:srgbClr val="4A4F6B"/>
                        </a:buClr>
                        <a:buSzPts val="1100"/>
                        <a:buFont typeface="Calibri"/>
                        <a:buNone/>
                      </a:pPr>
                      <a:r>
                        <a:rPr i="0" lang="en-US" sz="1100" u="none" cap="none" strike="noStrike">
                          <a:solidFill>
                            <a:srgbClr val="4A4F6B"/>
                          </a:solidFill>
                          <a:latin typeface="Calibri"/>
                          <a:ea typeface="Calibri"/>
                          <a:cs typeface="Calibri"/>
                          <a:sym typeface="Calibri"/>
                        </a:rPr>
                        <a:t>✗</a:t>
                      </a:r>
                      <a:endParaRPr sz="110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tcPr>
                </a:tc>
              </a:tr>
              <a:tr h="384050">
                <a:tc>
                  <a:txBody>
                    <a:bodyPr/>
                    <a:lstStyle/>
                    <a:p>
                      <a:pPr indent="0" lvl="0" marL="0" marR="0" rtl="0" algn="l">
                        <a:spcBef>
                          <a:spcPts val="0"/>
                        </a:spcBef>
                        <a:spcAft>
                          <a:spcPts val="0"/>
                        </a:spcAft>
                        <a:buClr>
                          <a:srgbClr val="4A4F6B"/>
                        </a:buClr>
                        <a:buSzPts val="1100"/>
                        <a:buFont typeface="Calibri"/>
                        <a:buNone/>
                      </a:pPr>
                      <a:r>
                        <a:rPr b="1" lang="en-US" sz="1100" u="none" cap="none" strike="noStrike">
                          <a:solidFill>
                            <a:srgbClr val="4A4F6B"/>
                          </a:solidFill>
                          <a:latin typeface="Calibri"/>
                          <a:ea typeface="Calibri"/>
                          <a:cs typeface="Calibri"/>
                          <a:sym typeface="Calibri"/>
                        </a:rPr>
                        <a:t>Big network today</a:t>
                      </a:r>
                      <a:endParaRPr sz="110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tcPr>
                </a:tc>
                <a:tc>
                  <a:txBody>
                    <a:bodyPr/>
                    <a:lstStyle/>
                    <a:p>
                      <a:pPr indent="0" lvl="0" marL="0" marR="0" rtl="0" algn="l">
                        <a:spcBef>
                          <a:spcPts val="0"/>
                        </a:spcBef>
                        <a:spcAft>
                          <a:spcPts val="0"/>
                        </a:spcAft>
                        <a:buClr>
                          <a:srgbClr val="4A4F6B"/>
                        </a:buClr>
                        <a:buSzPts val="1100"/>
                        <a:buFont typeface="Calibri"/>
                        <a:buNone/>
                      </a:pPr>
                      <a:r>
                        <a:rPr i="0" lang="en-US" sz="1100" u="none" cap="none" strike="noStrike">
                          <a:solidFill>
                            <a:srgbClr val="4A4F6B"/>
                          </a:solidFill>
                          <a:latin typeface="Calibri"/>
                          <a:ea typeface="Calibri"/>
                          <a:cs typeface="Calibri"/>
                          <a:sym typeface="Calibri"/>
                        </a:rPr>
                        <a:t>✗</a:t>
                      </a:r>
                      <a:endParaRPr sz="110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tcPr>
                </a:tc>
                <a:tc>
                  <a:txBody>
                    <a:bodyPr/>
                    <a:lstStyle/>
                    <a:p>
                      <a:pPr indent="0" lvl="0" marL="0" marR="0" rtl="0" algn="l">
                        <a:spcBef>
                          <a:spcPts val="0"/>
                        </a:spcBef>
                        <a:spcAft>
                          <a:spcPts val="0"/>
                        </a:spcAft>
                        <a:buClr>
                          <a:srgbClr val="4A4F6B"/>
                        </a:buClr>
                        <a:buSzPts val="1100"/>
                        <a:buFont typeface="Calibri"/>
                        <a:buNone/>
                      </a:pPr>
                      <a:r>
                        <a:rPr i="0" lang="en-US" sz="1100" u="none" cap="none" strike="noStrike">
                          <a:solidFill>
                            <a:srgbClr val="4A4F6B"/>
                          </a:solidFill>
                          <a:latin typeface="Calibri"/>
                          <a:ea typeface="Calibri"/>
                          <a:cs typeface="Calibri"/>
                          <a:sym typeface="Calibri"/>
                        </a:rPr>
                        <a:t>✓</a:t>
                      </a:r>
                      <a:endParaRPr sz="110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tcPr>
                </a:tc>
                <a:tc>
                  <a:txBody>
                    <a:bodyPr/>
                    <a:lstStyle/>
                    <a:p>
                      <a:pPr indent="0" lvl="0" marL="0" marR="0" rtl="0" algn="l">
                        <a:spcBef>
                          <a:spcPts val="0"/>
                        </a:spcBef>
                        <a:spcAft>
                          <a:spcPts val="0"/>
                        </a:spcAft>
                        <a:buClr>
                          <a:srgbClr val="4A4F6B"/>
                        </a:buClr>
                        <a:buSzPts val="1100"/>
                        <a:buFont typeface="Calibri"/>
                        <a:buNone/>
                      </a:pPr>
                      <a:r>
                        <a:rPr i="0" lang="en-US" sz="1100" u="none" cap="none" strike="noStrike">
                          <a:solidFill>
                            <a:srgbClr val="4A4F6B"/>
                          </a:solidFill>
                          <a:latin typeface="Calibri"/>
                          <a:ea typeface="Calibri"/>
                          <a:cs typeface="Calibri"/>
                          <a:sym typeface="Calibri"/>
                        </a:rPr>
                        <a:t>✓</a:t>
                      </a:r>
                      <a:endParaRPr sz="110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tcPr>
                </a:tc>
                <a:tc>
                  <a:txBody>
                    <a:bodyPr/>
                    <a:lstStyle/>
                    <a:p>
                      <a:pPr indent="0" lvl="0" marL="0" marR="0" rtl="0" algn="l">
                        <a:spcBef>
                          <a:spcPts val="0"/>
                        </a:spcBef>
                        <a:spcAft>
                          <a:spcPts val="0"/>
                        </a:spcAft>
                        <a:buClr>
                          <a:srgbClr val="4A4F6B"/>
                        </a:buClr>
                        <a:buSzPts val="1100"/>
                        <a:buFont typeface="Calibri"/>
                        <a:buNone/>
                      </a:pPr>
                      <a:r>
                        <a:rPr i="0" lang="en-US" sz="1100" u="none" cap="none" strike="noStrike">
                          <a:solidFill>
                            <a:srgbClr val="4A4F6B"/>
                          </a:solidFill>
                          <a:latin typeface="Calibri"/>
                          <a:ea typeface="Calibri"/>
                          <a:cs typeface="Calibri"/>
                          <a:sym typeface="Calibri"/>
                        </a:rPr>
                        <a:t>—</a:t>
                      </a:r>
                      <a:endParaRPr sz="110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tcPr>
                </a:tc>
              </a:tr>
            </a:tbl>
          </a:graphicData>
        </a:graphic>
      </p:graphicFrame>
      <p:sp>
        <p:nvSpPr>
          <p:cNvPr id="155" name="Google Shape;155;p9"/>
          <p:cNvSpPr/>
          <p:nvPr/>
        </p:nvSpPr>
        <p:spPr>
          <a:xfrm>
            <a:off x="3474720" y="3246120"/>
            <a:ext cx="5212080" cy="1325880"/>
          </a:xfrm>
          <a:prstGeom prst="roundRect">
            <a:avLst>
              <a:gd fmla="val 6897" name="adj"/>
            </a:avLst>
          </a:prstGeom>
          <a:solidFill>
            <a:schemeClr val="lt1"/>
          </a:solidFill>
          <a:ln cap="flat" cmpd="sng" w="15875">
            <a:solidFill>
              <a:schemeClr val="accent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9"/>
          <p:cNvSpPr txBox="1"/>
          <p:nvPr/>
        </p:nvSpPr>
        <p:spPr>
          <a:xfrm>
            <a:off x="3657600" y="3383280"/>
            <a:ext cx="484632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Our unfair advantage</a:t>
            </a:r>
            <a:endParaRPr b="0" i="0" sz="1400" u="none" cap="none" strike="noStrike">
              <a:solidFill>
                <a:schemeClr val="dk1"/>
              </a:solidFill>
              <a:latin typeface="Calibri"/>
              <a:ea typeface="Calibri"/>
              <a:cs typeface="Calibri"/>
              <a:sym typeface="Calibri"/>
            </a:endParaRPr>
          </a:p>
        </p:txBody>
      </p:sp>
      <p:sp>
        <p:nvSpPr>
          <p:cNvPr id="157" name="Google Shape;157;p9"/>
          <p:cNvSpPr txBox="1"/>
          <p:nvPr/>
        </p:nvSpPr>
        <p:spPr>
          <a:xfrm>
            <a:off x="3657600" y="3721608"/>
            <a:ext cx="484632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Experience verified by every Calgary organizer, not one community, plus hours free and follow-through. AI Tinkerers verifies only its own events; YC and LinkedIn are self-reported.</a:t>
            </a:r>
            <a:endParaRPr b="0" i="0" sz="1200" u="none" cap="none" strike="noStrike">
              <a:solidFill>
                <a:schemeClr val="dk1"/>
              </a:solidFill>
              <a:latin typeface="Calibri"/>
              <a:ea typeface="Calibri"/>
              <a:cs typeface="Calibri"/>
              <a:sym typeface="Calibri"/>
            </a:endParaRPr>
          </a:p>
        </p:txBody>
      </p:sp>
      <p:sp>
        <p:nvSpPr>
          <p:cNvPr id="158" name="Google Shape;158;p9"/>
          <p:cNvSpPr txBox="1"/>
          <p:nvPr>
            <p:ph idx="4294967295" type="sldNum"/>
          </p:nvPr>
        </p:nvSpPr>
        <p:spPr>
          <a:xfrm>
            <a:off x="7955280" y="4732020"/>
            <a:ext cx="73152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5"/>
          <p:cNvSpPr txBox="1"/>
          <p:nvPr>
            <p:ph type="title"/>
          </p:nvPr>
        </p:nvSpPr>
        <p:spPr>
          <a:xfrm>
            <a:off x="457200" y="320040"/>
            <a:ext cx="6949440" cy="6400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rgbClr val="012C3E"/>
                </a:solidFill>
              </a:rPr>
              <a:t>MVP Demo</a:t>
            </a:r>
            <a:endParaRPr sz="3000">
              <a:solidFill>
                <a:srgbClr val="012C3E"/>
              </a:solidFill>
            </a:endParaRPr>
          </a:p>
        </p:txBody>
      </p:sp>
      <p:sp>
        <p:nvSpPr>
          <p:cNvPr id="165" name="Google Shape;165;p5"/>
          <p:cNvSpPr txBox="1"/>
          <p:nvPr>
            <p:ph idx="1" type="body"/>
          </p:nvPr>
        </p:nvSpPr>
        <p:spPr>
          <a:xfrm>
            <a:off x="457200" y="960120"/>
            <a:ext cx="7772400" cy="3657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300"/>
              <a:buNone/>
            </a:pPr>
            <a:r>
              <a:rPr i="1" lang="en-US" sz="1300">
                <a:solidFill>
                  <a:schemeClr val="dk2"/>
                </a:solidFill>
              </a:rPr>
              <a:t>From missing role to booked coffee chat in under a minute.</a:t>
            </a:r>
            <a:endParaRPr sz="1300"/>
          </a:p>
        </p:txBody>
      </p:sp>
      <p:sp>
        <p:nvSpPr>
          <p:cNvPr id="166" name="Google Shape;166;p5"/>
          <p:cNvSpPr/>
          <p:nvPr/>
        </p:nvSpPr>
        <p:spPr>
          <a:xfrm>
            <a:off x="7589520" y="411480"/>
            <a:ext cx="1097280" cy="411480"/>
          </a:xfrm>
          <a:prstGeom prst="roundRect">
            <a:avLst>
              <a:gd fmla="val 48889" name="adj"/>
            </a:avLst>
          </a:prstGeom>
          <a:solidFill>
            <a:srgbClr val="00D9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5"/>
          <p:cNvSpPr txBox="1"/>
          <p:nvPr/>
        </p:nvSpPr>
        <p:spPr>
          <a:xfrm>
            <a:off x="7733974" y="411475"/>
            <a:ext cx="8085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Slide </a:t>
            </a:r>
            <a:r>
              <a:rPr b="1" lang="en-US" sz="1100">
                <a:solidFill>
                  <a:schemeClr val="lt1"/>
                </a:solidFill>
                <a:latin typeface="Calibri"/>
                <a:ea typeface="Calibri"/>
                <a:cs typeface="Calibri"/>
                <a:sym typeface="Calibri"/>
              </a:rPr>
              <a:t>7</a:t>
            </a:r>
            <a:r>
              <a:rPr b="1" i="0" lang="en-US" sz="1100" u="none" cap="none" strike="noStrike">
                <a:solidFill>
                  <a:schemeClr val="lt1"/>
                </a:solidFill>
                <a:latin typeface="Calibri"/>
                <a:ea typeface="Calibri"/>
                <a:cs typeface="Calibri"/>
                <a:sym typeface="Calibri"/>
              </a:rPr>
              <a:t> of 10</a:t>
            </a:r>
            <a:endParaRPr b="0" i="0" sz="1100" u="none" cap="none" strike="noStrike">
              <a:solidFill>
                <a:schemeClr val="dk1"/>
              </a:solidFill>
              <a:latin typeface="Calibri"/>
              <a:ea typeface="Calibri"/>
              <a:cs typeface="Calibri"/>
              <a:sym typeface="Calibri"/>
            </a:endParaRPr>
          </a:p>
        </p:txBody>
      </p:sp>
      <p:sp>
        <p:nvSpPr>
          <p:cNvPr id="168" name="Google Shape;168;p5"/>
          <p:cNvSpPr/>
          <p:nvPr/>
        </p:nvSpPr>
        <p:spPr>
          <a:xfrm>
            <a:off x="457200" y="1463040"/>
            <a:ext cx="2743200" cy="3108960"/>
          </a:xfrm>
          <a:prstGeom prst="roundRect">
            <a:avLst>
              <a:gd fmla="val 4000"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5"/>
          <p:cNvSpPr/>
          <p:nvPr/>
        </p:nvSpPr>
        <p:spPr>
          <a:xfrm>
            <a:off x="640080" y="1645920"/>
            <a:ext cx="411480" cy="411480"/>
          </a:xfrm>
          <a:prstGeom prst="ellipse">
            <a:avLst/>
          </a:prstGeom>
          <a:solidFill>
            <a:srgbClr val="00D9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0" name="Google Shape;170;p5"/>
          <p:cNvPicPr preferRelativeResize="0"/>
          <p:nvPr/>
        </p:nvPicPr>
        <p:blipFill rotWithShape="1">
          <a:blip r:embed="rId3">
            <a:alphaModFix/>
          </a:blip>
          <a:srcRect b="0" l="0" r="0" t="0"/>
          <a:stretch/>
        </p:blipFill>
        <p:spPr>
          <a:xfrm>
            <a:off x="731520" y="1737360"/>
            <a:ext cx="228600" cy="228600"/>
          </a:xfrm>
          <a:prstGeom prst="rect">
            <a:avLst/>
          </a:prstGeom>
          <a:noFill/>
          <a:ln>
            <a:noFill/>
          </a:ln>
        </p:spPr>
      </p:pic>
      <p:sp>
        <p:nvSpPr>
          <p:cNvPr id="171" name="Google Shape;171;p5"/>
          <p:cNvSpPr txBox="1"/>
          <p:nvPr/>
        </p:nvSpPr>
        <p:spPr>
          <a:xfrm>
            <a:off x="1170432" y="1645920"/>
            <a:ext cx="1874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100"/>
              <a:buFont typeface="Calibri"/>
              <a:buNone/>
            </a:pPr>
            <a:r>
              <a:rPr b="1" i="0" lang="en-US" sz="1100" u="none" cap="none" strike="noStrike">
                <a:solidFill>
                  <a:srgbClr val="00D9C7"/>
                </a:solidFill>
                <a:latin typeface="Calibri"/>
                <a:ea typeface="Calibri"/>
                <a:cs typeface="Calibri"/>
                <a:sym typeface="Calibri"/>
              </a:rPr>
              <a:t>THE DEMO FLOW</a:t>
            </a:r>
            <a:endParaRPr b="0" i="0" sz="1100" u="none" cap="none" strike="noStrike">
              <a:solidFill>
                <a:srgbClr val="00D9C7"/>
              </a:solidFill>
              <a:latin typeface="Calibri"/>
              <a:ea typeface="Calibri"/>
              <a:cs typeface="Calibri"/>
              <a:sym typeface="Calibri"/>
            </a:endParaRPr>
          </a:p>
        </p:txBody>
      </p:sp>
      <p:sp>
        <p:nvSpPr>
          <p:cNvPr id="172" name="Google Shape;172;p5"/>
          <p:cNvSpPr txBox="1"/>
          <p:nvPr/>
        </p:nvSpPr>
        <p:spPr>
          <a:xfrm>
            <a:off x="640080" y="2194560"/>
            <a:ext cx="2377440" cy="21945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A real BuildYYC team posts: “backend dev, 6 hrs/wk”</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Top 3 attendees who signed up today appear, with reasons</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The builder accepts and a coffee chat is booked</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Fast-forward to day 14: “still building?” updates the organizer view</a:t>
            </a:r>
            <a:endParaRPr b="0" i="0" sz="1250" u="none" cap="none" strike="noStrike">
              <a:solidFill>
                <a:schemeClr val="dk1"/>
              </a:solidFill>
              <a:latin typeface="Calibri"/>
              <a:ea typeface="Calibri"/>
              <a:cs typeface="Calibri"/>
              <a:sym typeface="Calibri"/>
            </a:endParaRPr>
          </a:p>
        </p:txBody>
      </p:sp>
      <p:sp>
        <p:nvSpPr>
          <p:cNvPr id="173" name="Google Shape;173;p5"/>
          <p:cNvSpPr/>
          <p:nvPr/>
        </p:nvSpPr>
        <p:spPr>
          <a:xfrm>
            <a:off x="3474720" y="1463040"/>
            <a:ext cx="3291840" cy="3108960"/>
          </a:xfrm>
          <a:prstGeom prst="roundRect">
            <a:avLst>
              <a:gd fmla="val 2941" name="adj"/>
            </a:avLst>
          </a:prstGeom>
          <a:solidFill>
            <a:schemeClr val="lt2"/>
          </a:solidFill>
          <a:ln cap="flat" cmpd="sng" w="15875">
            <a:solidFill>
              <a:schemeClr val="accent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5"/>
          <p:cNvSpPr/>
          <p:nvPr/>
        </p:nvSpPr>
        <p:spPr>
          <a:xfrm>
            <a:off x="4754880" y="2331720"/>
            <a:ext cx="731520" cy="731520"/>
          </a:xfrm>
          <a:prstGeom prst="ellipse">
            <a:avLst/>
          </a:prstGeom>
          <a:solidFill>
            <a:schemeClr val="accent4"/>
          </a:solidFill>
          <a:ln cap="flat" cmpd="sng" w="127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5" name="Google Shape;175;p5"/>
          <p:cNvPicPr preferRelativeResize="0"/>
          <p:nvPr/>
        </p:nvPicPr>
        <p:blipFill rotWithShape="1">
          <a:blip r:embed="rId3">
            <a:alphaModFix/>
          </a:blip>
          <a:srcRect b="0" l="0" r="0" t="0"/>
          <a:stretch/>
        </p:blipFill>
        <p:spPr>
          <a:xfrm>
            <a:off x="4937760" y="2514600"/>
            <a:ext cx="365760" cy="365760"/>
          </a:xfrm>
          <a:prstGeom prst="rect">
            <a:avLst/>
          </a:prstGeom>
          <a:noFill/>
          <a:ln>
            <a:noFill/>
          </a:ln>
        </p:spPr>
      </p:pic>
      <p:sp>
        <p:nvSpPr>
          <p:cNvPr id="176" name="Google Shape;176;p5"/>
          <p:cNvSpPr txBox="1"/>
          <p:nvPr/>
        </p:nvSpPr>
        <p:spPr>
          <a:xfrm>
            <a:off x="3611880" y="3246120"/>
            <a:ext cx="3017520" cy="6400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0" i="1" lang="en-US" sz="1200" u="none" cap="none" strike="noStrike">
                <a:solidFill>
                  <a:schemeClr val="dk2"/>
                </a:solidFill>
                <a:latin typeface="Calibri"/>
                <a:ea typeface="Calibri"/>
                <a:cs typeface="Calibri"/>
                <a:sym typeface="Calibri"/>
              </a:rPr>
              <a:t>[Screenshot or live demo: match a real BuildYYC team with a real attendee]</a:t>
            </a:r>
            <a:endParaRPr b="0" i="0" sz="1200" u="none" cap="none" strike="noStrike">
              <a:solidFill>
                <a:schemeClr val="dk1"/>
              </a:solidFill>
              <a:latin typeface="Calibri"/>
              <a:ea typeface="Calibri"/>
              <a:cs typeface="Calibri"/>
              <a:sym typeface="Calibri"/>
            </a:endParaRPr>
          </a:p>
        </p:txBody>
      </p:sp>
      <p:sp>
        <p:nvSpPr>
          <p:cNvPr id="177" name="Google Shape;177;p5"/>
          <p:cNvSpPr/>
          <p:nvPr/>
        </p:nvSpPr>
        <p:spPr>
          <a:xfrm>
            <a:off x="6949440" y="1463040"/>
            <a:ext cx="1737360" cy="1463040"/>
          </a:xfrm>
          <a:prstGeom prst="roundRect">
            <a:avLst>
              <a:gd fmla="val 6250" name="adj"/>
            </a:avLst>
          </a:prstGeom>
          <a:solidFill>
            <a:schemeClr val="lt1"/>
          </a:solidFill>
          <a:ln cap="flat" cmpd="sng" w="15875">
            <a:solidFill>
              <a:schemeClr val="accent3"/>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5"/>
          <p:cNvSpPr txBox="1"/>
          <p:nvPr/>
        </p:nvSpPr>
        <p:spPr>
          <a:xfrm>
            <a:off x="7132320" y="1600200"/>
            <a:ext cx="13716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What's real</a:t>
            </a:r>
            <a:endParaRPr b="0" i="0" sz="1400" u="none" cap="none" strike="noStrike">
              <a:solidFill>
                <a:schemeClr val="dk1"/>
              </a:solidFill>
              <a:latin typeface="Calibri"/>
              <a:ea typeface="Calibri"/>
              <a:cs typeface="Calibri"/>
              <a:sym typeface="Calibri"/>
            </a:endParaRPr>
          </a:p>
        </p:txBody>
      </p:sp>
      <p:sp>
        <p:nvSpPr>
          <p:cNvPr id="179" name="Google Shape;179;p5"/>
          <p:cNvSpPr txBox="1"/>
          <p:nvPr/>
        </p:nvSpPr>
        <p:spPr>
          <a:xfrm>
            <a:off x="7132320" y="1938528"/>
            <a:ext cx="137160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Sign-up, role post, AI top-3 match, booking, day-14 check-in</a:t>
            </a:r>
            <a:endParaRPr b="0" i="0" sz="1200" u="none" cap="none" strike="noStrike">
              <a:solidFill>
                <a:schemeClr val="dk1"/>
              </a:solidFill>
              <a:latin typeface="Calibri"/>
              <a:ea typeface="Calibri"/>
              <a:cs typeface="Calibri"/>
              <a:sym typeface="Calibri"/>
            </a:endParaRPr>
          </a:p>
        </p:txBody>
      </p:sp>
      <p:sp>
        <p:nvSpPr>
          <p:cNvPr id="180" name="Google Shape;180;p5"/>
          <p:cNvSpPr/>
          <p:nvPr/>
        </p:nvSpPr>
        <p:spPr>
          <a:xfrm>
            <a:off x="6949440" y="3108960"/>
            <a:ext cx="1737360" cy="1463040"/>
          </a:xfrm>
          <a:prstGeom prst="roundRect">
            <a:avLst>
              <a:gd fmla="val 6250" name="adj"/>
            </a:avLst>
          </a:prstGeom>
          <a:solidFill>
            <a:schemeClr val="lt1"/>
          </a:solidFill>
          <a:ln cap="flat" cmpd="sng" w="15875">
            <a:solidFill>
              <a:schemeClr val="accent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5"/>
          <p:cNvSpPr txBox="1"/>
          <p:nvPr/>
        </p:nvSpPr>
        <p:spPr>
          <a:xfrm>
            <a:off x="7132320" y="3246120"/>
            <a:ext cx="13716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What's next</a:t>
            </a:r>
            <a:endParaRPr b="0" i="0" sz="1400" u="none" cap="none" strike="noStrike">
              <a:solidFill>
                <a:schemeClr val="dk1"/>
              </a:solidFill>
              <a:latin typeface="Calibri"/>
              <a:ea typeface="Calibri"/>
              <a:cs typeface="Calibri"/>
              <a:sym typeface="Calibri"/>
            </a:endParaRPr>
          </a:p>
        </p:txBody>
      </p:sp>
      <p:sp>
        <p:nvSpPr>
          <p:cNvPr id="182" name="Google Shape;182;p5"/>
          <p:cNvSpPr txBox="1"/>
          <p:nvPr/>
        </p:nvSpPr>
        <p:spPr>
          <a:xfrm>
            <a:off x="7132320" y="3584448"/>
            <a:ext cx="137160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Luma and Devpost import, organizer-issued credentials, paid contracts</a:t>
            </a:r>
            <a:endParaRPr b="0" i="0" sz="1200" u="none" cap="none" strike="noStrike">
              <a:solidFill>
                <a:schemeClr val="dk1"/>
              </a:solidFill>
              <a:latin typeface="Calibri"/>
              <a:ea typeface="Calibri"/>
              <a:cs typeface="Calibri"/>
              <a:sym typeface="Calibri"/>
            </a:endParaRPr>
          </a:p>
        </p:txBody>
      </p:sp>
      <p:sp>
        <p:nvSpPr>
          <p:cNvPr id="183" name="Google Shape;183;p5"/>
          <p:cNvSpPr txBox="1"/>
          <p:nvPr>
            <p:ph idx="4294967295" type="sldNum"/>
          </p:nvPr>
        </p:nvSpPr>
        <p:spPr>
          <a:xfrm>
            <a:off x="7955280" y="4732020"/>
            <a:ext cx="73152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7"/>
          <p:cNvSpPr txBox="1"/>
          <p:nvPr>
            <p:ph type="title"/>
          </p:nvPr>
        </p:nvSpPr>
        <p:spPr>
          <a:xfrm>
            <a:off x="457200" y="320040"/>
            <a:ext cx="6949440" cy="6400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chemeClr val="dk1"/>
                </a:solidFill>
              </a:rPr>
              <a:t>Business Model</a:t>
            </a:r>
            <a:endParaRPr sz="3000"/>
          </a:p>
        </p:txBody>
      </p:sp>
      <p:sp>
        <p:nvSpPr>
          <p:cNvPr id="190" name="Google Shape;190;p7"/>
          <p:cNvSpPr txBox="1"/>
          <p:nvPr>
            <p:ph idx="1" type="body"/>
          </p:nvPr>
        </p:nvSpPr>
        <p:spPr>
          <a:xfrm>
            <a:off x="457200" y="960120"/>
            <a:ext cx="7772400" cy="3657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300"/>
              <a:buNone/>
            </a:pPr>
            <a:r>
              <a:rPr i="1" lang="en-US" sz="1300">
                <a:solidFill>
                  <a:schemeClr val="dk2"/>
                </a:solidFill>
              </a:rPr>
              <a:t>Builders use it free. Organizers pay to turn events into lasting teams.</a:t>
            </a:r>
            <a:endParaRPr sz="1300"/>
          </a:p>
        </p:txBody>
      </p:sp>
      <p:sp>
        <p:nvSpPr>
          <p:cNvPr id="191" name="Google Shape;191;p7"/>
          <p:cNvSpPr/>
          <p:nvPr/>
        </p:nvSpPr>
        <p:spPr>
          <a:xfrm>
            <a:off x="7589520" y="411480"/>
            <a:ext cx="1097280" cy="411480"/>
          </a:xfrm>
          <a:prstGeom prst="roundRect">
            <a:avLst>
              <a:gd fmla="val 48889" name="adj"/>
            </a:avLst>
          </a:prstGeom>
          <a:solidFill>
            <a:srgbClr val="00D9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7"/>
          <p:cNvSpPr txBox="1"/>
          <p:nvPr/>
        </p:nvSpPr>
        <p:spPr>
          <a:xfrm>
            <a:off x="7731950" y="411475"/>
            <a:ext cx="8016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Slide </a:t>
            </a:r>
            <a:r>
              <a:rPr b="1" lang="en-US" sz="1100">
                <a:solidFill>
                  <a:schemeClr val="lt1"/>
                </a:solidFill>
                <a:latin typeface="Calibri"/>
                <a:ea typeface="Calibri"/>
                <a:cs typeface="Calibri"/>
                <a:sym typeface="Calibri"/>
              </a:rPr>
              <a:t>8</a:t>
            </a:r>
            <a:r>
              <a:rPr b="1" i="0" lang="en-US" sz="1100" u="none" cap="none" strike="noStrike">
                <a:solidFill>
                  <a:schemeClr val="lt1"/>
                </a:solidFill>
                <a:latin typeface="Calibri"/>
                <a:ea typeface="Calibri"/>
                <a:cs typeface="Calibri"/>
                <a:sym typeface="Calibri"/>
              </a:rPr>
              <a:t> of 10</a:t>
            </a:r>
            <a:endParaRPr b="0" i="0" sz="1100" u="none" cap="none" strike="noStrike">
              <a:solidFill>
                <a:schemeClr val="dk1"/>
              </a:solidFill>
              <a:latin typeface="Calibri"/>
              <a:ea typeface="Calibri"/>
              <a:cs typeface="Calibri"/>
              <a:sym typeface="Calibri"/>
            </a:endParaRPr>
          </a:p>
        </p:txBody>
      </p:sp>
      <p:sp>
        <p:nvSpPr>
          <p:cNvPr id="193" name="Google Shape;193;p7"/>
          <p:cNvSpPr/>
          <p:nvPr/>
        </p:nvSpPr>
        <p:spPr>
          <a:xfrm>
            <a:off x="457200" y="1463040"/>
            <a:ext cx="2743200" cy="3108960"/>
          </a:xfrm>
          <a:prstGeom prst="roundRect">
            <a:avLst>
              <a:gd fmla="val 4000"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7"/>
          <p:cNvSpPr/>
          <p:nvPr/>
        </p:nvSpPr>
        <p:spPr>
          <a:xfrm>
            <a:off x="640080" y="1645920"/>
            <a:ext cx="411480" cy="411480"/>
          </a:xfrm>
          <a:prstGeom prst="ellipse">
            <a:avLst/>
          </a:prstGeom>
          <a:solidFill>
            <a:srgbClr val="00D9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5" name="Google Shape;195;p7"/>
          <p:cNvPicPr preferRelativeResize="0"/>
          <p:nvPr/>
        </p:nvPicPr>
        <p:blipFill rotWithShape="1">
          <a:blip r:embed="rId3">
            <a:alphaModFix/>
          </a:blip>
          <a:srcRect b="0" l="0" r="0" t="0"/>
          <a:stretch/>
        </p:blipFill>
        <p:spPr>
          <a:xfrm>
            <a:off x="731520" y="1737360"/>
            <a:ext cx="228600" cy="228600"/>
          </a:xfrm>
          <a:prstGeom prst="rect">
            <a:avLst/>
          </a:prstGeom>
          <a:noFill/>
          <a:ln>
            <a:noFill/>
          </a:ln>
        </p:spPr>
      </p:pic>
      <p:sp>
        <p:nvSpPr>
          <p:cNvPr id="196" name="Google Shape;196;p7"/>
          <p:cNvSpPr txBox="1"/>
          <p:nvPr/>
        </p:nvSpPr>
        <p:spPr>
          <a:xfrm>
            <a:off x="1170432" y="1645920"/>
            <a:ext cx="1874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100"/>
              <a:buFont typeface="Calibri"/>
              <a:buNone/>
            </a:pPr>
            <a:r>
              <a:rPr b="1" i="0" lang="en-US" sz="1100" u="none" cap="none" strike="noStrike">
                <a:solidFill>
                  <a:srgbClr val="00D9C7"/>
                </a:solidFill>
                <a:latin typeface="Calibri"/>
                <a:ea typeface="Calibri"/>
                <a:cs typeface="Calibri"/>
                <a:sym typeface="Calibri"/>
              </a:rPr>
              <a:t>WHY ORGANIZERS PAY</a:t>
            </a:r>
            <a:endParaRPr b="0" i="0" sz="1100" u="none" cap="none" strike="noStrike">
              <a:solidFill>
                <a:srgbClr val="00D9C7"/>
              </a:solidFill>
              <a:latin typeface="Calibri"/>
              <a:ea typeface="Calibri"/>
              <a:cs typeface="Calibri"/>
              <a:sym typeface="Calibri"/>
            </a:endParaRPr>
          </a:p>
        </p:txBody>
      </p:sp>
      <p:sp>
        <p:nvSpPr>
          <p:cNvPr id="197" name="Google Shape;197;p7"/>
          <p:cNvSpPr txBox="1"/>
          <p:nvPr/>
        </p:nvSpPr>
        <p:spPr>
          <a:xfrm>
            <a:off x="640080" y="2194560"/>
            <a:ext cx="2377440" cy="21945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Their headline metric is companies formed (Platform: 403 since 2022)</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Today they can't see what happens after an event</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They already pay for event tools: Luma, Brella, AcceleratorApp</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Every event adds to the pool and the data, so they renew</a:t>
            </a:r>
            <a:endParaRPr b="0" i="0" sz="1250" u="none" cap="none" strike="noStrike">
              <a:solidFill>
                <a:schemeClr val="dk1"/>
              </a:solidFill>
              <a:latin typeface="Calibri"/>
              <a:ea typeface="Calibri"/>
              <a:cs typeface="Calibri"/>
              <a:sym typeface="Calibri"/>
            </a:endParaRPr>
          </a:p>
        </p:txBody>
      </p:sp>
      <p:sp>
        <p:nvSpPr>
          <p:cNvPr id="198" name="Google Shape;198;p7"/>
          <p:cNvSpPr/>
          <p:nvPr/>
        </p:nvSpPr>
        <p:spPr>
          <a:xfrm>
            <a:off x="3474720" y="1463040"/>
            <a:ext cx="2514600" cy="1508760"/>
          </a:xfrm>
          <a:prstGeom prst="roundRect">
            <a:avLst>
              <a:gd fmla="val 6061" name="adj"/>
            </a:avLst>
          </a:prstGeom>
          <a:solidFill>
            <a:schemeClr val="lt1"/>
          </a:solidFill>
          <a:ln cap="flat" cmpd="sng" w="15875">
            <a:solidFill>
              <a:schemeClr val="accent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7"/>
          <p:cNvSpPr txBox="1"/>
          <p:nvPr/>
        </p:nvSpPr>
        <p:spPr>
          <a:xfrm>
            <a:off x="3657600" y="1600200"/>
            <a:ext cx="21488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Revenue model</a:t>
            </a:r>
            <a:endParaRPr b="0" i="0" sz="1400" u="none" cap="none" strike="noStrike">
              <a:solidFill>
                <a:schemeClr val="dk1"/>
              </a:solidFill>
              <a:latin typeface="Calibri"/>
              <a:ea typeface="Calibri"/>
              <a:cs typeface="Calibri"/>
              <a:sym typeface="Calibri"/>
            </a:endParaRPr>
          </a:p>
        </p:txBody>
      </p:sp>
      <p:sp>
        <p:nvSpPr>
          <p:cNvPr id="200" name="Google Shape;200;p7"/>
          <p:cNvSpPr txBox="1"/>
          <p:nvPr/>
        </p:nvSpPr>
        <p:spPr>
          <a:xfrm>
            <a:off x="3657600" y="1938528"/>
            <a:ext cx="21488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B2B2C SaaS: per-event fee or annual licence; builders free. Later: employer access + ~9% fee on paid contracts.</a:t>
            </a:r>
            <a:endParaRPr b="0" i="0" sz="1200" u="none" cap="none" strike="noStrike">
              <a:solidFill>
                <a:schemeClr val="dk1"/>
              </a:solidFill>
              <a:latin typeface="Calibri"/>
              <a:ea typeface="Calibri"/>
              <a:cs typeface="Calibri"/>
              <a:sym typeface="Calibri"/>
            </a:endParaRPr>
          </a:p>
        </p:txBody>
      </p:sp>
      <p:sp>
        <p:nvSpPr>
          <p:cNvPr id="201" name="Google Shape;201;p7"/>
          <p:cNvSpPr/>
          <p:nvPr/>
        </p:nvSpPr>
        <p:spPr>
          <a:xfrm>
            <a:off x="6172200" y="1463040"/>
            <a:ext cx="2514600" cy="1508760"/>
          </a:xfrm>
          <a:prstGeom prst="roundRect">
            <a:avLst>
              <a:gd fmla="val 6061" name="adj"/>
            </a:avLst>
          </a:prstGeom>
          <a:solidFill>
            <a:schemeClr val="lt1"/>
          </a:solidFill>
          <a:ln cap="flat" cmpd="sng" w="15875">
            <a:solidFill>
              <a:schemeClr val="accent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7"/>
          <p:cNvSpPr txBox="1"/>
          <p:nvPr/>
        </p:nvSpPr>
        <p:spPr>
          <a:xfrm>
            <a:off x="6355080" y="1600200"/>
            <a:ext cx="21488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Pricing</a:t>
            </a:r>
            <a:endParaRPr b="0" i="0" sz="1400" u="none" cap="none" strike="noStrike">
              <a:solidFill>
                <a:schemeClr val="dk1"/>
              </a:solidFill>
              <a:latin typeface="Calibri"/>
              <a:ea typeface="Calibri"/>
              <a:cs typeface="Calibri"/>
              <a:sym typeface="Calibri"/>
            </a:endParaRPr>
          </a:p>
        </p:txBody>
      </p:sp>
      <p:sp>
        <p:nvSpPr>
          <p:cNvPr id="203" name="Google Shape;203;p7"/>
          <p:cNvSpPr txBox="1"/>
          <p:nvPr/>
        </p:nvSpPr>
        <p:spPr>
          <a:xfrm>
            <a:off x="6355080" y="1938528"/>
            <a:ext cx="21488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$500 per event, $1,500 per flagship buildathon, or $3K–$12K/yr licence. First pilot free.</a:t>
            </a:r>
            <a:endParaRPr b="0" i="0" sz="1200" u="none" cap="none" strike="noStrike">
              <a:solidFill>
                <a:schemeClr val="dk1"/>
              </a:solidFill>
              <a:latin typeface="Calibri"/>
              <a:ea typeface="Calibri"/>
              <a:cs typeface="Calibri"/>
              <a:sym typeface="Calibri"/>
            </a:endParaRPr>
          </a:p>
        </p:txBody>
      </p:sp>
      <p:sp>
        <p:nvSpPr>
          <p:cNvPr id="204" name="Google Shape;204;p7"/>
          <p:cNvSpPr/>
          <p:nvPr/>
        </p:nvSpPr>
        <p:spPr>
          <a:xfrm>
            <a:off x="3474720" y="3063240"/>
            <a:ext cx="2514600" cy="1508760"/>
          </a:xfrm>
          <a:prstGeom prst="roundRect">
            <a:avLst>
              <a:gd fmla="val 6061" name="adj"/>
            </a:avLst>
          </a:prstGeom>
          <a:solidFill>
            <a:schemeClr val="lt1"/>
          </a:solidFill>
          <a:ln cap="flat" cmpd="sng" w="15875">
            <a:solidFill>
              <a:schemeClr val="accent3"/>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7"/>
          <p:cNvSpPr txBox="1"/>
          <p:nvPr/>
        </p:nvSpPr>
        <p:spPr>
          <a:xfrm>
            <a:off x="3657600" y="3200400"/>
            <a:ext cx="21488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Unit economics</a:t>
            </a:r>
            <a:endParaRPr b="0" i="0" sz="1400" u="none" cap="none" strike="noStrike">
              <a:solidFill>
                <a:schemeClr val="dk1"/>
              </a:solidFill>
              <a:latin typeface="Calibri"/>
              <a:ea typeface="Calibri"/>
              <a:cs typeface="Calibri"/>
              <a:sym typeface="Calibri"/>
            </a:endParaRPr>
          </a:p>
        </p:txBody>
      </p:sp>
      <p:sp>
        <p:nvSpPr>
          <p:cNvPr id="206" name="Google Shape;206;p7"/>
          <p:cNvSpPr txBox="1"/>
          <p:nvPr/>
        </p:nvSpPr>
        <p:spPr>
          <a:xfrm>
            <a:off x="3657600" y="3538728"/>
            <a:ext cx="21488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We assume: CAC ~$500–1K, ~80% margin, ~$4K/yr, ~75% retention → LTV ≈ $12.8K (target, not proven).</a:t>
            </a:r>
            <a:endParaRPr b="0" i="0" sz="1200" u="none" cap="none" strike="noStrike">
              <a:solidFill>
                <a:schemeClr val="dk1"/>
              </a:solidFill>
              <a:latin typeface="Calibri"/>
              <a:ea typeface="Calibri"/>
              <a:cs typeface="Calibri"/>
              <a:sym typeface="Calibri"/>
            </a:endParaRPr>
          </a:p>
        </p:txBody>
      </p:sp>
      <p:sp>
        <p:nvSpPr>
          <p:cNvPr id="207" name="Google Shape;207;p7"/>
          <p:cNvSpPr/>
          <p:nvPr/>
        </p:nvSpPr>
        <p:spPr>
          <a:xfrm>
            <a:off x="6172200" y="3063240"/>
            <a:ext cx="2514600" cy="1508760"/>
          </a:xfrm>
          <a:prstGeom prst="roundRect">
            <a:avLst>
              <a:gd fmla="val 6061" name="adj"/>
            </a:avLst>
          </a:prstGeom>
          <a:solidFill>
            <a:schemeClr val="lt1"/>
          </a:solidFill>
          <a:ln cap="flat" cmpd="sng" w="15875">
            <a:solidFill>
              <a:schemeClr val="accent4"/>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7"/>
          <p:cNvSpPr txBox="1"/>
          <p:nvPr/>
        </p:nvSpPr>
        <p:spPr>
          <a:xfrm>
            <a:off x="6355080" y="3200400"/>
            <a:ext cx="21488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Key assumptions</a:t>
            </a:r>
            <a:endParaRPr b="0" i="0" sz="1400" u="none" cap="none" strike="noStrike">
              <a:solidFill>
                <a:schemeClr val="dk1"/>
              </a:solidFill>
              <a:latin typeface="Calibri"/>
              <a:ea typeface="Calibri"/>
              <a:cs typeface="Calibri"/>
              <a:sym typeface="Calibri"/>
            </a:endParaRPr>
          </a:p>
        </p:txBody>
      </p:sp>
      <p:sp>
        <p:nvSpPr>
          <p:cNvPr id="209" name="Google Shape;209;p7"/>
          <p:cNvSpPr txBox="1"/>
          <p:nvPr/>
        </p:nvSpPr>
        <p:spPr>
          <a:xfrm>
            <a:off x="6355080" y="3538728"/>
            <a:ext cx="21488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1) Organizers pay for post-event outcomes. 2) Builders keep their hours current. 3) Matches become ongoing projects.</a:t>
            </a:r>
            <a:endParaRPr b="0" i="0" sz="1200" u="none" cap="none" strike="noStrike">
              <a:solidFill>
                <a:schemeClr val="dk1"/>
              </a:solidFill>
              <a:latin typeface="Calibri"/>
              <a:ea typeface="Calibri"/>
              <a:cs typeface="Calibri"/>
              <a:sym typeface="Calibri"/>
            </a:endParaRPr>
          </a:p>
        </p:txBody>
      </p:sp>
      <p:sp>
        <p:nvSpPr>
          <p:cNvPr id="210" name="Google Shape;210;p7"/>
          <p:cNvSpPr txBox="1"/>
          <p:nvPr>
            <p:ph idx="4294967295" type="sldNum"/>
          </p:nvPr>
        </p:nvSpPr>
        <p:spPr>
          <a:xfrm>
            <a:off x="7955280" y="4732020"/>
            <a:ext cx="73152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8"/>
          <p:cNvSpPr txBox="1"/>
          <p:nvPr>
            <p:ph type="title"/>
          </p:nvPr>
        </p:nvSpPr>
        <p:spPr>
          <a:xfrm>
            <a:off x="457200" y="320040"/>
            <a:ext cx="6949440" cy="6400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rgbClr val="012C3E"/>
                </a:solidFill>
              </a:rPr>
              <a:t>Go-To-Market Plan</a:t>
            </a:r>
            <a:endParaRPr sz="3000">
              <a:solidFill>
                <a:srgbClr val="012C3E"/>
              </a:solidFill>
            </a:endParaRPr>
          </a:p>
        </p:txBody>
      </p:sp>
      <p:sp>
        <p:nvSpPr>
          <p:cNvPr id="217" name="Google Shape;217;p8"/>
          <p:cNvSpPr txBox="1"/>
          <p:nvPr>
            <p:ph idx="1" type="body"/>
          </p:nvPr>
        </p:nvSpPr>
        <p:spPr>
          <a:xfrm>
            <a:off x="457200" y="960120"/>
            <a:ext cx="7772400" cy="3657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300"/>
              <a:buNone/>
            </a:pPr>
            <a:r>
              <a:rPr i="1" lang="en-US" sz="1300">
                <a:solidFill>
                  <a:schemeClr val="dk2"/>
                </a:solidFill>
              </a:rPr>
              <a:t>Seed the builders at events. Sell to the organizers who run them.</a:t>
            </a:r>
            <a:endParaRPr sz="1300"/>
          </a:p>
        </p:txBody>
      </p:sp>
      <p:sp>
        <p:nvSpPr>
          <p:cNvPr id="218" name="Google Shape;218;p8"/>
          <p:cNvSpPr/>
          <p:nvPr/>
        </p:nvSpPr>
        <p:spPr>
          <a:xfrm>
            <a:off x="7589520" y="411480"/>
            <a:ext cx="1097280" cy="411480"/>
          </a:xfrm>
          <a:prstGeom prst="roundRect">
            <a:avLst>
              <a:gd fmla="val 48889" name="adj"/>
            </a:avLst>
          </a:prstGeom>
          <a:solidFill>
            <a:srgbClr val="00D9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8"/>
          <p:cNvSpPr txBox="1"/>
          <p:nvPr/>
        </p:nvSpPr>
        <p:spPr>
          <a:xfrm>
            <a:off x="7733974" y="411475"/>
            <a:ext cx="8085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Slide </a:t>
            </a:r>
            <a:r>
              <a:rPr b="1" lang="en-US" sz="1100">
                <a:solidFill>
                  <a:schemeClr val="lt1"/>
                </a:solidFill>
                <a:latin typeface="Calibri"/>
                <a:ea typeface="Calibri"/>
                <a:cs typeface="Calibri"/>
                <a:sym typeface="Calibri"/>
              </a:rPr>
              <a:t>9</a:t>
            </a:r>
            <a:r>
              <a:rPr b="1" i="0" lang="en-US" sz="1100" u="none" cap="none" strike="noStrike">
                <a:solidFill>
                  <a:schemeClr val="lt1"/>
                </a:solidFill>
                <a:latin typeface="Calibri"/>
                <a:ea typeface="Calibri"/>
                <a:cs typeface="Calibri"/>
                <a:sym typeface="Calibri"/>
              </a:rPr>
              <a:t> of 10</a:t>
            </a:r>
            <a:endParaRPr b="0" i="0" sz="1100" u="none" cap="none" strike="noStrike">
              <a:solidFill>
                <a:schemeClr val="dk1"/>
              </a:solidFill>
              <a:latin typeface="Calibri"/>
              <a:ea typeface="Calibri"/>
              <a:cs typeface="Calibri"/>
              <a:sym typeface="Calibri"/>
            </a:endParaRPr>
          </a:p>
        </p:txBody>
      </p:sp>
      <p:sp>
        <p:nvSpPr>
          <p:cNvPr id="220" name="Google Shape;220;p8"/>
          <p:cNvSpPr/>
          <p:nvPr/>
        </p:nvSpPr>
        <p:spPr>
          <a:xfrm>
            <a:off x="457200" y="1463040"/>
            <a:ext cx="2743200" cy="3108960"/>
          </a:xfrm>
          <a:prstGeom prst="roundRect">
            <a:avLst>
              <a:gd fmla="val 4000"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8"/>
          <p:cNvSpPr/>
          <p:nvPr/>
        </p:nvSpPr>
        <p:spPr>
          <a:xfrm>
            <a:off x="640080" y="1645920"/>
            <a:ext cx="411480" cy="411480"/>
          </a:xfrm>
          <a:prstGeom prst="ellipse">
            <a:avLst/>
          </a:prstGeom>
          <a:solidFill>
            <a:srgbClr val="00D9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2" name="Google Shape;222;p8"/>
          <p:cNvPicPr preferRelativeResize="0"/>
          <p:nvPr/>
        </p:nvPicPr>
        <p:blipFill rotWithShape="1">
          <a:blip r:embed="rId3">
            <a:alphaModFix/>
          </a:blip>
          <a:srcRect b="0" l="0" r="0" t="0"/>
          <a:stretch/>
        </p:blipFill>
        <p:spPr>
          <a:xfrm>
            <a:off x="731520" y="1737360"/>
            <a:ext cx="228600" cy="228600"/>
          </a:xfrm>
          <a:prstGeom prst="rect">
            <a:avLst/>
          </a:prstGeom>
          <a:noFill/>
          <a:ln>
            <a:noFill/>
          </a:ln>
        </p:spPr>
      </p:pic>
      <p:sp>
        <p:nvSpPr>
          <p:cNvPr id="223" name="Google Shape;223;p8"/>
          <p:cNvSpPr txBox="1"/>
          <p:nvPr/>
        </p:nvSpPr>
        <p:spPr>
          <a:xfrm>
            <a:off x="1170432" y="1645920"/>
            <a:ext cx="1874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100"/>
              <a:buFont typeface="Calibri"/>
              <a:buNone/>
            </a:pPr>
            <a:r>
              <a:rPr b="1" i="0" lang="en-US" sz="1100" u="none" cap="none" strike="noStrike">
                <a:solidFill>
                  <a:srgbClr val="00D9C7"/>
                </a:solidFill>
                <a:latin typeface="Calibri"/>
                <a:ea typeface="Calibri"/>
                <a:cs typeface="Calibri"/>
                <a:sym typeface="Calibri"/>
              </a:rPr>
              <a:t>METRICS WE TRACK</a:t>
            </a:r>
            <a:endParaRPr b="0" i="0" sz="1100" u="none" cap="none" strike="noStrike">
              <a:solidFill>
                <a:srgbClr val="00D9C7"/>
              </a:solidFill>
              <a:latin typeface="Calibri"/>
              <a:ea typeface="Calibri"/>
              <a:cs typeface="Calibri"/>
              <a:sym typeface="Calibri"/>
            </a:endParaRPr>
          </a:p>
        </p:txBody>
      </p:sp>
      <p:sp>
        <p:nvSpPr>
          <p:cNvPr id="224" name="Google Shape;224;p8"/>
          <p:cNvSpPr txBox="1"/>
          <p:nvPr/>
        </p:nvSpPr>
        <p:spPr>
          <a:xfrm>
            <a:off x="640080" y="2194560"/>
            <a:ext cx="2377440" cy="21945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Builder sign-ups per event</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Matches that turn into coffee chats</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Projects active at 30 days (benchmark: 17% past week 1)</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Organizer pilots that convert to paid</a:t>
            </a:r>
            <a:endParaRPr b="0" i="0" sz="1250" u="none" cap="none" strike="noStrike">
              <a:solidFill>
                <a:schemeClr val="dk1"/>
              </a:solidFill>
              <a:latin typeface="Calibri"/>
              <a:ea typeface="Calibri"/>
              <a:cs typeface="Calibri"/>
              <a:sym typeface="Calibri"/>
            </a:endParaRPr>
          </a:p>
        </p:txBody>
      </p:sp>
      <p:sp>
        <p:nvSpPr>
          <p:cNvPr id="225" name="Google Shape;225;p8"/>
          <p:cNvSpPr/>
          <p:nvPr/>
        </p:nvSpPr>
        <p:spPr>
          <a:xfrm>
            <a:off x="3474720" y="1463040"/>
            <a:ext cx="1188720" cy="914400"/>
          </a:xfrm>
          <a:prstGeom prst="homePlate">
            <a:avLst>
              <a:gd fmla="val 50000" name="adj"/>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8"/>
          <p:cNvSpPr txBox="1"/>
          <p:nvPr/>
        </p:nvSpPr>
        <p:spPr>
          <a:xfrm>
            <a:off x="3520440" y="1463040"/>
            <a:ext cx="91440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First 10</a:t>
            </a:r>
            <a:endParaRPr b="0" i="0" sz="1200" u="none" cap="none" strike="noStrike">
              <a:solidFill>
                <a:schemeClr val="dk1"/>
              </a:solidFill>
              <a:latin typeface="Calibri"/>
              <a:ea typeface="Calibri"/>
              <a:cs typeface="Calibri"/>
              <a:sym typeface="Calibri"/>
            </a:endParaRPr>
          </a:p>
        </p:txBody>
      </p:sp>
      <p:sp>
        <p:nvSpPr>
          <p:cNvPr id="227" name="Google Shape;227;p8"/>
          <p:cNvSpPr txBox="1"/>
          <p:nvPr/>
        </p:nvSpPr>
        <p:spPr>
          <a:xfrm>
            <a:off x="4846320" y="1508760"/>
            <a:ext cx="38404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250"/>
              <a:buFont typeface="Calibri"/>
              <a:buNone/>
            </a:pPr>
            <a:r>
              <a:rPr b="0" i="0" lang="en-US" sz="1250" u="none" cap="none" strike="noStrike">
                <a:solidFill>
                  <a:schemeClr val="dk2"/>
                </a:solidFill>
                <a:latin typeface="Calibri"/>
                <a:ea typeface="Calibri"/>
                <a:cs typeface="Calibri"/>
                <a:sym typeface="Calibri"/>
              </a:rPr>
              <a:t>Monday: pilot at Hack the Change (Nov 7–8) with Code the Change YYC. Then Product Calgary, AI Tinkerers Calgary, CalgaryHacks, MRUHacks and campus clubs, with QR sign-up at check-in.</a:t>
            </a:r>
            <a:endParaRPr b="0" i="0" sz="1250" u="none" cap="none" strike="noStrike">
              <a:solidFill>
                <a:schemeClr val="dk1"/>
              </a:solidFill>
              <a:latin typeface="Calibri"/>
              <a:ea typeface="Calibri"/>
              <a:cs typeface="Calibri"/>
              <a:sym typeface="Calibri"/>
            </a:endParaRPr>
          </a:p>
        </p:txBody>
      </p:sp>
      <p:sp>
        <p:nvSpPr>
          <p:cNvPr id="228" name="Google Shape;228;p8"/>
          <p:cNvSpPr/>
          <p:nvPr/>
        </p:nvSpPr>
        <p:spPr>
          <a:xfrm>
            <a:off x="3474720" y="2514600"/>
            <a:ext cx="1188720" cy="914400"/>
          </a:xfrm>
          <a:prstGeom prst="homePlate">
            <a:avLst>
              <a:gd fmla="val 50000" name="adj"/>
            </a:avLst>
          </a:prstGeom>
          <a:solidFill>
            <a:schemeClr val="accent4"/>
          </a:solidFill>
          <a:ln cap="flat" cmpd="sng" w="127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8"/>
          <p:cNvSpPr txBox="1"/>
          <p:nvPr/>
        </p:nvSpPr>
        <p:spPr>
          <a:xfrm>
            <a:off x="3520440" y="2514600"/>
            <a:ext cx="91440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First 100</a:t>
            </a:r>
            <a:endParaRPr b="0" i="0" sz="1200" u="none" cap="none" strike="noStrike">
              <a:solidFill>
                <a:schemeClr val="dk1"/>
              </a:solidFill>
              <a:latin typeface="Calibri"/>
              <a:ea typeface="Calibri"/>
              <a:cs typeface="Calibri"/>
              <a:sym typeface="Calibri"/>
            </a:endParaRPr>
          </a:p>
        </p:txBody>
      </p:sp>
      <p:sp>
        <p:nvSpPr>
          <p:cNvPr id="230" name="Google Shape;230;p8"/>
          <p:cNvSpPr txBox="1"/>
          <p:nvPr/>
        </p:nvSpPr>
        <p:spPr>
          <a:xfrm>
            <a:off x="4846320" y="2560320"/>
            <a:ext cx="38404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250"/>
              <a:buFont typeface="Calibri"/>
              <a:buNone/>
            </a:pPr>
            <a:r>
              <a:rPr b="0" i="0" lang="en-US" sz="1250" u="none" cap="none" strike="noStrike">
                <a:solidFill>
                  <a:schemeClr val="dk2"/>
                </a:solidFill>
                <a:latin typeface="Calibri"/>
                <a:ea typeface="Calibri"/>
                <a:cs typeface="Calibri"/>
                <a:sym typeface="Calibri"/>
              </a:rPr>
              <a:t>Alberta's 8 Regional Innovation Networks, accelerators (Alberta Catalyzer, CDL-Rockies) and university centres, sold with Calgary case studies: matches made, projects still alive.</a:t>
            </a:r>
            <a:endParaRPr b="0" i="0" sz="1250" u="none" cap="none" strike="noStrike">
              <a:solidFill>
                <a:schemeClr val="dk1"/>
              </a:solidFill>
              <a:latin typeface="Calibri"/>
              <a:ea typeface="Calibri"/>
              <a:cs typeface="Calibri"/>
              <a:sym typeface="Calibri"/>
            </a:endParaRPr>
          </a:p>
        </p:txBody>
      </p:sp>
      <p:sp>
        <p:nvSpPr>
          <p:cNvPr id="231" name="Google Shape;231;p8"/>
          <p:cNvSpPr/>
          <p:nvPr/>
        </p:nvSpPr>
        <p:spPr>
          <a:xfrm>
            <a:off x="3474720" y="3566160"/>
            <a:ext cx="1188720" cy="914400"/>
          </a:xfrm>
          <a:prstGeom prst="homePlate">
            <a:avLst>
              <a:gd fmla="val 50000" name="adj"/>
            </a:avLst>
          </a:prstGeom>
          <a:solidFill>
            <a:schemeClr val="accent3"/>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8"/>
          <p:cNvSpPr txBox="1"/>
          <p:nvPr/>
        </p:nvSpPr>
        <p:spPr>
          <a:xfrm>
            <a:off x="3520440" y="3566160"/>
            <a:ext cx="91440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Scale</a:t>
            </a:r>
            <a:endParaRPr b="0" i="0" sz="1200" u="none" cap="none" strike="noStrike">
              <a:solidFill>
                <a:schemeClr val="dk1"/>
              </a:solidFill>
              <a:latin typeface="Calibri"/>
              <a:ea typeface="Calibri"/>
              <a:cs typeface="Calibri"/>
              <a:sym typeface="Calibri"/>
            </a:endParaRPr>
          </a:p>
        </p:txBody>
      </p:sp>
      <p:sp>
        <p:nvSpPr>
          <p:cNvPr id="233" name="Google Shape;233;p8"/>
          <p:cNvSpPr txBox="1"/>
          <p:nvPr/>
        </p:nvSpPr>
        <p:spPr>
          <a:xfrm>
            <a:off x="4846320" y="3611880"/>
            <a:ext cx="38404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250"/>
              <a:buFont typeface="Calibri"/>
              <a:buNone/>
            </a:pPr>
            <a:r>
              <a:rPr b="0" i="0" lang="en-US" sz="1250" u="none" cap="none" strike="noStrike">
                <a:solidFill>
                  <a:schemeClr val="dk2"/>
                </a:solidFill>
                <a:latin typeface="Calibri"/>
                <a:ea typeface="Calibri"/>
                <a:cs typeface="Calibri"/>
                <a:sym typeface="Calibri"/>
              </a:rPr>
              <a:t>Luma and Devpost integrations, partner distribution across Canadian accelerators, then employers paying to reach builders who ship.</a:t>
            </a:r>
            <a:endParaRPr b="0" i="0" sz="1250" u="none" cap="none" strike="noStrike">
              <a:solidFill>
                <a:schemeClr val="dk1"/>
              </a:solidFill>
              <a:latin typeface="Calibri"/>
              <a:ea typeface="Calibri"/>
              <a:cs typeface="Calibri"/>
              <a:sym typeface="Calibri"/>
            </a:endParaRPr>
          </a:p>
        </p:txBody>
      </p:sp>
      <p:sp>
        <p:nvSpPr>
          <p:cNvPr id="234" name="Google Shape;234;p8"/>
          <p:cNvSpPr txBox="1"/>
          <p:nvPr>
            <p:ph idx="4294967295" type="sldNum"/>
          </p:nvPr>
        </p:nvSpPr>
        <p:spPr>
          <a:xfrm>
            <a:off x="7955280" y="4732020"/>
            <a:ext cx="73152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2C3E"/>
        </a:solidFill>
      </p:bgPr>
    </p:bg>
    <p:spTree>
      <p:nvGrpSpPr>
        <p:cNvPr id="239" name="Shape 239"/>
        <p:cNvGrpSpPr/>
        <p:nvPr/>
      </p:nvGrpSpPr>
      <p:grpSpPr>
        <a:xfrm>
          <a:off x="0" y="0"/>
          <a:ext cx="0" cy="0"/>
          <a:chOff x="0" y="0"/>
          <a:chExt cx="0" cy="0"/>
        </a:xfrm>
      </p:grpSpPr>
      <p:sp>
        <p:nvSpPr>
          <p:cNvPr id="240" name="Google Shape;240;p10"/>
          <p:cNvSpPr/>
          <p:nvPr/>
        </p:nvSpPr>
        <p:spPr>
          <a:xfrm>
            <a:off x="7589520" y="411480"/>
            <a:ext cx="1097280" cy="411480"/>
          </a:xfrm>
          <a:prstGeom prst="roundRect">
            <a:avLst>
              <a:gd fmla="val 48889" name="adj"/>
            </a:avLst>
          </a:prstGeom>
          <a:solidFill>
            <a:srgbClr val="00D9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0"/>
          <p:cNvSpPr txBox="1"/>
          <p:nvPr/>
        </p:nvSpPr>
        <p:spPr>
          <a:xfrm>
            <a:off x="7689050" y="411475"/>
            <a:ext cx="8982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Slide 10 of 10</a:t>
            </a:r>
            <a:endParaRPr b="0" i="0" sz="1100" u="none" cap="none" strike="noStrike">
              <a:solidFill>
                <a:schemeClr val="dk1"/>
              </a:solidFill>
              <a:latin typeface="Calibri"/>
              <a:ea typeface="Calibri"/>
              <a:cs typeface="Calibri"/>
              <a:sym typeface="Calibri"/>
            </a:endParaRPr>
          </a:p>
        </p:txBody>
      </p:sp>
      <p:sp>
        <p:nvSpPr>
          <p:cNvPr id="242" name="Google Shape;242;p10"/>
          <p:cNvSpPr txBox="1"/>
          <p:nvPr/>
        </p:nvSpPr>
        <p:spPr>
          <a:xfrm>
            <a:off x="457200" y="320040"/>
            <a:ext cx="69494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Roadmap &amp; The Ask</a:t>
            </a:r>
            <a:endParaRPr b="0" i="0" sz="3000" u="none" cap="none" strike="noStrike">
              <a:solidFill>
                <a:schemeClr val="dk1"/>
              </a:solidFill>
              <a:latin typeface="Calibri"/>
              <a:ea typeface="Calibri"/>
              <a:cs typeface="Calibri"/>
              <a:sym typeface="Calibri"/>
            </a:endParaRPr>
          </a:p>
        </p:txBody>
      </p:sp>
      <p:sp>
        <p:nvSpPr>
          <p:cNvPr id="243" name="Google Shape;243;p10"/>
          <p:cNvSpPr txBox="1"/>
          <p:nvPr/>
        </p:nvSpPr>
        <p:spPr>
          <a:xfrm>
            <a:off x="457200" y="960120"/>
            <a:ext cx="7772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300"/>
              <a:buFont typeface="Calibri"/>
              <a:buNone/>
            </a:pPr>
            <a:r>
              <a:rPr b="0" i="1" lang="en-US" sz="1300" u="none" cap="none" strike="noStrike">
                <a:solidFill>
                  <a:schemeClr val="accent6"/>
                </a:solidFill>
                <a:latin typeface="Calibri"/>
                <a:ea typeface="Calibri"/>
                <a:cs typeface="Calibri"/>
                <a:sym typeface="Calibri"/>
              </a:rPr>
              <a:t>Pilot at the next Calgary hackathon, then prove organizers will pay.</a:t>
            </a:r>
            <a:endParaRPr b="0" i="0" sz="1300" u="none" cap="none" strike="noStrike">
              <a:solidFill>
                <a:schemeClr val="dk1"/>
              </a:solidFill>
              <a:latin typeface="Calibri"/>
              <a:ea typeface="Calibri"/>
              <a:cs typeface="Calibri"/>
              <a:sym typeface="Calibri"/>
            </a:endParaRPr>
          </a:p>
        </p:txBody>
      </p:sp>
      <p:sp>
        <p:nvSpPr>
          <p:cNvPr id="244" name="Google Shape;244;p10"/>
          <p:cNvSpPr/>
          <p:nvPr/>
        </p:nvSpPr>
        <p:spPr>
          <a:xfrm>
            <a:off x="457200" y="1554480"/>
            <a:ext cx="365760" cy="36576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0"/>
          <p:cNvSpPr txBox="1"/>
          <p:nvPr/>
        </p:nvSpPr>
        <p:spPr>
          <a:xfrm>
            <a:off x="960120" y="1554480"/>
            <a:ext cx="2194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Next 30 days</a:t>
            </a:r>
            <a:endParaRPr b="0" i="0" sz="1400" u="none" cap="none" strike="noStrike">
              <a:solidFill>
                <a:schemeClr val="dk1"/>
              </a:solidFill>
              <a:latin typeface="Calibri"/>
              <a:ea typeface="Calibri"/>
              <a:cs typeface="Calibri"/>
              <a:sym typeface="Calibri"/>
            </a:endParaRPr>
          </a:p>
        </p:txBody>
      </p:sp>
      <p:sp>
        <p:nvSpPr>
          <p:cNvPr id="246" name="Google Shape;246;p10"/>
          <p:cNvSpPr txBox="1"/>
          <p:nvPr/>
        </p:nvSpPr>
        <p:spPr>
          <a:xfrm>
            <a:off x="457200" y="2011680"/>
            <a:ext cx="256032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200"/>
              <a:buFont typeface="Calibri"/>
              <a:buNone/>
            </a:pPr>
            <a:r>
              <a:rPr b="0" i="0" lang="en-US" sz="1200" u="none" cap="none" strike="noStrike">
                <a:solidFill>
                  <a:schemeClr val="accent6"/>
                </a:solidFill>
                <a:latin typeface="Calibri"/>
                <a:ea typeface="Calibri"/>
                <a:cs typeface="Calibri"/>
                <a:sym typeface="Calibri"/>
              </a:rPr>
              <a:t>Validate: pilot at Hack the Change and 2 Product Calgary meetups. 300 builders, 50 coffee chats.</a:t>
            </a:r>
            <a:endParaRPr b="0" i="0" sz="1200" u="none" cap="none" strike="noStrike">
              <a:solidFill>
                <a:schemeClr val="dk1"/>
              </a:solidFill>
              <a:latin typeface="Calibri"/>
              <a:ea typeface="Calibri"/>
              <a:cs typeface="Calibri"/>
              <a:sym typeface="Calibri"/>
            </a:endParaRPr>
          </a:p>
        </p:txBody>
      </p:sp>
      <p:sp>
        <p:nvSpPr>
          <p:cNvPr id="247" name="Google Shape;247;p10"/>
          <p:cNvSpPr/>
          <p:nvPr/>
        </p:nvSpPr>
        <p:spPr>
          <a:xfrm>
            <a:off x="3246120" y="1554480"/>
            <a:ext cx="365760" cy="365760"/>
          </a:xfrm>
          <a:prstGeom prst="ellipse">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0"/>
          <p:cNvSpPr txBox="1"/>
          <p:nvPr/>
        </p:nvSpPr>
        <p:spPr>
          <a:xfrm>
            <a:off x="3749040" y="1554480"/>
            <a:ext cx="2194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Next 90 days</a:t>
            </a:r>
            <a:endParaRPr b="0" i="0" sz="1400" u="none" cap="none" strike="noStrike">
              <a:solidFill>
                <a:schemeClr val="dk1"/>
              </a:solidFill>
              <a:latin typeface="Calibri"/>
              <a:ea typeface="Calibri"/>
              <a:cs typeface="Calibri"/>
              <a:sym typeface="Calibri"/>
            </a:endParaRPr>
          </a:p>
        </p:txBody>
      </p:sp>
      <p:sp>
        <p:nvSpPr>
          <p:cNvPr id="249" name="Google Shape;249;p10"/>
          <p:cNvSpPr txBox="1"/>
          <p:nvPr/>
        </p:nvSpPr>
        <p:spPr>
          <a:xfrm>
            <a:off x="3246120" y="2011680"/>
            <a:ext cx="256032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200"/>
              <a:buFont typeface="Calibri"/>
              <a:buNone/>
            </a:pPr>
            <a:r>
              <a:rPr b="0" i="0" lang="en-US" sz="1200" u="none" cap="none" strike="noStrike">
                <a:solidFill>
                  <a:schemeClr val="accent6"/>
                </a:solidFill>
                <a:latin typeface="Calibri"/>
                <a:ea typeface="Calibri"/>
                <a:cs typeface="Calibri"/>
                <a:sym typeface="Calibri"/>
              </a:rPr>
              <a:t>Build: first paid organizer pilot. Track projects still active at 30 days.</a:t>
            </a:r>
            <a:endParaRPr b="0" i="0" sz="1200" u="none" cap="none" strike="noStrike">
              <a:solidFill>
                <a:schemeClr val="dk1"/>
              </a:solidFill>
              <a:latin typeface="Calibri"/>
              <a:ea typeface="Calibri"/>
              <a:cs typeface="Calibri"/>
              <a:sym typeface="Calibri"/>
            </a:endParaRPr>
          </a:p>
        </p:txBody>
      </p:sp>
      <p:sp>
        <p:nvSpPr>
          <p:cNvPr id="250" name="Google Shape;250;p10"/>
          <p:cNvSpPr/>
          <p:nvPr/>
        </p:nvSpPr>
        <p:spPr>
          <a:xfrm>
            <a:off x="6035040" y="1554480"/>
            <a:ext cx="365760" cy="365760"/>
          </a:xfrm>
          <a:prstGeom prst="ellipse">
            <a:avLst/>
          </a:prstGeom>
          <a:solidFill>
            <a:schemeClr val="accent3"/>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0"/>
          <p:cNvSpPr txBox="1"/>
          <p:nvPr/>
        </p:nvSpPr>
        <p:spPr>
          <a:xfrm>
            <a:off x="6537960" y="1554480"/>
            <a:ext cx="2194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6 to 12 months</a:t>
            </a:r>
            <a:endParaRPr b="0" i="0" sz="1400" u="none" cap="none" strike="noStrike">
              <a:solidFill>
                <a:schemeClr val="dk1"/>
              </a:solidFill>
              <a:latin typeface="Calibri"/>
              <a:ea typeface="Calibri"/>
              <a:cs typeface="Calibri"/>
              <a:sym typeface="Calibri"/>
            </a:endParaRPr>
          </a:p>
        </p:txBody>
      </p:sp>
      <p:sp>
        <p:nvSpPr>
          <p:cNvPr id="252" name="Google Shape;252;p10"/>
          <p:cNvSpPr txBox="1"/>
          <p:nvPr/>
        </p:nvSpPr>
        <p:spPr>
          <a:xfrm>
            <a:off x="6035040" y="2011680"/>
            <a:ext cx="256032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200"/>
              <a:buFont typeface="Calibri"/>
              <a:buNone/>
            </a:pPr>
            <a:r>
              <a:rPr b="0" i="0" lang="en-US" sz="1200" u="none" cap="none" strike="noStrike">
                <a:solidFill>
                  <a:schemeClr val="accent6"/>
                </a:solidFill>
                <a:latin typeface="Calibri"/>
                <a:ea typeface="Calibri"/>
                <a:cs typeface="Calibri"/>
                <a:sym typeface="Calibri"/>
              </a:rPr>
              <a:t>Grow: 10 paying Alberta organizers (~$30K ARR), paid contract roles, Edmonton launch.</a:t>
            </a:r>
            <a:endParaRPr b="0" i="0" sz="1200" u="none" cap="none" strike="noStrike">
              <a:solidFill>
                <a:schemeClr val="dk1"/>
              </a:solidFill>
              <a:latin typeface="Calibri"/>
              <a:ea typeface="Calibri"/>
              <a:cs typeface="Calibri"/>
              <a:sym typeface="Calibri"/>
            </a:endParaRPr>
          </a:p>
        </p:txBody>
      </p:sp>
      <p:sp>
        <p:nvSpPr>
          <p:cNvPr id="253" name="Google Shape;253;p10"/>
          <p:cNvSpPr/>
          <p:nvPr/>
        </p:nvSpPr>
        <p:spPr>
          <a:xfrm>
            <a:off x="457200" y="3017520"/>
            <a:ext cx="8229600" cy="1371600"/>
          </a:xfrm>
          <a:prstGeom prst="roundRect">
            <a:avLst>
              <a:gd fmla="val 8000" name="adj"/>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0"/>
          <p:cNvSpPr/>
          <p:nvPr/>
        </p:nvSpPr>
        <p:spPr>
          <a:xfrm>
            <a:off x="685800" y="3246120"/>
            <a:ext cx="548640" cy="548640"/>
          </a:xfrm>
          <a:prstGeom prst="ellipse">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5" name="Google Shape;255;p10"/>
          <p:cNvPicPr preferRelativeResize="0"/>
          <p:nvPr/>
        </p:nvPicPr>
        <p:blipFill rotWithShape="1">
          <a:blip r:embed="rId3">
            <a:alphaModFix/>
          </a:blip>
          <a:srcRect b="0" l="0" r="0" t="0"/>
          <a:stretch/>
        </p:blipFill>
        <p:spPr>
          <a:xfrm>
            <a:off x="822960" y="3383280"/>
            <a:ext cx="274320" cy="274320"/>
          </a:xfrm>
          <a:prstGeom prst="rect">
            <a:avLst/>
          </a:prstGeom>
          <a:noFill/>
          <a:ln>
            <a:noFill/>
          </a:ln>
        </p:spPr>
      </p:pic>
      <p:sp>
        <p:nvSpPr>
          <p:cNvPr id="256" name="Google Shape;256;p10"/>
          <p:cNvSpPr txBox="1"/>
          <p:nvPr/>
        </p:nvSpPr>
        <p:spPr>
          <a:xfrm>
            <a:off x="1417320" y="315468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THE ASK</a:t>
            </a:r>
            <a:endParaRPr b="0" i="0" sz="1100" u="none" cap="none" strike="noStrike">
              <a:solidFill>
                <a:schemeClr val="dk1"/>
              </a:solidFill>
              <a:latin typeface="Calibri"/>
              <a:ea typeface="Calibri"/>
              <a:cs typeface="Calibri"/>
              <a:sym typeface="Calibri"/>
            </a:endParaRPr>
          </a:p>
        </p:txBody>
      </p:sp>
      <p:sp>
        <p:nvSpPr>
          <p:cNvPr id="257" name="Google Shape;257;p10"/>
          <p:cNvSpPr txBox="1"/>
          <p:nvPr/>
        </p:nvSpPr>
        <p:spPr>
          <a:xfrm>
            <a:off x="1417320" y="3474720"/>
            <a:ext cx="704088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300"/>
              <a:buFont typeface="Calibri"/>
              <a:buNone/>
            </a:pPr>
            <a:r>
              <a:rPr b="0" i="0" lang="en-US" sz="1300" u="none" cap="none" strike="noStrike">
                <a:solidFill>
                  <a:schemeClr val="lt1"/>
                </a:solidFill>
                <a:latin typeface="Calibri"/>
                <a:ea typeface="Calibri"/>
                <a:cs typeface="Calibri"/>
                <a:sym typeface="Calibri"/>
              </a:rPr>
              <a:t>Let us pilot CoBuild YYC at your next event, starting with Hack the Change (Nov 7–8), and introduce us to whoever runs Platform Calgary's event programs. We'll bring the data back in 30 days.</a:t>
            </a:r>
            <a:endParaRPr b="0" i="0" sz="1300" u="none" cap="none" strike="noStrike">
              <a:solidFill>
                <a:schemeClr val="dk1"/>
              </a:solidFill>
              <a:latin typeface="Calibri"/>
              <a:ea typeface="Calibri"/>
              <a:cs typeface="Calibri"/>
              <a:sym typeface="Calibri"/>
            </a:endParaRPr>
          </a:p>
        </p:txBody>
      </p:sp>
      <p:sp>
        <p:nvSpPr>
          <p:cNvPr id="258" name="Google Shape;258;p10"/>
          <p:cNvSpPr txBox="1"/>
          <p:nvPr/>
        </p:nvSpPr>
        <p:spPr>
          <a:xfrm>
            <a:off x="457200" y="47320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000"/>
              <a:buFont typeface="Calibri"/>
              <a:buNone/>
            </a:pPr>
            <a:r>
              <a:rPr b="0" i="0" lang="en-US" sz="1000" u="none" cap="none" strike="noStrike">
                <a:solidFill>
                  <a:schemeClr val="accent6"/>
                </a:solidFill>
                <a:latin typeface="Calibri"/>
                <a:ea typeface="Calibri"/>
                <a:cs typeface="Calibri"/>
                <a:sym typeface="Calibri"/>
              </a:rPr>
              <a:t>Product Calgary Buildathon  |  Pitch Template</a:t>
            </a:r>
            <a:endParaRPr b="0" i="0" sz="1000" u="none" cap="none" strike="noStrike">
              <a:solidFill>
                <a:schemeClr val="dk1"/>
              </a:solidFill>
              <a:latin typeface="Calibri"/>
              <a:ea typeface="Calibri"/>
              <a:cs typeface="Calibri"/>
              <a:sym typeface="Calibri"/>
            </a:endParaRPr>
          </a:p>
        </p:txBody>
      </p:sp>
      <p:sp>
        <p:nvSpPr>
          <p:cNvPr id="259" name="Google Shape;259;p10"/>
          <p:cNvSpPr txBox="1"/>
          <p:nvPr/>
        </p:nvSpPr>
        <p:spPr>
          <a:xfrm>
            <a:off x="5029200" y="4732020"/>
            <a:ext cx="36576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accent6"/>
              </a:buClr>
              <a:buSzPts val="1000"/>
              <a:buFont typeface="Calibri"/>
              <a:buNone/>
            </a:pPr>
            <a:r>
              <a:rPr b="0" i="0" lang="en-US" sz="1000" u="none" cap="none" strike="noStrike">
                <a:solidFill>
                  <a:schemeClr val="accent6"/>
                </a:solidFill>
                <a:latin typeface="Calibri"/>
                <a:ea typeface="Calibri"/>
                <a:cs typeface="Calibri"/>
                <a:sym typeface="Calibri"/>
              </a:rPr>
              <a:t>Thank you  ·  [contact email / handle]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Buildathon">
  <a:themeElements>
    <a:clrScheme name="Buildathon">
      <a:dk1>
        <a:srgbClr val="1B1F3B"/>
      </a:dk1>
      <a:lt1>
        <a:srgbClr val="FFFFFF"/>
      </a:lt1>
      <a:dk2>
        <a:srgbClr val="4A4F6B"/>
      </a:dk2>
      <a:lt2>
        <a:srgbClr val="F3F4F9"/>
      </a:lt2>
      <a:accent1>
        <a:srgbClr val="FF5A5F"/>
      </a:accent1>
      <a:accent2>
        <a:srgbClr val="FFC857"/>
      </a:accent2>
      <a:accent3>
        <a:srgbClr val="2EC4B6"/>
      </a:accent3>
      <a:accent4>
        <a:srgbClr val="6C63FF"/>
      </a:accent4>
      <a:accent5>
        <a:srgbClr val="FF8C42"/>
      </a:accent5>
      <a:accent6>
        <a:srgbClr val="9AA0B8"/>
      </a:accent6>
      <a:hlink>
        <a:srgbClr val="FF5A5F"/>
      </a:hlink>
      <a:folHlink>
        <a:srgbClr val="6C63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uildathon">
  <a:themeElements>
    <a:clrScheme name="Buildathon">
      <a:dk1>
        <a:srgbClr val="1B1F3B"/>
      </a:dk1>
      <a:lt1>
        <a:srgbClr val="FFFFFF"/>
      </a:lt1>
      <a:dk2>
        <a:srgbClr val="4A4F6B"/>
      </a:dk2>
      <a:lt2>
        <a:srgbClr val="F3F4F9"/>
      </a:lt2>
      <a:accent1>
        <a:srgbClr val="FF5A5F"/>
      </a:accent1>
      <a:accent2>
        <a:srgbClr val="FFC857"/>
      </a:accent2>
      <a:accent3>
        <a:srgbClr val="2EC4B6"/>
      </a:accent3>
      <a:accent4>
        <a:srgbClr val="6C63FF"/>
      </a:accent4>
      <a:accent5>
        <a:srgbClr val="FF8C42"/>
      </a:accent5>
      <a:accent6>
        <a:srgbClr val="9AA0B8"/>
      </a:accent6>
      <a:hlink>
        <a:srgbClr val="FF5A5F"/>
      </a:hlink>
      <a:folHlink>
        <a:srgbClr val="6C63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2026-10-21T20:21:58Z</dcterms:created>
  <dc:creator>Product Calgary</dc:creator>
</cp:coreProperties>
</file>