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jDkW6MV6o47mJQUBEMNGasPaQ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A3028D-0C03-4743-9075-8F35542186BE}">
  <a:tblStyle styleId="{FDA3028D-0C03-4743-9075-8F35542186B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15 seconds. “We're Team 5. CoBuild YYC helps Calgary builders fill the missing role on their project, so they keep building after the event ends.”</a:t>
            </a: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Open with the room: “Look around. Research says about two-thirds of the projects built here today will stop when the event ends.” Then give our interview number from today. Name one real team's story (with permission).</a:t>
            </a: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Name a real person from today who fits. Stress that builders are on both sides, which avoids the classic “idea person looking for a free developer” trap. Organizers pay.</a:t>
            </a: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One sentence of value prop, then the three capabilities. Don't lead with “AI”: the data (verified history) is what's hard to copy.</a:t>
            </a: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Walk the maths, not the big number. Admit it's a focused market; Calgary is the beachhead, and expansion is employers paying to reach builders who ship.</a:t>
            </a: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Be honest: incumbents have the bigger network today. We win on availability and verified local history. Mention UCeed as a potential partner.</a:t>
            </a:r>
          </a:p>
        </p:txBody>
      </p:sp>
      <p:sp>
        <p:nvSpPr>
          <p:cNvPr id="143" name="Google Shape;1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Live demo first, screenshot as backup. Match a real team in the room with a real attendee who signed up this morning. Say clearly what's mocked.</a:t>
            </a:r>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Builders are always free. Organizers pay because their own metric is companies formed. Say “we assume” for every number.</a:t>
            </a:r>
          </a:p>
        </p:txBody>
      </p:sp>
      <p:sp>
        <p:nvSpPr>
          <p:cNvPr id="187" name="Google Shape;18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Name the Monday action: the Hack the Change pilot. One metric per step.</a:t>
            </a:r>
          </a:p>
        </p:txBody>
      </p:sp>
      <p:sp>
        <p:nvSpPr>
          <p:cNvPr id="214" name="Google Shape;2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End on the ask, then stop talking: a pilot slot and one intro to Platform Calgary's events team.</a:t>
            </a:r>
          </a:p>
        </p:txBody>
      </p:sp>
      <p:sp>
        <p:nvSpPr>
          <p:cNvPr id="238" name="Google Shape;2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chemeClr val="dk1"/>
        </a:solidFill>
      </p:bgPr>
    </p:bg>
    <p:spTree>
      <p:nvGrpSpPr>
        <p:cNvPr id="11" name="Shape 11"/>
        <p:cNvGrpSpPr/>
        <p:nvPr/>
      </p:nvGrpSpPr>
      <p:grpSpPr>
        <a:xfrm>
          <a:off x="0" y="0"/>
          <a:ext cx="0" cy="0"/>
          <a:chOff x="0" y="0"/>
          <a:chExt cx="0" cy="0"/>
        </a:xfrm>
      </p:grpSpPr>
      <p:sp>
        <p:nvSpPr>
          <p:cNvPr id="12" name="Google Shape;12;p12"/>
          <p:cNvSpPr/>
          <p:nvPr/>
        </p:nvSpPr>
        <p:spPr>
          <a:xfrm>
            <a:off x="457200" y="47320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Product Calgary Buildathon  |  Pitch Template</a:t>
            </a:r>
            <a:endParaRPr b="0" i="0" sz="10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3" name="Shape 13"/>
        <p:cNvGrpSpPr/>
        <p:nvPr/>
      </p:nvGrpSpPr>
      <p:grpSpPr>
        <a:xfrm>
          <a:off x="0" y="0"/>
          <a:ext cx="0" cy="0"/>
          <a:chOff x="0" y="0"/>
          <a:chExt cx="0" cy="0"/>
        </a:xfrm>
      </p:grpSpPr>
      <p:sp>
        <p:nvSpPr>
          <p:cNvPr id="14" name="Google Shape;14;p13"/>
          <p:cNvSpPr txBox="1"/>
          <p:nvPr>
            <p:ph type="title"/>
          </p:nvPr>
        </p:nvSpPr>
        <p:spPr>
          <a:xfrm>
            <a:off x="457200" y="320040"/>
            <a:ext cx="6949440" cy="6400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3"/>
          <p:cNvSpPr txBox="1"/>
          <p:nvPr>
            <p:ph idx="1" type="body"/>
          </p:nvPr>
        </p:nvSpPr>
        <p:spPr>
          <a:xfrm>
            <a:off x="457200" y="960120"/>
            <a:ext cx="7772400"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60"/>
              </a:spcBef>
              <a:spcAft>
                <a:spcPts val="0"/>
              </a:spcAft>
              <a:buClr>
                <a:schemeClr val="dk2"/>
              </a:buClr>
              <a:buSzPts val="1300"/>
              <a:buFont typeface="Arial"/>
              <a:buNone/>
              <a:defRPr b="0" i="1" sz="1300" u="none" cap="none" strike="noStrike">
                <a:solidFill>
                  <a:schemeClr val="dk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13"/>
          <p:cNvSpPr/>
          <p:nvPr/>
        </p:nvSpPr>
        <p:spPr>
          <a:xfrm>
            <a:off x="457200" y="47320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Product Calgary Buildathon  |  Pitch Template</a:t>
            </a:r>
            <a:endParaRPr b="0" i="0" sz="1000" u="none" cap="none" strike="noStrike">
              <a:solidFill>
                <a:schemeClr val="dk1"/>
              </a:solidFill>
              <a:latin typeface="Calibri"/>
              <a:ea typeface="Calibri"/>
              <a:cs typeface="Calibri"/>
              <a:sym typeface="Calibri"/>
            </a:endParaRPr>
          </a:p>
        </p:txBody>
      </p:sp>
      <p:sp>
        <p:nvSpPr>
          <p:cNvPr id="17" name="Google Shape;17;p13"/>
          <p:cNvSpPr txBox="1"/>
          <p:nvPr>
            <p:ph idx="12"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6"/>
                </a:solidFill>
                <a:latin typeface="Calibri"/>
                <a:ea typeface="Calibri"/>
                <a:cs typeface="Calibri"/>
                <a:sym typeface="Calibri"/>
              </a:defRPr>
            </a:lvl1pPr>
            <a:lvl2pPr indent="0" lvl="1" marL="0" marR="0" algn="r">
              <a:spcBef>
                <a:spcPts val="0"/>
              </a:spcBef>
              <a:buNone/>
              <a:defRPr b="0" i="0" sz="1000" u="none" cap="none" strike="noStrike">
                <a:solidFill>
                  <a:schemeClr val="accent6"/>
                </a:solidFill>
                <a:latin typeface="Calibri"/>
                <a:ea typeface="Calibri"/>
                <a:cs typeface="Calibri"/>
                <a:sym typeface="Calibri"/>
              </a:defRPr>
            </a:lvl2pPr>
            <a:lvl3pPr indent="0" lvl="2" marL="0" marR="0" algn="r">
              <a:spcBef>
                <a:spcPts val="0"/>
              </a:spcBef>
              <a:buNone/>
              <a:defRPr b="0" i="0" sz="1000" u="none" cap="none" strike="noStrike">
                <a:solidFill>
                  <a:schemeClr val="accent6"/>
                </a:solidFill>
                <a:latin typeface="Calibri"/>
                <a:ea typeface="Calibri"/>
                <a:cs typeface="Calibri"/>
                <a:sym typeface="Calibri"/>
              </a:defRPr>
            </a:lvl3pPr>
            <a:lvl4pPr indent="0" lvl="3" marL="0" marR="0" algn="r">
              <a:spcBef>
                <a:spcPts val="0"/>
              </a:spcBef>
              <a:buNone/>
              <a:defRPr b="0" i="0" sz="1000" u="none" cap="none" strike="noStrike">
                <a:solidFill>
                  <a:schemeClr val="accent6"/>
                </a:solidFill>
                <a:latin typeface="Calibri"/>
                <a:ea typeface="Calibri"/>
                <a:cs typeface="Calibri"/>
                <a:sym typeface="Calibri"/>
              </a:defRPr>
            </a:lvl4pPr>
            <a:lvl5pPr indent="0" lvl="4" marL="0" marR="0" algn="r">
              <a:spcBef>
                <a:spcPts val="0"/>
              </a:spcBef>
              <a:buNone/>
              <a:defRPr b="0" i="0" sz="1000" u="none" cap="none" strike="noStrike">
                <a:solidFill>
                  <a:schemeClr val="accent6"/>
                </a:solidFill>
                <a:latin typeface="Calibri"/>
                <a:ea typeface="Calibri"/>
                <a:cs typeface="Calibri"/>
                <a:sym typeface="Calibri"/>
              </a:defRPr>
            </a:lvl5pPr>
            <a:lvl6pPr indent="0" lvl="5" marL="0" marR="0" algn="r">
              <a:spcBef>
                <a:spcPts val="0"/>
              </a:spcBef>
              <a:buNone/>
              <a:defRPr b="0" i="0" sz="1000" u="none" cap="none" strike="noStrike">
                <a:solidFill>
                  <a:schemeClr val="accent6"/>
                </a:solidFill>
                <a:latin typeface="Calibri"/>
                <a:ea typeface="Calibri"/>
                <a:cs typeface="Calibri"/>
                <a:sym typeface="Calibri"/>
              </a:defRPr>
            </a:lvl6pPr>
            <a:lvl7pPr indent="0" lvl="6" marL="0" marR="0" algn="r">
              <a:spcBef>
                <a:spcPts val="0"/>
              </a:spcBef>
              <a:buNone/>
              <a:defRPr b="0" i="0" sz="1000" u="none" cap="none" strike="noStrike">
                <a:solidFill>
                  <a:schemeClr val="accent6"/>
                </a:solidFill>
                <a:latin typeface="Calibri"/>
                <a:ea typeface="Calibri"/>
                <a:cs typeface="Calibri"/>
                <a:sym typeface="Calibri"/>
              </a:defRPr>
            </a:lvl7pPr>
            <a:lvl8pPr indent="0" lvl="7" marL="0" marR="0" algn="r">
              <a:spcBef>
                <a:spcPts val="0"/>
              </a:spcBef>
              <a:buNone/>
              <a:defRPr b="0" i="0" sz="1000" u="none" cap="none" strike="noStrike">
                <a:solidFill>
                  <a:schemeClr val="accent6"/>
                </a:solidFill>
                <a:latin typeface="Calibri"/>
                <a:ea typeface="Calibri"/>
                <a:cs typeface="Calibri"/>
                <a:sym typeface="Calibri"/>
              </a:defRPr>
            </a:lvl8pPr>
            <a:lvl9pPr indent="0" lvl="8" marL="0" marR="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1"/>
          <p:cNvSpPr txBox="1"/>
          <p:nvPr>
            <p:ph idx="12"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6"/>
                </a:solidFill>
                <a:latin typeface="Calibri"/>
                <a:ea typeface="Calibri"/>
                <a:cs typeface="Calibri"/>
                <a:sym typeface="Calibri"/>
              </a:defRPr>
            </a:lvl1pPr>
            <a:lvl2pPr indent="0" lvl="1" marL="0" marR="0" rtl="0" algn="r">
              <a:spcBef>
                <a:spcPts val="0"/>
              </a:spcBef>
              <a:buNone/>
              <a:defRPr b="0" i="0" sz="1000" u="none" cap="none" strike="noStrike">
                <a:solidFill>
                  <a:schemeClr val="accent6"/>
                </a:solidFill>
                <a:latin typeface="Calibri"/>
                <a:ea typeface="Calibri"/>
                <a:cs typeface="Calibri"/>
                <a:sym typeface="Calibri"/>
              </a:defRPr>
            </a:lvl2pPr>
            <a:lvl3pPr indent="0" lvl="2" marL="0" marR="0" rtl="0" algn="r">
              <a:spcBef>
                <a:spcPts val="0"/>
              </a:spcBef>
              <a:buNone/>
              <a:defRPr b="0" i="0" sz="1000" u="none" cap="none" strike="noStrike">
                <a:solidFill>
                  <a:schemeClr val="accent6"/>
                </a:solidFill>
                <a:latin typeface="Calibri"/>
                <a:ea typeface="Calibri"/>
                <a:cs typeface="Calibri"/>
                <a:sym typeface="Calibri"/>
              </a:defRPr>
            </a:lvl3pPr>
            <a:lvl4pPr indent="0" lvl="3" marL="0" marR="0" rtl="0" algn="r">
              <a:spcBef>
                <a:spcPts val="0"/>
              </a:spcBef>
              <a:buNone/>
              <a:defRPr b="0" i="0" sz="1000" u="none" cap="none" strike="noStrike">
                <a:solidFill>
                  <a:schemeClr val="accent6"/>
                </a:solidFill>
                <a:latin typeface="Calibri"/>
                <a:ea typeface="Calibri"/>
                <a:cs typeface="Calibri"/>
                <a:sym typeface="Calibri"/>
              </a:defRPr>
            </a:lvl4pPr>
            <a:lvl5pPr indent="0" lvl="4" marL="0" marR="0" rtl="0" algn="r">
              <a:spcBef>
                <a:spcPts val="0"/>
              </a:spcBef>
              <a:buNone/>
              <a:defRPr b="0" i="0" sz="1000" u="none" cap="none" strike="noStrike">
                <a:solidFill>
                  <a:schemeClr val="accent6"/>
                </a:solidFill>
                <a:latin typeface="Calibri"/>
                <a:ea typeface="Calibri"/>
                <a:cs typeface="Calibri"/>
                <a:sym typeface="Calibri"/>
              </a:defRPr>
            </a:lvl5pPr>
            <a:lvl6pPr indent="0" lvl="5" marL="0" marR="0" rtl="0" algn="r">
              <a:spcBef>
                <a:spcPts val="0"/>
              </a:spcBef>
              <a:buNone/>
              <a:defRPr b="0" i="0" sz="1000" u="none" cap="none" strike="noStrike">
                <a:solidFill>
                  <a:schemeClr val="accent6"/>
                </a:solidFill>
                <a:latin typeface="Calibri"/>
                <a:ea typeface="Calibri"/>
                <a:cs typeface="Calibri"/>
                <a:sym typeface="Calibri"/>
              </a:defRPr>
            </a:lvl6pPr>
            <a:lvl7pPr indent="0" lvl="6" marL="0" marR="0" rtl="0" algn="r">
              <a:spcBef>
                <a:spcPts val="0"/>
              </a:spcBef>
              <a:buNone/>
              <a:defRPr b="0" i="0" sz="1000" u="none" cap="none" strike="noStrike">
                <a:solidFill>
                  <a:schemeClr val="accent6"/>
                </a:solidFill>
                <a:latin typeface="Calibri"/>
                <a:ea typeface="Calibri"/>
                <a:cs typeface="Calibri"/>
                <a:sym typeface="Calibri"/>
              </a:defRPr>
            </a:lvl7pPr>
            <a:lvl8pPr indent="0" lvl="7" marL="0" marR="0" rtl="0" algn="r">
              <a:spcBef>
                <a:spcPts val="0"/>
              </a:spcBef>
              <a:buNone/>
              <a:defRPr b="0" i="0" sz="1000" u="none" cap="none" strike="noStrike">
                <a:solidFill>
                  <a:schemeClr val="accent6"/>
                </a:solidFill>
                <a:latin typeface="Calibri"/>
                <a:ea typeface="Calibri"/>
                <a:cs typeface="Calibri"/>
                <a:sym typeface="Calibri"/>
              </a:defRPr>
            </a:lvl8pPr>
            <a:lvl9pPr indent="0" lvl="8" marL="0" marR="0" rtl="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 name="Shape 23"/>
        <p:cNvGrpSpPr/>
        <p:nvPr/>
      </p:nvGrpSpPr>
      <p:grpSpPr>
        <a:xfrm>
          <a:off x="0" y="0"/>
          <a:ext cx="0" cy="0"/>
          <a:chOff x="0" y="0"/>
          <a:chExt cx="0" cy="0"/>
        </a:xfrm>
      </p:grpSpPr>
      <p:sp>
        <p:nvSpPr>
          <p:cNvPr id="24" name="Google Shape;24;p1"/>
          <p:cNvSpPr txBox="1"/>
          <p:nvPr/>
        </p:nvSpPr>
        <p:spPr>
          <a:xfrm>
            <a:off x="457200" y="54864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lang="en-US" sz="2500">
                <a:solidFill>
                  <a:srgbClr val="00D9C7"/>
                </a:solidFill>
                <a:latin typeface="Calibri"/>
                <a:ea typeface="Calibri"/>
                <a:cs typeface="Calibri"/>
                <a:sym typeface="Calibri"/>
              </a:rPr>
              <a:t>BUILDYYC</a:t>
            </a:r>
            <a:endParaRPr b="0" i="0" sz="2500" u="none" cap="none" strike="noStrike">
              <a:solidFill>
                <a:srgbClr val="00D9C7"/>
              </a:solidFill>
              <a:latin typeface="Calibri"/>
              <a:ea typeface="Calibri"/>
              <a:cs typeface="Calibri"/>
              <a:sym typeface="Calibri"/>
            </a:endParaRPr>
          </a:p>
        </p:txBody>
      </p:sp>
      <p:sp>
        <p:nvSpPr>
          <p:cNvPr id="25" name="Google Shape;25;p1"/>
          <p:cNvSpPr txBox="1"/>
          <p:nvPr/>
        </p:nvSpPr>
        <p:spPr>
          <a:xfrm>
            <a:off x="457200" y="1234440"/>
            <a:ext cx="5943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4800"/>
              <a:buFont typeface="Calibri"/>
              <a:buNone/>
            </a:pPr>
            <a:r>
              <a:rPr b="1" i="0" lang="en-US" sz="4800" u="none" cap="none" strike="noStrike">
                <a:solidFill>
                  <a:schemeClr val="lt1"/>
                </a:solidFill>
                <a:latin typeface="Calibri"/>
                <a:ea typeface="Calibri"/>
                <a:cs typeface="Calibri"/>
                <a:sym typeface="Calibri"/>
              </a:rPr>
              <a:t>CoBuild YYC</a:t>
            </a:r>
            <a:endParaRPr b="0" i="0" sz="4800" u="none" cap="none" strike="noStrike">
              <a:solidFill>
                <a:schemeClr val="dk1"/>
              </a:solidFill>
              <a:latin typeface="Calibri"/>
              <a:ea typeface="Calibri"/>
              <a:cs typeface="Calibri"/>
              <a:sym typeface="Calibri"/>
            </a:endParaRPr>
          </a:p>
        </p:txBody>
      </p:sp>
      <p:sp>
        <p:nvSpPr>
          <p:cNvPr id="26" name="Google Shape;26;p1"/>
          <p:cNvSpPr txBox="1"/>
          <p:nvPr/>
        </p:nvSpPr>
        <p:spPr>
          <a:xfrm>
            <a:off x="457200" y="2194560"/>
            <a:ext cx="59436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Calibri"/>
              <a:buNone/>
            </a:pPr>
            <a:r>
              <a:rPr b="0" i="1" lang="en-US" sz="1800" u="none" cap="none" strike="noStrike">
                <a:solidFill>
                  <a:schemeClr val="accent6"/>
                </a:solidFill>
                <a:latin typeface="Calibri"/>
                <a:ea typeface="Calibri"/>
                <a:cs typeface="Calibri"/>
                <a:sym typeface="Calibri"/>
              </a:rPr>
              <a:t>We help Calgary builders fill the missing role on their project, so they keep building after the event ends.</a:t>
            </a:r>
            <a:endParaRPr b="0" i="0" sz="1800" u="none" cap="none" strike="noStrike">
              <a:solidFill>
                <a:schemeClr val="dk1"/>
              </a:solidFill>
              <a:latin typeface="Calibri"/>
              <a:ea typeface="Calibri"/>
              <a:cs typeface="Calibri"/>
              <a:sym typeface="Calibri"/>
            </a:endParaRPr>
          </a:p>
        </p:txBody>
      </p:sp>
      <p:sp>
        <p:nvSpPr>
          <p:cNvPr id="27" name="Google Shape;27;p1"/>
          <p:cNvSpPr txBox="1"/>
          <p:nvPr/>
        </p:nvSpPr>
        <p:spPr>
          <a:xfrm>
            <a:off x="457200" y="324612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Team 5</a:t>
            </a:r>
            <a:endParaRPr b="0" i="0" sz="1600" u="none" cap="none" strike="noStrike">
              <a:solidFill>
                <a:schemeClr val="dk1"/>
              </a:solidFill>
              <a:latin typeface="Calibri"/>
              <a:ea typeface="Calibri"/>
              <a:cs typeface="Calibri"/>
              <a:sym typeface="Calibri"/>
            </a:endParaRPr>
          </a:p>
        </p:txBody>
      </p:sp>
      <p:sp>
        <p:nvSpPr>
          <p:cNvPr id="28" name="Google Shape;28;p1"/>
          <p:cNvSpPr txBox="1"/>
          <p:nvPr/>
        </p:nvSpPr>
        <p:spPr>
          <a:xfrm>
            <a:off x="457200" y="3611880"/>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Leo Cherupushpam · Michio Babcock · [Member 3] · [Member 4]</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2"/>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The Problem</a:t>
            </a:r>
            <a:endParaRPr sz="3000">
              <a:solidFill>
                <a:srgbClr val="012C3E"/>
              </a:solidFill>
            </a:endParaRPr>
          </a:p>
        </p:txBody>
      </p:sp>
      <p:sp>
        <p:nvSpPr>
          <p:cNvPr id="35" name="Google Shape;35;p2"/>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Most projects built at events like this one are dead within a week, often because the team is one skill short.</a:t>
            </a:r>
            <a:endParaRPr sz="1300"/>
          </a:p>
        </p:txBody>
      </p:sp>
      <p:sp>
        <p:nvSpPr>
          <p:cNvPr id="36" name="Google Shape;36;p2"/>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 name="Google Shape;38;p2"/>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39" name="Google Shape;39;p2"/>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THE EVIDENCE</a:t>
            </a:r>
            <a:endParaRPr b="0" i="0" sz="1100" u="none" cap="none" strike="noStrike">
              <a:solidFill>
                <a:srgbClr val="00D9C7"/>
              </a:solidFill>
              <a:latin typeface="Calibri"/>
              <a:ea typeface="Calibri"/>
              <a:cs typeface="Calibri"/>
              <a:sym typeface="Calibri"/>
            </a:endParaRPr>
          </a:p>
        </p:txBody>
      </p:sp>
      <p:sp>
        <p:nvSpPr>
          <p:cNvPr id="40" name="Google Shape;40;p2"/>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~65% of hackathon projects stop when the event ends (Nolte, 2020)</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Skill diversity predicts which projects survive</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[__ of __ teams we interviewed today lost a project to a missing role]</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80,500 Calgary tech workers (CBRE 2026)</a:t>
            </a:r>
            <a:endParaRPr b="0" i="0" sz="1250" u="none" cap="none" strike="noStrike">
              <a:solidFill>
                <a:schemeClr val="dk1"/>
              </a:solidFill>
              <a:latin typeface="Calibri"/>
              <a:ea typeface="Calibri"/>
              <a:cs typeface="Calibri"/>
              <a:sym typeface="Calibri"/>
            </a:endParaRPr>
          </a:p>
        </p:txBody>
      </p:sp>
      <p:sp>
        <p:nvSpPr>
          <p:cNvPr id="41" name="Google Shape;41;p2"/>
          <p:cNvSpPr/>
          <p:nvPr/>
        </p:nvSpPr>
        <p:spPr>
          <a:xfrm>
            <a:off x="3474720" y="1463040"/>
            <a:ext cx="5212080" cy="1417320"/>
          </a:xfrm>
          <a:prstGeom prst="roundRect">
            <a:avLst>
              <a:gd fmla="val 6452"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3657600" y="160020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The pain</a:t>
            </a:r>
            <a:endParaRPr b="0" i="0" sz="1400" u="none" cap="none" strike="noStrike">
              <a:solidFill>
                <a:schemeClr val="dk1"/>
              </a:solidFill>
              <a:latin typeface="Calibri"/>
              <a:ea typeface="Calibri"/>
              <a:cs typeface="Calibri"/>
              <a:sym typeface="Calibri"/>
            </a:endParaRPr>
          </a:p>
        </p:txBody>
      </p:sp>
      <p:sp>
        <p:nvSpPr>
          <p:cNvPr id="43" name="Google Shape;43;p2"/>
          <p:cNvSpPr txBox="1"/>
          <p:nvPr/>
        </p:nvSpPr>
        <p:spPr>
          <a:xfrm>
            <a:off x="3657600" y="1938528"/>
            <a:ext cx="4846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A team leaves a buildathon with a working demo and one gap: no backend dev, no designer, no PM with time. Within days the momentum is gone and the project quietly dies.</a:t>
            </a:r>
            <a:endParaRPr b="0" i="0" sz="1200" u="none" cap="none" strike="noStrike">
              <a:solidFill>
                <a:schemeClr val="dk1"/>
              </a:solidFill>
              <a:latin typeface="Calibri"/>
              <a:ea typeface="Calibri"/>
              <a:cs typeface="Calibri"/>
              <a:sym typeface="Calibri"/>
            </a:endParaRPr>
          </a:p>
        </p:txBody>
      </p:sp>
      <p:sp>
        <p:nvSpPr>
          <p:cNvPr id="44" name="Google Shape;44;p2"/>
          <p:cNvSpPr/>
          <p:nvPr/>
        </p:nvSpPr>
        <p:spPr>
          <a:xfrm>
            <a:off x="3474720" y="3063240"/>
            <a:ext cx="2514600" cy="1508760"/>
          </a:xfrm>
          <a:prstGeom prst="roundRect">
            <a:avLst>
              <a:gd fmla="val 6061"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365760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How it's solved today</a:t>
            </a:r>
            <a:endParaRPr b="0" i="0" sz="1400" u="none" cap="none" strike="noStrike">
              <a:solidFill>
                <a:schemeClr val="dk1"/>
              </a:solidFill>
              <a:latin typeface="Calibri"/>
              <a:ea typeface="Calibri"/>
              <a:cs typeface="Calibri"/>
              <a:sym typeface="Calibri"/>
            </a:endParaRPr>
          </a:p>
        </p:txBody>
      </p:sp>
      <p:sp>
        <p:nvSpPr>
          <p:cNvPr id="46" name="Google Shape;46;p2"/>
          <p:cNvSpPr txBox="1"/>
          <p:nvPr/>
        </p:nvSpPr>
        <p:spPr>
          <a:xfrm>
            <a:off x="365760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Slack and Discord posts, LinkedIn, asking friends, waiting for the next event. Or doing nothing.</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6172200" y="3063240"/>
            <a:ext cx="2514600" cy="1508760"/>
          </a:xfrm>
          <a:prstGeom prst="roundRect">
            <a:avLst>
              <a:gd fmla="val 6061"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txBox="1"/>
          <p:nvPr/>
        </p:nvSpPr>
        <p:spPr>
          <a:xfrm>
            <a:off x="635508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Cost of the problem</a:t>
            </a:r>
            <a:endParaRPr b="0" i="0" sz="1400" u="none" cap="none" strike="noStrike">
              <a:solidFill>
                <a:schemeClr val="dk1"/>
              </a:solidFill>
              <a:latin typeface="Calibri"/>
              <a:ea typeface="Calibri"/>
              <a:cs typeface="Calibri"/>
              <a:sym typeface="Calibri"/>
            </a:endParaRPr>
          </a:p>
        </p:txBody>
      </p:sp>
      <p:sp>
        <p:nvSpPr>
          <p:cNvPr id="49" name="Google Shape;49;p2"/>
          <p:cNvSpPr txBox="1"/>
          <p:nvPr/>
        </p:nvSpPr>
        <p:spPr>
          <a:xfrm>
            <a:off x="635508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Abandoned projects and weeks of searching. For organizers: talent and future companies leak out of the ecosystem.</a:t>
            </a:r>
            <a:endParaRPr b="0" i="0" sz="1200" u="none" cap="none" strike="noStrike">
              <a:solidFill>
                <a:schemeClr val="dk1"/>
              </a:solidFill>
              <a:latin typeface="Calibri"/>
              <a:ea typeface="Calibri"/>
              <a:cs typeface="Calibri"/>
              <a:sym typeface="Calibri"/>
            </a:endParaRPr>
          </a:p>
        </p:txBody>
      </p:sp>
      <p:sp>
        <p:nvSpPr>
          <p:cNvPr id="50" name="Google Shape;50;p2"/>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
        <p:nvSpPr>
          <p:cNvPr id="51" name="Google Shape;51;p2"/>
          <p:cNvSpPr/>
          <p:nvPr/>
        </p:nvSpPr>
        <p:spPr>
          <a:xfrm>
            <a:off x="7589520" y="411480"/>
            <a:ext cx="1097400" cy="41160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txBox="1"/>
          <p:nvPr/>
        </p:nvSpPr>
        <p:spPr>
          <a:xfrm>
            <a:off x="7704024" y="411475"/>
            <a:ext cx="86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2</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Ideal Customer Profile (ICP)</a:t>
            </a:r>
            <a:endParaRPr sz="3000">
              <a:solidFill>
                <a:srgbClr val="012C3E"/>
              </a:solidFill>
            </a:endParaRPr>
          </a:p>
        </p:txBody>
      </p:sp>
      <p:sp>
        <p:nvSpPr>
          <p:cNvPr id="59" name="Google Shape;59;p3"/>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Our first customer: a Calgary builder with a live project and exactly one missing role.</a:t>
            </a:r>
            <a:endParaRPr sz="1300"/>
          </a:p>
        </p:txBody>
      </p:sp>
      <p:sp>
        <p:nvSpPr>
          <p:cNvPr id="60" name="Google Shape;60;p3"/>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txBox="1"/>
          <p:nvPr/>
        </p:nvSpPr>
        <p:spPr>
          <a:xfrm>
            <a:off x="7704024" y="411475"/>
            <a:ext cx="86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3 of 10</a:t>
            </a:r>
            <a:endParaRPr b="0" i="0" sz="1100" u="none" cap="none" strike="noStrike">
              <a:solidFill>
                <a:schemeClr val="dk1"/>
              </a:solidFill>
              <a:latin typeface="Calibri"/>
              <a:ea typeface="Calibri"/>
              <a:cs typeface="Calibri"/>
              <a:sym typeface="Calibri"/>
            </a:endParaRPr>
          </a:p>
        </p:txBody>
      </p:sp>
      <p:sp>
        <p:nvSpPr>
          <p:cNvPr id="62" name="Google Shape;62;p3"/>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3"/>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65" name="Google Shape;65;p3"/>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WHY THEM FIRST</a:t>
            </a:r>
            <a:endParaRPr b="0" i="0" sz="1100" u="none" cap="none" strike="noStrike">
              <a:solidFill>
                <a:srgbClr val="00D9C7"/>
              </a:solidFill>
              <a:latin typeface="Calibri"/>
              <a:ea typeface="Calibri"/>
              <a:cs typeface="Calibri"/>
              <a:sym typeface="Calibri"/>
            </a:endParaRPr>
          </a:p>
        </p:txBody>
      </p:sp>
      <p:sp>
        <p:nvSpPr>
          <p:cNvPr id="66" name="Google Shape;66;p3"/>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They hit this pain within 48 hours of every 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1,000+ builders a year at Calgary hackathons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 tight beachhead: they talk to each other</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Builders on both sides: no “idea person seeks free dev” trap</a:t>
            </a:r>
            <a:endParaRPr b="0" i="0" sz="1250" u="none" cap="none" strike="noStrike">
              <a:solidFill>
                <a:schemeClr val="dk1"/>
              </a:solidFill>
              <a:latin typeface="Calibri"/>
              <a:ea typeface="Calibri"/>
              <a:cs typeface="Calibri"/>
              <a:sym typeface="Calibri"/>
            </a:endParaRPr>
          </a:p>
        </p:txBody>
      </p:sp>
      <p:sp>
        <p:nvSpPr>
          <p:cNvPr id="67" name="Google Shape;67;p3"/>
          <p:cNvSpPr/>
          <p:nvPr/>
        </p:nvSpPr>
        <p:spPr>
          <a:xfrm>
            <a:off x="3474720" y="1463040"/>
            <a:ext cx="2514600" cy="1508760"/>
          </a:xfrm>
          <a:prstGeom prst="roundRect">
            <a:avLst>
              <a:gd fmla="val 6061"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txBox="1"/>
          <p:nvPr/>
        </p:nvSpPr>
        <p:spPr>
          <a:xfrm>
            <a:off x="365760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Who they are</a:t>
            </a:r>
            <a:endParaRPr b="0" i="0" sz="1400" u="none" cap="none" strike="noStrike">
              <a:solidFill>
                <a:schemeClr val="dk1"/>
              </a:solidFill>
              <a:latin typeface="Calibri"/>
              <a:ea typeface="Calibri"/>
              <a:cs typeface="Calibri"/>
              <a:sym typeface="Calibri"/>
            </a:endParaRPr>
          </a:p>
        </p:txBody>
      </p:sp>
      <p:sp>
        <p:nvSpPr>
          <p:cNvPr id="69" name="Google Shape;69;p3"/>
          <p:cNvSpPr txBox="1"/>
          <p:nvPr/>
        </p:nvSpPr>
        <p:spPr>
          <a:xfrm>
            <a:off x="365760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Students, new grads and early-career devs, designers and PMs at UCalgary, SAIT, MRU and Calgary startups.</a:t>
            </a:r>
            <a:endParaRPr b="0" i="0" sz="1200" u="none" cap="none" strike="noStrike">
              <a:solidFill>
                <a:schemeClr val="dk1"/>
              </a:solidFill>
              <a:latin typeface="Calibri"/>
              <a:ea typeface="Calibri"/>
              <a:cs typeface="Calibri"/>
              <a:sym typeface="Calibri"/>
            </a:endParaRPr>
          </a:p>
        </p:txBody>
      </p:sp>
      <p:sp>
        <p:nvSpPr>
          <p:cNvPr id="70" name="Google Shape;70;p3"/>
          <p:cNvSpPr/>
          <p:nvPr/>
        </p:nvSpPr>
        <p:spPr>
          <a:xfrm>
            <a:off x="6172200" y="1463040"/>
            <a:ext cx="2514600" cy="1508760"/>
          </a:xfrm>
          <a:prstGeom prst="roundRect">
            <a:avLst>
              <a:gd fmla="val 6061" name="adj"/>
            </a:avLst>
          </a:prstGeom>
          <a:solidFill>
            <a:schemeClr val="lt1"/>
          </a:solidFill>
          <a:ln cap="flat" cmpd="sng" w="1587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txBox="1"/>
          <p:nvPr/>
        </p:nvSpPr>
        <p:spPr>
          <a:xfrm>
            <a:off x="635508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Their trigger</a:t>
            </a:r>
            <a:endParaRPr b="0" i="0" sz="1400" u="none" cap="none" strike="noStrike">
              <a:solidFill>
                <a:schemeClr val="dk1"/>
              </a:solidFill>
              <a:latin typeface="Calibri"/>
              <a:ea typeface="Calibri"/>
              <a:cs typeface="Calibri"/>
              <a:sym typeface="Calibri"/>
            </a:endParaRPr>
          </a:p>
        </p:txBody>
      </p:sp>
      <p:sp>
        <p:nvSpPr>
          <p:cNvPr id="72" name="Google Shape;72;p3"/>
          <p:cNvSpPr txBox="1"/>
          <p:nvPr/>
        </p:nvSpPr>
        <p:spPr>
          <a:xfrm>
            <a:off x="635508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The 48 hours after a hackathon or meetup: the demo works, but a role is missing.</a:t>
            </a:r>
            <a:endParaRPr b="0" i="0" sz="1200" u="none" cap="none" strike="noStrike">
              <a:solidFill>
                <a:schemeClr val="dk1"/>
              </a:solidFill>
              <a:latin typeface="Calibri"/>
              <a:ea typeface="Calibri"/>
              <a:cs typeface="Calibri"/>
              <a:sym typeface="Calibri"/>
            </a:endParaRPr>
          </a:p>
        </p:txBody>
      </p:sp>
      <p:sp>
        <p:nvSpPr>
          <p:cNvPr id="73" name="Google Shape;73;p3"/>
          <p:cNvSpPr/>
          <p:nvPr/>
        </p:nvSpPr>
        <p:spPr>
          <a:xfrm>
            <a:off x="3474720" y="3063240"/>
            <a:ext cx="2514600" cy="1508760"/>
          </a:xfrm>
          <a:prstGeom prst="roundRect">
            <a:avLst>
              <a:gd fmla="val 6061" name="adj"/>
            </a:avLst>
          </a:prstGeom>
          <a:solidFill>
            <a:schemeClr val="lt1"/>
          </a:solidFill>
          <a:ln cap="flat" cmpd="sng" w="158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txBox="1"/>
          <p:nvPr/>
        </p:nvSpPr>
        <p:spPr>
          <a:xfrm>
            <a:off x="365760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Where to find them</a:t>
            </a:r>
            <a:endParaRPr b="0" i="0" sz="1400" u="none" cap="none" strike="noStrike">
              <a:solidFill>
                <a:schemeClr val="dk1"/>
              </a:solidFill>
              <a:latin typeface="Calibri"/>
              <a:ea typeface="Calibri"/>
              <a:cs typeface="Calibri"/>
              <a:sym typeface="Calibri"/>
            </a:endParaRPr>
          </a:p>
        </p:txBody>
      </p:sp>
      <p:sp>
        <p:nvSpPr>
          <p:cNvPr id="75" name="Google Shape;75;p3"/>
          <p:cNvSpPr txBox="1"/>
          <p:nvPr/>
        </p:nvSpPr>
        <p:spPr>
          <a:xfrm>
            <a:off x="365760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BuildYYC, CalgaryHacks, Hack the Change, Product Calgary meetups, Platform Calgary, campus clubs.</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6172200" y="3063240"/>
            <a:ext cx="2514600" cy="1508760"/>
          </a:xfrm>
          <a:prstGeom prst="roundRect">
            <a:avLst>
              <a:gd fmla="val 6061" name="adj"/>
            </a:avLst>
          </a:prstGeom>
          <a:solidFill>
            <a:schemeClr val="lt1"/>
          </a:solidFill>
          <a:ln cap="flat" cmpd="sng" w="15875">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txBox="1"/>
          <p:nvPr/>
        </p:nvSpPr>
        <p:spPr>
          <a:xfrm>
            <a:off x="635508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Buyer vs. user</a:t>
            </a:r>
            <a:endParaRPr b="0" i="0" sz="1400" u="none" cap="none" strike="noStrike">
              <a:solidFill>
                <a:schemeClr val="dk1"/>
              </a:solidFill>
              <a:latin typeface="Calibri"/>
              <a:ea typeface="Calibri"/>
              <a:cs typeface="Calibri"/>
              <a:sym typeface="Calibri"/>
            </a:endParaRPr>
          </a:p>
        </p:txBody>
      </p:sp>
      <p:sp>
        <p:nvSpPr>
          <p:cNvPr id="78" name="Google Shape;78;p3"/>
          <p:cNvSpPr txBox="1"/>
          <p:nvPr/>
        </p:nvSpPr>
        <p:spPr>
          <a:xfrm>
            <a:off x="635508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Builders use it free. Event organizers and ecosystem orgs (Platform Calgary, Product Calgary) pay.</a:t>
            </a:r>
            <a:endParaRPr b="0" i="0" sz="1200" u="none" cap="none" strike="noStrike">
              <a:solidFill>
                <a:schemeClr val="dk1"/>
              </a:solidFill>
              <a:latin typeface="Calibri"/>
              <a:ea typeface="Calibri"/>
              <a:cs typeface="Calibri"/>
              <a:sym typeface="Calibri"/>
            </a:endParaRPr>
          </a:p>
        </p:txBody>
      </p:sp>
      <p:sp>
        <p:nvSpPr>
          <p:cNvPr id="79" name="Google Shape;79;p3"/>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The Solution</a:t>
            </a:r>
            <a:endParaRPr sz="3000">
              <a:solidFill>
                <a:srgbClr val="012C3E"/>
              </a:solidFill>
            </a:endParaRPr>
          </a:p>
        </p:txBody>
      </p:sp>
      <p:sp>
        <p:nvSpPr>
          <p:cNvPr id="86" name="Google Shape;86;p4"/>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Match a team's missing role to a verified local builder, and book the coffee chat, in minutes.</a:t>
            </a:r>
            <a:endParaRPr sz="1300"/>
          </a:p>
        </p:txBody>
      </p:sp>
      <p:sp>
        <p:nvSpPr>
          <p:cNvPr id="87" name="Google Shape;87;p4"/>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txBox="1"/>
          <p:nvPr/>
        </p:nvSpPr>
        <p:spPr>
          <a:xfrm>
            <a:off x="7726474" y="411475"/>
            <a:ext cx="823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4 of 10</a:t>
            </a:r>
            <a:endParaRPr b="0" i="0" sz="1100" u="none" cap="none" strike="noStrike">
              <a:solidFill>
                <a:schemeClr val="dk1"/>
              </a:solidFill>
              <a:latin typeface="Calibri"/>
              <a:ea typeface="Calibri"/>
              <a:cs typeface="Calibri"/>
              <a:sym typeface="Calibri"/>
            </a:endParaRPr>
          </a:p>
        </p:txBody>
      </p:sp>
      <p:sp>
        <p:nvSpPr>
          <p:cNvPr id="89" name="Google Shape;89;p4"/>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1" name="Google Shape;91;p4"/>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92" name="Google Shape;92;p4"/>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HOW IT WORKS</a:t>
            </a:r>
            <a:endParaRPr b="0" i="0" sz="1100" u="none" cap="none" strike="noStrike">
              <a:solidFill>
                <a:srgbClr val="00D9C7"/>
              </a:solidFill>
              <a:latin typeface="Calibri"/>
              <a:ea typeface="Calibri"/>
              <a:cs typeface="Calibri"/>
              <a:sym typeface="Calibri"/>
            </a:endParaRPr>
          </a:p>
        </p:txBody>
      </p:sp>
      <p:sp>
        <p:nvSpPr>
          <p:cNvPr id="93" name="Google Shape;93;p4"/>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Builders join at event check-in: skills plus hours free per week</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 team posts its missing role</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AI returns the top 3 local builders, with reasons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Both accept, and a coffee chat is booked</a:t>
            </a:r>
            <a:endParaRPr b="0" i="0" sz="1250" u="none" cap="none" strike="noStrike">
              <a:solidFill>
                <a:schemeClr val="dk1"/>
              </a:solidFill>
              <a:latin typeface="Calibri"/>
              <a:ea typeface="Calibri"/>
              <a:cs typeface="Calibri"/>
              <a:sym typeface="Calibri"/>
            </a:endParaRPr>
          </a:p>
        </p:txBody>
      </p:sp>
      <p:sp>
        <p:nvSpPr>
          <p:cNvPr id="94" name="Google Shape;94;p4"/>
          <p:cNvSpPr/>
          <p:nvPr/>
        </p:nvSpPr>
        <p:spPr>
          <a:xfrm>
            <a:off x="3474720" y="1463040"/>
            <a:ext cx="5212080" cy="1005840"/>
          </a:xfrm>
          <a:prstGeom prst="roundRect">
            <a:avLst>
              <a:gd fmla="val 9091"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txBox="1"/>
          <p:nvPr/>
        </p:nvSpPr>
        <p:spPr>
          <a:xfrm>
            <a:off x="3657600" y="160020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Value proposition</a:t>
            </a:r>
            <a:endParaRPr b="0" i="0" sz="1400" u="none" cap="none" strike="noStrike">
              <a:solidFill>
                <a:schemeClr val="dk1"/>
              </a:solidFill>
              <a:latin typeface="Calibri"/>
              <a:ea typeface="Calibri"/>
              <a:cs typeface="Calibri"/>
              <a:sym typeface="Calibri"/>
            </a:endParaRPr>
          </a:p>
        </p:txBody>
      </p:sp>
      <p:sp>
        <p:nvSpPr>
          <p:cNvPr id="96" name="Google Shape;96;p4"/>
          <p:cNvSpPr txBox="1"/>
          <p:nvPr/>
        </p:nvSpPr>
        <p:spPr>
          <a:xfrm>
            <a:off x="3657600" y="1938528"/>
            <a:ext cx="4846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For Calgary builders with a live project, CoBuild YYC fills your missing role this week. Unlike a Slack post, it matches on skills, hours and shipped work.</a:t>
            </a:r>
            <a:endParaRPr b="0" i="0" sz="1200" u="none" cap="none" strike="noStrike">
              <a:solidFill>
                <a:schemeClr val="dk1"/>
              </a:solidFill>
              <a:latin typeface="Calibri"/>
              <a:ea typeface="Calibri"/>
              <a:cs typeface="Calibri"/>
              <a:sym typeface="Calibri"/>
            </a:endParaRPr>
          </a:p>
        </p:txBody>
      </p:sp>
      <p:sp>
        <p:nvSpPr>
          <p:cNvPr id="97" name="Google Shape;97;p4"/>
          <p:cNvSpPr/>
          <p:nvPr/>
        </p:nvSpPr>
        <p:spPr>
          <a:xfrm>
            <a:off x="3474720" y="2651760"/>
            <a:ext cx="457200" cy="45720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txBox="1"/>
          <p:nvPr/>
        </p:nvSpPr>
        <p:spPr>
          <a:xfrm>
            <a:off x="347472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99" name="Google Shape;99;p4"/>
          <p:cNvSpPr txBox="1"/>
          <p:nvPr/>
        </p:nvSpPr>
        <p:spPr>
          <a:xfrm>
            <a:off x="3474720" y="32004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Smart matching</a:t>
            </a:r>
            <a:endParaRPr b="0" i="0" sz="1300" u="none" cap="none" strike="noStrike">
              <a:solidFill>
                <a:schemeClr val="dk1"/>
              </a:solidFill>
              <a:latin typeface="Calibri"/>
              <a:ea typeface="Calibri"/>
              <a:cs typeface="Calibri"/>
              <a:sym typeface="Calibri"/>
            </a:endParaRPr>
          </a:p>
        </p:txBody>
      </p:sp>
      <p:sp>
        <p:nvSpPr>
          <p:cNvPr id="100" name="Google Shape;100;p4"/>
          <p:cNvSpPr txBox="1"/>
          <p:nvPr/>
        </p:nvSpPr>
        <p:spPr>
          <a:xfrm>
            <a:off x="3474720" y="3520440"/>
            <a:ext cx="1645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Top 3 builders ranked by skill fit, team gaps and hours free, each with a plain-English reason.</a:t>
            </a:r>
            <a:endParaRPr b="0" i="0" sz="1150" u="none" cap="none" strike="noStrike">
              <a:solidFill>
                <a:schemeClr val="dk1"/>
              </a:solidFill>
              <a:latin typeface="Calibri"/>
              <a:ea typeface="Calibri"/>
              <a:cs typeface="Calibri"/>
              <a:sym typeface="Calibri"/>
            </a:endParaRPr>
          </a:p>
        </p:txBody>
      </p:sp>
      <p:sp>
        <p:nvSpPr>
          <p:cNvPr id="101" name="Google Shape;101;p4"/>
          <p:cNvSpPr/>
          <p:nvPr/>
        </p:nvSpPr>
        <p:spPr>
          <a:xfrm>
            <a:off x="5257800" y="2651760"/>
            <a:ext cx="457200" cy="45720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txBox="1"/>
          <p:nvPr/>
        </p:nvSpPr>
        <p:spPr>
          <a:xfrm>
            <a:off x="525780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03" name="Google Shape;103;p4"/>
          <p:cNvSpPr txBox="1"/>
          <p:nvPr/>
        </p:nvSpPr>
        <p:spPr>
          <a:xfrm>
            <a:off x="5257800" y="32004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Builder passport</a:t>
            </a:r>
            <a:endParaRPr b="0" i="0" sz="1300" u="none" cap="none" strike="noStrike">
              <a:solidFill>
                <a:schemeClr val="dk1"/>
              </a:solidFill>
              <a:latin typeface="Calibri"/>
              <a:ea typeface="Calibri"/>
              <a:cs typeface="Calibri"/>
              <a:sym typeface="Calibri"/>
            </a:endParaRPr>
          </a:p>
        </p:txBody>
      </p:sp>
      <p:sp>
        <p:nvSpPr>
          <p:cNvPr id="104" name="Google Shape;104;p4"/>
          <p:cNvSpPr txBox="1"/>
          <p:nvPr/>
        </p:nvSpPr>
        <p:spPr>
          <a:xfrm>
            <a:off x="5257800" y="3520440"/>
            <a:ext cx="1645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Event check-in verifies each builder. Every event adds what they shipped and who they built with.</a:t>
            </a:r>
            <a:endParaRPr b="0" i="0" sz="1150" u="none" cap="none" strike="noStrike">
              <a:solidFill>
                <a:schemeClr val="dk1"/>
              </a:solidFill>
              <a:latin typeface="Calibri"/>
              <a:ea typeface="Calibri"/>
              <a:cs typeface="Calibri"/>
              <a:sym typeface="Calibri"/>
            </a:endParaRPr>
          </a:p>
        </p:txBody>
      </p:sp>
      <p:sp>
        <p:nvSpPr>
          <p:cNvPr id="105" name="Google Shape;105;p4"/>
          <p:cNvSpPr/>
          <p:nvPr/>
        </p:nvSpPr>
        <p:spPr>
          <a:xfrm>
            <a:off x="7040880" y="2651760"/>
            <a:ext cx="457200" cy="45720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txBox="1"/>
          <p:nvPr/>
        </p:nvSpPr>
        <p:spPr>
          <a:xfrm>
            <a:off x="704088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07" name="Google Shape;107;p4"/>
          <p:cNvSpPr txBox="1"/>
          <p:nvPr/>
        </p:nvSpPr>
        <p:spPr>
          <a:xfrm>
            <a:off x="7040880" y="32004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1" i="0" lang="en-US" sz="1300" u="none" cap="none" strike="noStrike">
                <a:solidFill>
                  <a:schemeClr val="dk1"/>
                </a:solidFill>
                <a:latin typeface="Calibri"/>
                <a:ea typeface="Calibri"/>
                <a:cs typeface="Calibri"/>
                <a:sym typeface="Calibri"/>
              </a:rPr>
              <a:t>Organizer dashboard</a:t>
            </a:r>
            <a:endParaRPr b="0" i="0" sz="1300" u="none" cap="none" strike="noStrike">
              <a:solidFill>
                <a:schemeClr val="dk1"/>
              </a:solidFill>
              <a:latin typeface="Calibri"/>
              <a:ea typeface="Calibri"/>
              <a:cs typeface="Calibri"/>
              <a:sym typeface="Calibri"/>
            </a:endParaRPr>
          </a:p>
        </p:txBody>
      </p:sp>
      <p:sp>
        <p:nvSpPr>
          <p:cNvPr id="108" name="Google Shape;108;p4"/>
          <p:cNvSpPr txBox="1"/>
          <p:nvPr/>
        </p:nvSpPr>
        <p:spPr>
          <a:xfrm>
            <a:off x="7040880" y="3520440"/>
            <a:ext cx="1645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150"/>
              <a:buFont typeface="Calibri"/>
              <a:buNone/>
            </a:pPr>
            <a:r>
              <a:rPr b="0" i="0" lang="en-US" sz="1150" u="none" cap="none" strike="noStrike">
                <a:solidFill>
                  <a:schemeClr val="dk2"/>
                </a:solidFill>
                <a:latin typeface="Calibri"/>
                <a:ea typeface="Calibri"/>
                <a:cs typeface="Calibri"/>
                <a:sym typeface="Calibri"/>
              </a:rPr>
              <a:t>Shows matches made and projects still alive at 7, 30 and 90 days.</a:t>
            </a:r>
            <a:endParaRPr b="0" i="0" sz="1150" u="none" cap="none" strike="noStrike">
              <a:solidFill>
                <a:schemeClr val="dk1"/>
              </a:solidFill>
              <a:latin typeface="Calibri"/>
              <a:ea typeface="Calibri"/>
              <a:cs typeface="Calibri"/>
              <a:sym typeface="Calibri"/>
            </a:endParaRPr>
          </a:p>
        </p:txBody>
      </p:sp>
      <p:sp>
        <p:nvSpPr>
          <p:cNvPr id="109" name="Google Shape;109;p4"/>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Market Opportunity</a:t>
            </a:r>
            <a:endParaRPr sz="3000">
              <a:solidFill>
                <a:srgbClr val="012C3E"/>
              </a:solidFill>
            </a:endParaRPr>
          </a:p>
        </p:txBody>
      </p:sp>
      <p:sp>
        <p:nvSpPr>
          <p:cNvPr id="116" name="Google Shape;116;p6"/>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Organizer-paid, sized bottom-up: a focused beachhead with a clear path beyond Calgary.</a:t>
            </a:r>
            <a:endParaRPr sz="1300"/>
          </a:p>
        </p:txBody>
      </p:sp>
      <p:sp>
        <p:nvSpPr>
          <p:cNvPr id="117" name="Google Shape;117;p6"/>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txBox="1"/>
          <p:nvPr/>
        </p:nvSpPr>
        <p:spPr>
          <a:xfrm>
            <a:off x="7772399" y="411475"/>
            <a:ext cx="7314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5</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19" name="Google Shape;119;p6"/>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6"/>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22" name="Google Shape;122;p6"/>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OUR ASSUMPTIONS</a:t>
            </a:r>
            <a:endParaRPr b="0" i="0" sz="1100" u="none" cap="none" strike="noStrike">
              <a:solidFill>
                <a:srgbClr val="00D9C7"/>
              </a:solidFill>
              <a:latin typeface="Calibri"/>
              <a:ea typeface="Calibri"/>
              <a:cs typeface="Calibri"/>
              <a:sym typeface="Calibri"/>
            </a:endParaRPr>
          </a:p>
        </p:txBody>
      </p:sp>
      <p:sp>
        <p:nvSpPr>
          <p:cNvPr id="123" name="Google Shape;123;p6"/>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Price: ~$3K/yr in Calgary, ~$5K/yr elsewhere (per-event fees + licences)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We count buyers × price, not a % of a report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Organizers already pay: Luma Plus $59–69/mo, Brella from $3,500/event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Buyer counts are our estimates</a:t>
            </a:r>
            <a:endParaRPr b="0" i="0" sz="1250" u="none" cap="none" strike="noStrike">
              <a:solidFill>
                <a:schemeClr val="dk1"/>
              </a:solidFill>
              <a:latin typeface="Calibri"/>
              <a:ea typeface="Calibri"/>
              <a:cs typeface="Calibri"/>
              <a:sym typeface="Calibri"/>
            </a:endParaRPr>
          </a:p>
        </p:txBody>
      </p:sp>
      <p:sp>
        <p:nvSpPr>
          <p:cNvPr id="124" name="Google Shape;124;p6"/>
          <p:cNvSpPr/>
          <p:nvPr/>
        </p:nvSpPr>
        <p:spPr>
          <a:xfrm>
            <a:off x="3474720" y="1463040"/>
            <a:ext cx="1645920" cy="1783080"/>
          </a:xfrm>
          <a:prstGeom prst="roundRect">
            <a:avLst>
              <a:gd fmla="val 666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txBox="1"/>
          <p:nvPr/>
        </p:nvSpPr>
        <p:spPr>
          <a:xfrm>
            <a:off x="3474720" y="15544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TAM</a:t>
            </a:r>
            <a:endParaRPr b="0" i="0" sz="1200" u="none" cap="none" strike="noStrike">
              <a:solidFill>
                <a:schemeClr val="dk1"/>
              </a:solidFill>
              <a:latin typeface="Calibri"/>
              <a:ea typeface="Calibri"/>
              <a:cs typeface="Calibri"/>
              <a:sym typeface="Calibri"/>
            </a:endParaRPr>
          </a:p>
        </p:txBody>
      </p:sp>
      <p:sp>
        <p:nvSpPr>
          <p:cNvPr id="126" name="Google Shape;126;p6"/>
          <p:cNvSpPr txBox="1"/>
          <p:nvPr/>
        </p:nvSpPr>
        <p:spPr>
          <a:xfrm>
            <a:off x="3474720" y="1874520"/>
            <a:ext cx="16459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$15M</a:t>
            </a:r>
            <a:endParaRPr b="0" i="0" sz="2800" u="none" cap="none" strike="noStrike">
              <a:solidFill>
                <a:schemeClr val="dk1"/>
              </a:solidFill>
              <a:latin typeface="Calibri"/>
              <a:ea typeface="Calibri"/>
              <a:cs typeface="Calibri"/>
              <a:sym typeface="Calibri"/>
            </a:endParaRPr>
          </a:p>
        </p:txBody>
      </p:sp>
      <p:sp>
        <p:nvSpPr>
          <p:cNvPr id="127" name="Google Shape;127;p6"/>
          <p:cNvSpPr txBox="1"/>
          <p:nvPr/>
        </p:nvSpPr>
        <p:spPr>
          <a:xfrm>
            <a:off x="3566160" y="2606040"/>
            <a:ext cx="14630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050"/>
              <a:buFont typeface="Calibri"/>
              <a:buNone/>
            </a:pPr>
            <a:r>
              <a:rPr b="0" i="0" lang="en-US" sz="1050" u="none" cap="none" strike="noStrike">
                <a:solidFill>
                  <a:schemeClr val="lt1"/>
                </a:solidFill>
                <a:latin typeface="Calibri"/>
                <a:ea typeface="Calibri"/>
                <a:cs typeface="Calibri"/>
                <a:sym typeface="Calibri"/>
              </a:rPr>
              <a:t>North America: ESOs, university centres, hackathons</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5257800" y="1463040"/>
            <a:ext cx="1645920" cy="1783080"/>
          </a:xfrm>
          <a:prstGeom prst="roundRect">
            <a:avLst>
              <a:gd fmla="val 6667" name="adj"/>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txBox="1"/>
          <p:nvPr/>
        </p:nvSpPr>
        <p:spPr>
          <a:xfrm>
            <a:off x="5257800" y="15544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SAM</a:t>
            </a:r>
            <a:endParaRPr b="0" i="0" sz="1200" u="none" cap="none" strike="noStrike">
              <a:solidFill>
                <a:schemeClr val="dk1"/>
              </a:solidFill>
              <a:latin typeface="Calibri"/>
              <a:ea typeface="Calibri"/>
              <a:cs typeface="Calibri"/>
              <a:sym typeface="Calibri"/>
            </a:endParaRPr>
          </a:p>
        </p:txBody>
      </p:sp>
      <p:sp>
        <p:nvSpPr>
          <p:cNvPr id="130" name="Google Shape;130;p6"/>
          <p:cNvSpPr txBox="1"/>
          <p:nvPr/>
        </p:nvSpPr>
        <p:spPr>
          <a:xfrm>
            <a:off x="5257800" y="1874520"/>
            <a:ext cx="16459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$2.65M</a:t>
            </a:r>
            <a:endParaRPr b="0" i="0" sz="2800" u="none" cap="none" strike="noStrike">
              <a:solidFill>
                <a:schemeClr val="dk1"/>
              </a:solidFill>
              <a:latin typeface="Calibri"/>
              <a:ea typeface="Calibri"/>
              <a:cs typeface="Calibri"/>
              <a:sym typeface="Calibri"/>
            </a:endParaRPr>
          </a:p>
        </p:txBody>
      </p:sp>
      <p:sp>
        <p:nvSpPr>
          <p:cNvPr id="131" name="Google Shape;131;p6"/>
          <p:cNvSpPr txBox="1"/>
          <p:nvPr/>
        </p:nvSpPr>
        <p:spPr>
          <a:xfrm>
            <a:off x="5349240" y="2606040"/>
            <a:ext cx="14630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050"/>
              <a:buFont typeface="Calibri"/>
              <a:buNone/>
            </a:pPr>
            <a:r>
              <a:rPr b="0" i="0" lang="en-US" sz="1050" u="none" cap="none" strike="noStrike">
                <a:solidFill>
                  <a:schemeClr val="lt1"/>
                </a:solidFill>
                <a:latin typeface="Calibri"/>
                <a:ea typeface="Calibri"/>
                <a:cs typeface="Calibri"/>
                <a:sym typeface="Calibri"/>
              </a:rPr>
              <a:t>Canada: ~400 accelerators + 100 university centres + 150 hackathons</a:t>
            </a:r>
            <a:endParaRPr b="0" i="0" sz="1050" u="none" cap="none" strike="noStrike">
              <a:solidFill>
                <a:schemeClr val="dk1"/>
              </a:solidFill>
              <a:latin typeface="Calibri"/>
              <a:ea typeface="Calibri"/>
              <a:cs typeface="Calibri"/>
              <a:sym typeface="Calibri"/>
            </a:endParaRPr>
          </a:p>
        </p:txBody>
      </p:sp>
      <p:sp>
        <p:nvSpPr>
          <p:cNvPr id="132" name="Google Shape;132;p6"/>
          <p:cNvSpPr/>
          <p:nvPr/>
        </p:nvSpPr>
        <p:spPr>
          <a:xfrm>
            <a:off x="7040880" y="1463040"/>
            <a:ext cx="1645920" cy="1783080"/>
          </a:xfrm>
          <a:prstGeom prst="roundRect">
            <a:avLst>
              <a:gd fmla="val 6667" name="adj"/>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txBox="1"/>
          <p:nvPr/>
        </p:nvSpPr>
        <p:spPr>
          <a:xfrm>
            <a:off x="7040880" y="15544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SOM</a:t>
            </a:r>
            <a:endParaRPr b="0" i="0" sz="1200" u="none" cap="none" strike="noStrike">
              <a:solidFill>
                <a:schemeClr val="dk1"/>
              </a:solidFill>
              <a:latin typeface="Calibri"/>
              <a:ea typeface="Calibri"/>
              <a:cs typeface="Calibri"/>
              <a:sym typeface="Calibri"/>
            </a:endParaRPr>
          </a:p>
        </p:txBody>
      </p:sp>
      <p:sp>
        <p:nvSpPr>
          <p:cNvPr id="134" name="Google Shape;134;p6"/>
          <p:cNvSpPr txBox="1"/>
          <p:nvPr/>
        </p:nvSpPr>
        <p:spPr>
          <a:xfrm>
            <a:off x="7040880" y="1874520"/>
            <a:ext cx="16459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Calibri"/>
              <a:buNone/>
            </a:pPr>
            <a:r>
              <a:rPr b="1" i="0" lang="en-US" sz="2800" u="none" cap="none" strike="noStrike">
                <a:solidFill>
                  <a:schemeClr val="lt1"/>
                </a:solidFill>
                <a:latin typeface="Calibri"/>
                <a:ea typeface="Calibri"/>
                <a:cs typeface="Calibri"/>
                <a:sym typeface="Calibri"/>
              </a:rPr>
              <a:t>$200K</a:t>
            </a:r>
            <a:endParaRPr b="0" i="0" sz="2800" u="none" cap="none" strike="noStrike">
              <a:solidFill>
                <a:schemeClr val="dk1"/>
              </a:solidFill>
              <a:latin typeface="Calibri"/>
              <a:ea typeface="Calibri"/>
              <a:cs typeface="Calibri"/>
              <a:sym typeface="Calibri"/>
            </a:endParaRPr>
          </a:p>
        </p:txBody>
      </p:sp>
      <p:sp>
        <p:nvSpPr>
          <p:cNvPr id="135" name="Google Shape;135;p6"/>
          <p:cNvSpPr txBox="1"/>
          <p:nvPr/>
        </p:nvSpPr>
        <p:spPr>
          <a:xfrm>
            <a:off x="7132320" y="2606040"/>
            <a:ext cx="14630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050"/>
              <a:buFont typeface="Calibri"/>
              <a:buNone/>
            </a:pPr>
            <a:r>
              <a:rPr b="0" i="0" lang="en-US" sz="1050" u="none" cap="none" strike="noStrike">
                <a:solidFill>
                  <a:schemeClr val="lt1"/>
                </a:solidFill>
                <a:latin typeface="Calibri"/>
                <a:ea typeface="Calibri"/>
                <a:cs typeface="Calibri"/>
                <a:sym typeface="Calibri"/>
              </a:rPr>
              <a:t>40 Canadian organizers × $5K within 3 years</a:t>
            </a:r>
            <a:endParaRPr b="0" i="0" sz="1050" u="none" cap="none" strike="noStrike">
              <a:solidFill>
                <a:schemeClr val="dk1"/>
              </a:solidFill>
              <a:latin typeface="Calibri"/>
              <a:ea typeface="Calibri"/>
              <a:cs typeface="Calibri"/>
              <a:sym typeface="Calibri"/>
            </a:endParaRPr>
          </a:p>
        </p:txBody>
      </p:sp>
      <p:sp>
        <p:nvSpPr>
          <p:cNvPr id="136" name="Google Shape;136;p6"/>
          <p:cNvSpPr/>
          <p:nvPr/>
        </p:nvSpPr>
        <p:spPr>
          <a:xfrm>
            <a:off x="3474720" y="3429000"/>
            <a:ext cx="5212080" cy="1143000"/>
          </a:xfrm>
          <a:prstGeom prst="roundRect">
            <a:avLst>
              <a:gd fmla="val 8000"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3657600" y="356616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How we sized it + why now</a:t>
            </a:r>
            <a:endParaRPr b="0" i="0" sz="1400" u="none" cap="none" strike="noStrike">
              <a:solidFill>
                <a:schemeClr val="dk1"/>
              </a:solidFill>
              <a:latin typeface="Calibri"/>
              <a:ea typeface="Calibri"/>
              <a:cs typeface="Calibri"/>
              <a:sym typeface="Calibri"/>
            </a:endParaRPr>
          </a:p>
        </p:txBody>
      </p:sp>
      <p:sp>
        <p:nvSpPr>
          <p:cNvPr id="138" name="Google Shape;138;p6"/>
          <p:cNvSpPr txBox="1"/>
          <p:nvPr/>
        </p:nvSpPr>
        <p:spPr>
          <a:xfrm>
            <a:off x="3657600" y="3904488"/>
            <a:ext cx="48463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Canada ≈ 400 accelerators × $5K + 100 university centres × $5K + 150 hackathons × $1K. Calgary beachhead ≈ $105K/yr. Tailwind: Calgary tech talent +56% since 2022 (CBRE 2026).</a:t>
            </a:r>
            <a:endParaRPr b="0" i="0" sz="1200" u="none" cap="none" strike="noStrike">
              <a:solidFill>
                <a:schemeClr val="dk1"/>
              </a:solidFill>
              <a:latin typeface="Calibri"/>
              <a:ea typeface="Calibri"/>
              <a:cs typeface="Calibri"/>
              <a:sym typeface="Calibri"/>
            </a:endParaRPr>
          </a:p>
        </p:txBody>
      </p:sp>
      <p:sp>
        <p:nvSpPr>
          <p:cNvPr id="139" name="Google Shape;139;p6"/>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Competition &amp; Differentiation</a:t>
            </a:r>
            <a:endParaRPr sz="3000">
              <a:solidFill>
                <a:srgbClr val="012C3E"/>
              </a:solidFill>
            </a:endParaRPr>
          </a:p>
        </p:txBody>
      </p:sp>
      <p:sp>
        <p:nvSpPr>
          <p:cNvPr id="146" name="Google Shape;146;p9"/>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The real competitor is the Slack post, and doing nothing.</a:t>
            </a:r>
            <a:endParaRPr sz="1300"/>
          </a:p>
        </p:txBody>
      </p:sp>
      <p:sp>
        <p:nvSpPr>
          <p:cNvPr id="147" name="Google Shape;147;p9"/>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txBox="1"/>
          <p:nvPr/>
        </p:nvSpPr>
        <p:spPr>
          <a:xfrm>
            <a:off x="7726699" y="411475"/>
            <a:ext cx="8229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6</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49" name="Google Shape;149;p9"/>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1" name="Google Shape;151;p9"/>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52" name="Google Shape;152;p9"/>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ALSO IN THE MARKET</a:t>
            </a:r>
            <a:endParaRPr b="0" i="0" sz="1100" u="none" cap="none" strike="noStrike">
              <a:solidFill>
                <a:srgbClr val="00D9C7"/>
              </a:solidFill>
              <a:latin typeface="Calibri"/>
              <a:ea typeface="Calibri"/>
              <a:cs typeface="Calibri"/>
              <a:sym typeface="Calibri"/>
            </a:endParaRPr>
          </a:p>
        </p:txBody>
      </p:sp>
      <p:sp>
        <p:nvSpPr>
          <p:cNvPr id="153" name="Google Shape;153;p9"/>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UCeed Founder Matching: researcher-to-operator pairs (8 so far); a partner, not a rival</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Devpost: teams dissolve when the event ends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Upwork / Contra: paid freelancing, not teammates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Generic networking apps stalled: Polywork shut down in 2025</a:t>
            </a:r>
            <a:endParaRPr b="0" i="0" sz="1250" u="none" cap="none" strike="noStrike">
              <a:solidFill>
                <a:schemeClr val="dk1"/>
              </a:solidFill>
              <a:latin typeface="Calibri"/>
              <a:ea typeface="Calibri"/>
              <a:cs typeface="Calibri"/>
              <a:sym typeface="Calibri"/>
            </a:endParaRPr>
          </a:p>
        </p:txBody>
      </p:sp>
      <p:graphicFrame>
        <p:nvGraphicFramePr>
          <p:cNvPr id="154" name="Google Shape;154;p9"/>
          <p:cNvGraphicFramePr/>
          <p:nvPr/>
        </p:nvGraphicFramePr>
        <p:xfrm>
          <a:off x="3474720" y="1463040"/>
          <a:ext cx="3000000" cy="3000000"/>
        </p:xfrm>
        <a:graphic>
          <a:graphicData uri="http://schemas.openxmlformats.org/drawingml/2006/table">
            <a:tbl>
              <a:tblPr>
                <a:noFill/>
                <a:tableStyleId>{FDA3028D-0C03-4743-9075-8F35542186BE}</a:tableStyleId>
              </a:tblPr>
              <a:tblGrid>
                <a:gridCol w="1371600"/>
                <a:gridCol w="960125"/>
                <a:gridCol w="960125"/>
                <a:gridCol w="960125"/>
                <a:gridCol w="960125"/>
              </a:tblGrid>
              <a:tr h="384050">
                <a:tc>
                  <a:txBody>
                    <a:bodyPr/>
                    <a:lstStyle/>
                    <a:p>
                      <a:pPr indent="0" lvl="0" marL="0" marR="0" rtl="0" algn="ctr">
                        <a:spcBef>
                          <a:spcPts val="0"/>
                        </a:spcBef>
                        <a:spcAft>
                          <a:spcPts val="0"/>
                        </a:spcAft>
                        <a:buClr>
                          <a:schemeClr val="dk1"/>
                        </a:buClr>
                        <a:buSzPts val="1150"/>
                        <a:buFont typeface="Calibri"/>
                        <a:buNone/>
                      </a:pPr>
                      <a:r>
                        <a:rPr/>
                        <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CoBuild YYC</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FF5A5F"/>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YC Matching</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Slack / LinkedIn</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c>
                  <a:txBody>
                    <a:bodyPr/>
                    <a:lstStyle/>
                    <a:p>
                      <a:pPr indent="0" lvl="0" marL="0" marR="0" rtl="0" algn="ctr">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Do nothing</a:t>
                      </a:r>
                      <a:endParaRPr sz="115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solidFill>
                      <a:srgbClr val="1B1F3B"/>
                    </a:solidFill>
                  </a:tcPr>
                </a:tc>
              </a:tr>
              <a:tr h="384050">
                <a:tc>
                  <a:txBody>
                    <a:bodyPr/>
                    <a:lstStyle/>
                    <a:p>
                      <a:pPr indent="0" lvl="0" marL="0" marR="0" rtl="0" algn="l">
                        <a:spcBef>
                          <a:spcPts val="0"/>
                        </a:spcBef>
                        <a:spcAft>
                          <a:spcPts val="0"/>
                        </a:spcAft>
                        <a:buClr>
                          <a:srgbClr val="4A4F6B"/>
                        </a:buClr>
                        <a:buSzPts val="1100"/>
                        <a:buFont typeface="Calibri"/>
                        <a:buNone/>
                      </a:pPr>
                      <a:r>
                        <a:rPr b="1" lang="en-US" sz="1100" u="none" cap="none" strike="noStrike">
                          <a:solidFill>
                            <a:srgbClr val="4A4F6B"/>
                          </a:solidFill>
                          <a:latin typeface="Calibri"/>
                          <a:ea typeface="Calibri"/>
                          <a:cs typeface="Calibri"/>
                          <a:sym typeface="Calibri"/>
                        </a:rPr>
                        <a:t>Shows weekly hours</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r>
              <a:tr h="384050">
                <a:tc>
                  <a:txBody>
                    <a:bodyPr/>
                    <a:lstStyle/>
                    <a:p>
                      <a:pPr indent="0" lvl="0" marL="0" marR="0" rtl="0" algn="l">
                        <a:spcBef>
                          <a:spcPts val="0"/>
                        </a:spcBef>
                        <a:spcAft>
                          <a:spcPts val="0"/>
                        </a:spcAft>
                        <a:buClr>
                          <a:srgbClr val="4A4F6B"/>
                        </a:buClr>
                        <a:buSzPts val="1100"/>
                        <a:buFont typeface="Calibri"/>
                        <a:buNone/>
                      </a:pPr>
                      <a:r>
                        <a:rPr b="1" lang="en-US" sz="1100" u="none" cap="none" strike="noStrike">
                          <a:solidFill>
                            <a:srgbClr val="4A4F6B"/>
                          </a:solidFill>
                          <a:latin typeface="Calibri"/>
                          <a:ea typeface="Calibri"/>
                          <a:cs typeface="Calibri"/>
                          <a:sym typeface="Calibri"/>
                        </a:rPr>
                        <a:t>Verified shipping history</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r>
              <a:tr h="384050">
                <a:tc>
                  <a:txBody>
                    <a:bodyPr/>
                    <a:lstStyle/>
                    <a:p>
                      <a:pPr indent="0" lvl="0" marL="0" marR="0" rtl="0" algn="l">
                        <a:spcBef>
                          <a:spcPts val="0"/>
                        </a:spcBef>
                        <a:spcAft>
                          <a:spcPts val="0"/>
                        </a:spcAft>
                        <a:buClr>
                          <a:srgbClr val="4A4F6B"/>
                        </a:buClr>
                        <a:buSzPts val="1100"/>
                        <a:buFont typeface="Calibri"/>
                        <a:buNone/>
                      </a:pPr>
                      <a:r>
                        <a:rPr b="1" lang="en-US" sz="1100" u="none" cap="none" strike="noStrike">
                          <a:solidFill>
                            <a:srgbClr val="4A4F6B"/>
                          </a:solidFill>
                          <a:latin typeface="Calibri"/>
                          <a:ea typeface="Calibri"/>
                          <a:cs typeface="Calibri"/>
                          <a:sym typeface="Calibri"/>
                        </a:rPr>
                        <a:t>Big network today</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c>
                  <a:txBody>
                    <a:bodyPr/>
                    <a:lstStyle/>
                    <a:p>
                      <a:pPr indent="0" lvl="0" marL="0" marR="0" rtl="0" algn="l">
                        <a:spcBef>
                          <a:spcPts val="0"/>
                        </a:spcBef>
                        <a:spcAft>
                          <a:spcPts val="0"/>
                        </a:spcAft>
                        <a:buClr>
                          <a:srgbClr val="4A4F6B"/>
                        </a:buClr>
                        <a:buSzPts val="1100"/>
                        <a:buFont typeface="Calibri"/>
                        <a:buNone/>
                      </a:pPr>
                      <a:r>
                        <a:rPr i="0" lang="en-US" sz="1100" u="none" cap="none" strike="noStrike">
                          <a:solidFill>
                            <a:srgbClr val="4A4F6B"/>
                          </a:solidFill>
                          <a:latin typeface="Calibri"/>
                          <a:ea typeface="Calibri"/>
                          <a:cs typeface="Calibri"/>
                          <a:sym typeface="Calibri"/>
                        </a:rPr>
                        <a:t>—</a:t>
                      </a:r>
                      <a:endParaRPr sz="1100" u="none" cap="none" strike="noStrike">
                        <a:latin typeface="Calibri"/>
                        <a:ea typeface="Calibri"/>
                        <a:cs typeface="Calibri"/>
                        <a:sym typeface="Calibri"/>
                      </a:endParaRPr>
                    </a:p>
                  </a:txBody>
                  <a:tcPr marT="45725" marB="45725" marR="91450" marL="91450" anchor="ctr">
                    <a:lnL cap="flat" cmpd="sng" w="12700">
                      <a:solidFill>
                        <a:srgbClr val="F3F4F9"/>
                      </a:solidFill>
                      <a:prstDash val="solid"/>
                      <a:round/>
                      <a:headEnd len="sm" w="sm" type="none"/>
                      <a:tailEnd len="sm" w="sm" type="none"/>
                    </a:lnL>
                    <a:lnR cap="flat" cmpd="sng" w="12700">
                      <a:solidFill>
                        <a:srgbClr val="F3F4F9"/>
                      </a:solidFill>
                      <a:prstDash val="solid"/>
                      <a:round/>
                      <a:headEnd len="sm" w="sm" type="none"/>
                      <a:tailEnd len="sm" w="sm" type="none"/>
                    </a:lnR>
                    <a:lnT cap="flat" cmpd="sng" w="12700">
                      <a:solidFill>
                        <a:srgbClr val="F3F4F9"/>
                      </a:solidFill>
                      <a:prstDash val="solid"/>
                      <a:round/>
                      <a:headEnd len="sm" w="sm" type="none"/>
                      <a:tailEnd len="sm" w="sm" type="none"/>
                    </a:lnT>
                    <a:lnB cap="flat" cmpd="sng" w="12700">
                      <a:solidFill>
                        <a:srgbClr val="F3F4F9"/>
                      </a:solidFill>
                      <a:prstDash val="solid"/>
                      <a:round/>
                      <a:headEnd len="sm" w="sm" type="none"/>
                      <a:tailEnd len="sm" w="sm" type="none"/>
                    </a:lnB>
                  </a:tcPr>
                </a:tc>
              </a:tr>
            </a:tbl>
          </a:graphicData>
        </a:graphic>
      </p:graphicFrame>
      <p:sp>
        <p:nvSpPr>
          <p:cNvPr id="155" name="Google Shape;155;p9"/>
          <p:cNvSpPr/>
          <p:nvPr/>
        </p:nvSpPr>
        <p:spPr>
          <a:xfrm>
            <a:off x="3474720" y="3246120"/>
            <a:ext cx="5212080" cy="1325880"/>
          </a:xfrm>
          <a:prstGeom prst="roundRect">
            <a:avLst>
              <a:gd fmla="val 6897"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txBox="1"/>
          <p:nvPr/>
        </p:nvSpPr>
        <p:spPr>
          <a:xfrm>
            <a:off x="3657600" y="338328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Our unfair advantage</a:t>
            </a:r>
            <a:endParaRPr b="0" i="0" sz="1400" u="none" cap="none" strike="noStrike">
              <a:solidFill>
                <a:schemeClr val="dk1"/>
              </a:solidFill>
              <a:latin typeface="Calibri"/>
              <a:ea typeface="Calibri"/>
              <a:cs typeface="Calibri"/>
              <a:sym typeface="Calibri"/>
            </a:endParaRPr>
          </a:p>
        </p:txBody>
      </p:sp>
      <p:sp>
        <p:nvSpPr>
          <p:cNvPr id="157" name="Google Shape;157;p9"/>
          <p:cNvSpPr txBox="1"/>
          <p:nvPr/>
        </p:nvSpPr>
        <p:spPr>
          <a:xfrm>
            <a:off x="3657600" y="3721608"/>
            <a:ext cx="48463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Event-verified history of Calgary builders: who showed up, what they shipped, who they built with, seeded through organizer partnerships. YC is global and co-founder-only; LinkedIn is paid for by recruiters.</a:t>
            </a:r>
            <a:endParaRPr b="0" i="0" sz="1200" u="none" cap="none" strike="noStrike">
              <a:solidFill>
                <a:schemeClr val="dk1"/>
              </a:solidFill>
              <a:latin typeface="Calibri"/>
              <a:ea typeface="Calibri"/>
              <a:cs typeface="Calibri"/>
              <a:sym typeface="Calibri"/>
            </a:endParaRPr>
          </a:p>
        </p:txBody>
      </p:sp>
      <p:sp>
        <p:nvSpPr>
          <p:cNvPr id="158" name="Google Shape;158;p9"/>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MVP Demo</a:t>
            </a:r>
            <a:endParaRPr sz="3000">
              <a:solidFill>
                <a:srgbClr val="012C3E"/>
              </a:solidFill>
            </a:endParaRPr>
          </a:p>
        </p:txBody>
      </p:sp>
      <p:sp>
        <p:nvSpPr>
          <p:cNvPr id="165" name="Google Shape;165;p5"/>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From missing role to booked coffee chat in under a minute.</a:t>
            </a:r>
            <a:endParaRPr sz="1300"/>
          </a:p>
        </p:txBody>
      </p:sp>
      <p:sp>
        <p:nvSpPr>
          <p:cNvPr id="166" name="Google Shape;166;p5"/>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txBox="1"/>
          <p:nvPr/>
        </p:nvSpPr>
        <p:spPr>
          <a:xfrm>
            <a:off x="7733974" y="411475"/>
            <a:ext cx="80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7</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68" name="Google Shape;168;p5"/>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 name="Google Shape;170;p5"/>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71" name="Google Shape;171;p5"/>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THE DEMO FLOW</a:t>
            </a:r>
            <a:endParaRPr b="0" i="0" sz="1100" u="none" cap="none" strike="noStrike">
              <a:solidFill>
                <a:srgbClr val="00D9C7"/>
              </a:solidFill>
              <a:latin typeface="Calibri"/>
              <a:ea typeface="Calibri"/>
              <a:cs typeface="Calibri"/>
              <a:sym typeface="Calibri"/>
            </a:endParaRPr>
          </a:p>
        </p:txBody>
      </p:sp>
      <p:sp>
        <p:nvSpPr>
          <p:cNvPr id="172" name="Google Shape;172;p5"/>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A real BuildYYC team posts: “backend dev, 6 hrs/wk”</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Top 3 attendees who signed up today appear, with reasons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 builder accepts and a coffee chat is booked</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Organizer view: today's matches</a:t>
            </a:r>
            <a:endParaRPr b="0" i="0" sz="1250" u="none" cap="none" strike="noStrike">
              <a:solidFill>
                <a:schemeClr val="dk1"/>
              </a:solidFill>
              <a:latin typeface="Calibri"/>
              <a:ea typeface="Calibri"/>
              <a:cs typeface="Calibri"/>
              <a:sym typeface="Calibri"/>
            </a:endParaRPr>
          </a:p>
        </p:txBody>
      </p:sp>
      <p:sp>
        <p:nvSpPr>
          <p:cNvPr id="173" name="Google Shape;173;p5"/>
          <p:cNvSpPr/>
          <p:nvPr/>
        </p:nvSpPr>
        <p:spPr>
          <a:xfrm>
            <a:off x="3474720" y="1463040"/>
            <a:ext cx="3291840" cy="3108960"/>
          </a:xfrm>
          <a:prstGeom prst="roundRect">
            <a:avLst>
              <a:gd fmla="val 2941" name="adj"/>
            </a:avLst>
          </a:prstGeom>
          <a:solidFill>
            <a:schemeClr val="lt2"/>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4754880" y="2331720"/>
            <a:ext cx="731520" cy="731520"/>
          </a:xfrm>
          <a:prstGeom prst="ellipse">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5"/>
          <p:cNvPicPr preferRelativeResize="0"/>
          <p:nvPr/>
        </p:nvPicPr>
        <p:blipFill rotWithShape="1">
          <a:blip r:embed="rId3">
            <a:alphaModFix/>
          </a:blip>
          <a:srcRect b="0" l="0" r="0" t="0"/>
          <a:stretch/>
        </p:blipFill>
        <p:spPr>
          <a:xfrm>
            <a:off x="4937760" y="2514600"/>
            <a:ext cx="365760" cy="365760"/>
          </a:xfrm>
          <a:prstGeom prst="rect">
            <a:avLst/>
          </a:prstGeom>
          <a:noFill/>
          <a:ln>
            <a:noFill/>
          </a:ln>
        </p:spPr>
      </p:pic>
      <p:sp>
        <p:nvSpPr>
          <p:cNvPr id="176" name="Google Shape;176;p5"/>
          <p:cNvSpPr txBox="1"/>
          <p:nvPr/>
        </p:nvSpPr>
        <p:spPr>
          <a:xfrm>
            <a:off x="3611880" y="3246120"/>
            <a:ext cx="301752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0" i="1" lang="en-US" sz="1200" u="none" cap="none" strike="noStrike">
                <a:solidFill>
                  <a:schemeClr val="dk2"/>
                </a:solidFill>
                <a:latin typeface="Calibri"/>
                <a:ea typeface="Calibri"/>
                <a:cs typeface="Calibri"/>
                <a:sym typeface="Calibri"/>
              </a:rPr>
              <a:t>[Screenshot or live demo: match a real BuildYYC team with a real attendee]</a:t>
            </a:r>
            <a:endParaRPr b="0" i="0" sz="1200" u="none" cap="none" strike="noStrike">
              <a:solidFill>
                <a:schemeClr val="dk1"/>
              </a:solidFill>
              <a:latin typeface="Calibri"/>
              <a:ea typeface="Calibri"/>
              <a:cs typeface="Calibri"/>
              <a:sym typeface="Calibri"/>
            </a:endParaRPr>
          </a:p>
        </p:txBody>
      </p:sp>
      <p:sp>
        <p:nvSpPr>
          <p:cNvPr id="177" name="Google Shape;177;p5"/>
          <p:cNvSpPr/>
          <p:nvPr/>
        </p:nvSpPr>
        <p:spPr>
          <a:xfrm>
            <a:off x="6949440" y="1463040"/>
            <a:ext cx="1737360" cy="1463040"/>
          </a:xfrm>
          <a:prstGeom prst="roundRect">
            <a:avLst>
              <a:gd fmla="val 6250" name="adj"/>
            </a:avLst>
          </a:prstGeom>
          <a:solidFill>
            <a:schemeClr val="lt1"/>
          </a:solidFill>
          <a:ln cap="flat" cmpd="sng" w="1587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txBox="1"/>
          <p:nvPr/>
        </p:nvSpPr>
        <p:spPr>
          <a:xfrm>
            <a:off x="7132320" y="1600200"/>
            <a:ext cx="1371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What's real</a:t>
            </a:r>
            <a:endParaRPr b="0" i="0" sz="1400" u="none" cap="none" strike="noStrike">
              <a:solidFill>
                <a:schemeClr val="dk1"/>
              </a:solidFill>
              <a:latin typeface="Calibri"/>
              <a:ea typeface="Calibri"/>
              <a:cs typeface="Calibri"/>
              <a:sym typeface="Calibri"/>
            </a:endParaRPr>
          </a:p>
        </p:txBody>
      </p:sp>
      <p:sp>
        <p:nvSpPr>
          <p:cNvPr id="179" name="Google Shape;179;p5"/>
          <p:cNvSpPr txBox="1"/>
          <p:nvPr/>
        </p:nvSpPr>
        <p:spPr>
          <a:xfrm>
            <a:off x="7132320" y="1938528"/>
            <a:ext cx="1371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Builder sign-up, role posting, AI top-3 match, booking</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6949440" y="3108960"/>
            <a:ext cx="1737360" cy="1463040"/>
          </a:xfrm>
          <a:prstGeom prst="roundRect">
            <a:avLst>
              <a:gd fmla="val 6250" name="adj"/>
            </a:avLst>
          </a:prstGeom>
          <a:solidFill>
            <a:schemeClr val="lt1"/>
          </a:solidFill>
          <a:ln cap="flat" cmpd="sng" w="15875">
            <a:solidFill>
              <a:schemeClr val="accent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txBox="1"/>
          <p:nvPr/>
        </p:nvSpPr>
        <p:spPr>
          <a:xfrm>
            <a:off x="7132320" y="3246120"/>
            <a:ext cx="1371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What's next</a:t>
            </a:r>
            <a:endParaRPr b="0" i="0" sz="1400" u="none" cap="none" strike="noStrike">
              <a:solidFill>
                <a:schemeClr val="dk1"/>
              </a:solidFill>
              <a:latin typeface="Calibri"/>
              <a:ea typeface="Calibri"/>
              <a:cs typeface="Calibri"/>
              <a:sym typeface="Calibri"/>
            </a:endParaRPr>
          </a:p>
        </p:txBody>
      </p:sp>
      <p:sp>
        <p:nvSpPr>
          <p:cNvPr id="182" name="Google Shape;182;p5"/>
          <p:cNvSpPr txBox="1"/>
          <p:nvPr/>
        </p:nvSpPr>
        <p:spPr>
          <a:xfrm>
            <a:off x="7132320" y="3584448"/>
            <a:ext cx="1371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Luma and Devpost import, nudges, builder passport, 30/90-day tracking</a:t>
            </a:r>
            <a:endParaRPr b="0" i="0" sz="1200" u="none" cap="none" strike="noStrike">
              <a:solidFill>
                <a:schemeClr val="dk1"/>
              </a:solidFill>
              <a:latin typeface="Calibri"/>
              <a:ea typeface="Calibri"/>
              <a:cs typeface="Calibri"/>
              <a:sym typeface="Calibri"/>
            </a:endParaRPr>
          </a:p>
        </p:txBody>
      </p:sp>
      <p:sp>
        <p:nvSpPr>
          <p:cNvPr id="183" name="Google Shape;183;p5"/>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chemeClr val="dk1"/>
                </a:solidFill>
              </a:rPr>
              <a:t>Business Model</a:t>
            </a:r>
            <a:endParaRPr sz="3000"/>
          </a:p>
        </p:txBody>
      </p:sp>
      <p:sp>
        <p:nvSpPr>
          <p:cNvPr id="190" name="Google Shape;190;p7"/>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Builders use it free. Organizers pay to turn events into lasting teams.</a:t>
            </a:r>
            <a:endParaRPr sz="1300"/>
          </a:p>
        </p:txBody>
      </p:sp>
      <p:sp>
        <p:nvSpPr>
          <p:cNvPr id="191" name="Google Shape;191;p7"/>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txBox="1"/>
          <p:nvPr/>
        </p:nvSpPr>
        <p:spPr>
          <a:xfrm>
            <a:off x="7731950" y="411475"/>
            <a:ext cx="80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8</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193" name="Google Shape;193;p7"/>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p7"/>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196" name="Google Shape;196;p7"/>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WHY ORGANIZERS PAY</a:t>
            </a:r>
            <a:endParaRPr b="0" i="0" sz="1100" u="none" cap="none" strike="noStrike">
              <a:solidFill>
                <a:srgbClr val="00D9C7"/>
              </a:solidFill>
              <a:latin typeface="Calibri"/>
              <a:ea typeface="Calibri"/>
              <a:cs typeface="Calibri"/>
              <a:sym typeface="Calibri"/>
            </a:endParaRPr>
          </a:p>
        </p:txBody>
      </p:sp>
      <p:sp>
        <p:nvSpPr>
          <p:cNvPr id="197" name="Google Shape;197;p7"/>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Their headline metric is companies formed (Platform: 403 since 2022)</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Today they can't see what happens after an 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They already pay for event tools: Luma, Brella, AcceleratorApp</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Every event adds to the pool and the data, so they renew</a:t>
            </a:r>
            <a:endParaRPr b="0" i="0" sz="1250" u="none" cap="none" strike="noStrike">
              <a:solidFill>
                <a:schemeClr val="dk1"/>
              </a:solidFill>
              <a:latin typeface="Calibri"/>
              <a:ea typeface="Calibri"/>
              <a:cs typeface="Calibri"/>
              <a:sym typeface="Calibri"/>
            </a:endParaRPr>
          </a:p>
        </p:txBody>
      </p:sp>
      <p:sp>
        <p:nvSpPr>
          <p:cNvPr id="198" name="Google Shape;198;p7"/>
          <p:cNvSpPr/>
          <p:nvPr/>
        </p:nvSpPr>
        <p:spPr>
          <a:xfrm>
            <a:off x="3474720" y="1463040"/>
            <a:ext cx="2514600" cy="1508760"/>
          </a:xfrm>
          <a:prstGeom prst="roundRect">
            <a:avLst>
              <a:gd fmla="val 6061" name="adj"/>
            </a:avLst>
          </a:prstGeom>
          <a:solidFill>
            <a:schemeClr val="lt1"/>
          </a:solidFill>
          <a:ln cap="flat" cmpd="sng" w="1587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txBox="1"/>
          <p:nvPr/>
        </p:nvSpPr>
        <p:spPr>
          <a:xfrm>
            <a:off x="365760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Revenue model</a:t>
            </a:r>
            <a:endParaRPr b="0" i="0" sz="1400" u="none" cap="none" strike="noStrike">
              <a:solidFill>
                <a:schemeClr val="dk1"/>
              </a:solidFill>
              <a:latin typeface="Calibri"/>
              <a:ea typeface="Calibri"/>
              <a:cs typeface="Calibri"/>
              <a:sym typeface="Calibri"/>
            </a:endParaRPr>
          </a:p>
        </p:txBody>
      </p:sp>
      <p:sp>
        <p:nvSpPr>
          <p:cNvPr id="200" name="Google Shape;200;p7"/>
          <p:cNvSpPr txBox="1"/>
          <p:nvPr/>
        </p:nvSpPr>
        <p:spPr>
          <a:xfrm>
            <a:off x="365760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B2B2C SaaS: a per-event fee or an annual ecosystem licence. Builders are always free.</a:t>
            </a:r>
            <a:endParaRPr b="0" i="0" sz="1200" u="none" cap="none" strike="noStrike">
              <a:solidFill>
                <a:schemeClr val="dk1"/>
              </a:solidFill>
              <a:latin typeface="Calibri"/>
              <a:ea typeface="Calibri"/>
              <a:cs typeface="Calibri"/>
              <a:sym typeface="Calibri"/>
            </a:endParaRPr>
          </a:p>
        </p:txBody>
      </p:sp>
      <p:sp>
        <p:nvSpPr>
          <p:cNvPr id="201" name="Google Shape;201;p7"/>
          <p:cNvSpPr/>
          <p:nvPr/>
        </p:nvSpPr>
        <p:spPr>
          <a:xfrm>
            <a:off x="6172200" y="1463040"/>
            <a:ext cx="2514600" cy="1508760"/>
          </a:xfrm>
          <a:prstGeom prst="roundRect">
            <a:avLst>
              <a:gd fmla="val 6061" name="adj"/>
            </a:avLst>
          </a:prstGeom>
          <a:solidFill>
            <a:schemeClr val="lt1"/>
          </a:solidFill>
          <a:ln cap="flat" cmpd="sng" w="15875">
            <a:solidFill>
              <a:schemeClr val="accent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txBox="1"/>
          <p:nvPr/>
        </p:nvSpPr>
        <p:spPr>
          <a:xfrm>
            <a:off x="6355080" y="16002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Pricing</a:t>
            </a:r>
            <a:endParaRPr b="0" i="0" sz="1400" u="none" cap="none" strike="noStrike">
              <a:solidFill>
                <a:schemeClr val="dk1"/>
              </a:solidFill>
              <a:latin typeface="Calibri"/>
              <a:ea typeface="Calibri"/>
              <a:cs typeface="Calibri"/>
              <a:sym typeface="Calibri"/>
            </a:endParaRPr>
          </a:p>
        </p:txBody>
      </p:sp>
      <p:sp>
        <p:nvSpPr>
          <p:cNvPr id="203" name="Google Shape;203;p7"/>
          <p:cNvSpPr txBox="1"/>
          <p:nvPr/>
        </p:nvSpPr>
        <p:spPr>
          <a:xfrm>
            <a:off x="6355080" y="19385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$500 per event, $1,500 per flagship buildathon, or $3K–$12K/yr licence. First pilot free.</a:t>
            </a:r>
            <a:endParaRPr b="0" i="0" sz="1200" u="none" cap="none" strike="noStrike">
              <a:solidFill>
                <a:schemeClr val="dk1"/>
              </a:solidFill>
              <a:latin typeface="Calibri"/>
              <a:ea typeface="Calibri"/>
              <a:cs typeface="Calibri"/>
              <a:sym typeface="Calibri"/>
            </a:endParaRPr>
          </a:p>
        </p:txBody>
      </p:sp>
      <p:sp>
        <p:nvSpPr>
          <p:cNvPr id="204" name="Google Shape;204;p7"/>
          <p:cNvSpPr/>
          <p:nvPr/>
        </p:nvSpPr>
        <p:spPr>
          <a:xfrm>
            <a:off x="3474720" y="3063240"/>
            <a:ext cx="2514600" cy="1508760"/>
          </a:xfrm>
          <a:prstGeom prst="roundRect">
            <a:avLst>
              <a:gd fmla="val 6061" name="adj"/>
            </a:avLst>
          </a:prstGeom>
          <a:solidFill>
            <a:schemeClr val="lt1"/>
          </a:solidFill>
          <a:ln cap="flat" cmpd="sng" w="15875">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txBox="1"/>
          <p:nvPr/>
        </p:nvSpPr>
        <p:spPr>
          <a:xfrm>
            <a:off x="365760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Unit economics</a:t>
            </a:r>
            <a:endParaRPr b="0" i="0" sz="1400" u="none" cap="none" strike="noStrike">
              <a:solidFill>
                <a:schemeClr val="dk1"/>
              </a:solidFill>
              <a:latin typeface="Calibri"/>
              <a:ea typeface="Calibri"/>
              <a:cs typeface="Calibri"/>
              <a:sym typeface="Calibri"/>
            </a:endParaRPr>
          </a:p>
        </p:txBody>
      </p:sp>
      <p:sp>
        <p:nvSpPr>
          <p:cNvPr id="206" name="Google Shape;206;p7"/>
          <p:cNvSpPr txBox="1"/>
          <p:nvPr/>
        </p:nvSpPr>
        <p:spPr>
          <a:xfrm>
            <a:off x="365760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We assume: CAC ~$500–1K, ~80% margin, ~$4K/yr, ~75% retention → LTV ≈ $12.8K (target, not proven).</a:t>
            </a:r>
            <a:endParaRPr b="0" i="0" sz="1200" u="none" cap="none" strike="noStrike">
              <a:solidFill>
                <a:schemeClr val="dk1"/>
              </a:solidFill>
              <a:latin typeface="Calibri"/>
              <a:ea typeface="Calibri"/>
              <a:cs typeface="Calibri"/>
              <a:sym typeface="Calibri"/>
            </a:endParaRPr>
          </a:p>
        </p:txBody>
      </p:sp>
      <p:sp>
        <p:nvSpPr>
          <p:cNvPr id="207" name="Google Shape;207;p7"/>
          <p:cNvSpPr/>
          <p:nvPr/>
        </p:nvSpPr>
        <p:spPr>
          <a:xfrm>
            <a:off x="6172200" y="3063240"/>
            <a:ext cx="2514600" cy="1508760"/>
          </a:xfrm>
          <a:prstGeom prst="roundRect">
            <a:avLst>
              <a:gd fmla="val 6061" name="adj"/>
            </a:avLst>
          </a:prstGeom>
          <a:solidFill>
            <a:schemeClr val="lt1"/>
          </a:solidFill>
          <a:ln cap="flat" cmpd="sng" w="158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txBox="1"/>
          <p:nvPr/>
        </p:nvSpPr>
        <p:spPr>
          <a:xfrm>
            <a:off x="6355080" y="3200400"/>
            <a:ext cx="2148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Key assumptions</a:t>
            </a:r>
            <a:endParaRPr b="0" i="0" sz="1400" u="none" cap="none" strike="noStrike">
              <a:solidFill>
                <a:schemeClr val="dk1"/>
              </a:solidFill>
              <a:latin typeface="Calibri"/>
              <a:ea typeface="Calibri"/>
              <a:cs typeface="Calibri"/>
              <a:sym typeface="Calibri"/>
            </a:endParaRPr>
          </a:p>
        </p:txBody>
      </p:sp>
      <p:sp>
        <p:nvSpPr>
          <p:cNvPr id="209" name="Google Shape;209;p7"/>
          <p:cNvSpPr txBox="1"/>
          <p:nvPr/>
        </p:nvSpPr>
        <p:spPr>
          <a:xfrm>
            <a:off x="6355080" y="3538728"/>
            <a:ext cx="2148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1) Organizers pay for post-event outcomes. 2) Builders keep their hours current. 3) Matches become ongoing projects.</a:t>
            </a:r>
            <a:endParaRPr b="0" i="0" sz="1200" u="none" cap="none" strike="noStrike">
              <a:solidFill>
                <a:schemeClr val="dk1"/>
              </a:solidFill>
              <a:latin typeface="Calibri"/>
              <a:ea typeface="Calibri"/>
              <a:cs typeface="Calibri"/>
              <a:sym typeface="Calibri"/>
            </a:endParaRPr>
          </a:p>
        </p:txBody>
      </p:sp>
      <p:sp>
        <p:nvSpPr>
          <p:cNvPr id="210" name="Google Shape;210;p7"/>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3000"/>
              <a:buFont typeface="Arial"/>
              <a:buNone/>
            </a:pPr>
            <a:r>
              <a:rPr b="1" lang="en-US" sz="3000">
                <a:solidFill>
                  <a:srgbClr val="012C3E"/>
                </a:solidFill>
              </a:rPr>
              <a:t>Go-To-Market Plan</a:t>
            </a:r>
            <a:endParaRPr sz="3000">
              <a:solidFill>
                <a:srgbClr val="012C3E"/>
              </a:solidFill>
            </a:endParaRPr>
          </a:p>
        </p:txBody>
      </p:sp>
      <p:sp>
        <p:nvSpPr>
          <p:cNvPr id="217" name="Google Shape;217;p8"/>
          <p:cNvSpPr txBox="1"/>
          <p:nvPr>
            <p:ph idx="1" type="body"/>
          </p:nvPr>
        </p:nvSpPr>
        <p:spPr>
          <a:xfrm>
            <a:off x="457200" y="960120"/>
            <a:ext cx="777240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1300"/>
              <a:buNone/>
            </a:pPr>
            <a:r>
              <a:rPr i="1" lang="en-US" sz="1300">
                <a:solidFill>
                  <a:schemeClr val="dk2"/>
                </a:solidFill>
              </a:rPr>
              <a:t>Seed the builders at events. Sell to the organizers who run them.</a:t>
            </a:r>
            <a:endParaRPr sz="1300"/>
          </a:p>
        </p:txBody>
      </p:sp>
      <p:sp>
        <p:nvSpPr>
          <p:cNvPr id="218" name="Google Shape;218;p8"/>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txBox="1"/>
          <p:nvPr/>
        </p:nvSpPr>
        <p:spPr>
          <a:xfrm>
            <a:off x="7733974" y="411475"/>
            <a:ext cx="8085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a:t>
            </a:r>
            <a:r>
              <a:rPr b="1" lang="en-US" sz="1100">
                <a:solidFill>
                  <a:schemeClr val="lt1"/>
                </a:solidFill>
                <a:latin typeface="Calibri"/>
                <a:ea typeface="Calibri"/>
                <a:cs typeface="Calibri"/>
                <a:sym typeface="Calibri"/>
              </a:rPr>
              <a:t>9</a:t>
            </a:r>
            <a:r>
              <a:rPr b="1" i="0" lang="en-US" sz="1100" u="none" cap="none" strike="noStrike">
                <a:solidFill>
                  <a:schemeClr val="lt1"/>
                </a:solidFill>
                <a:latin typeface="Calibri"/>
                <a:ea typeface="Calibri"/>
                <a:cs typeface="Calibri"/>
                <a:sym typeface="Calibri"/>
              </a:rPr>
              <a:t> of 10</a:t>
            </a:r>
            <a:endParaRPr b="0" i="0" sz="1100" u="none" cap="none" strike="noStrike">
              <a:solidFill>
                <a:schemeClr val="dk1"/>
              </a:solidFill>
              <a:latin typeface="Calibri"/>
              <a:ea typeface="Calibri"/>
              <a:cs typeface="Calibri"/>
              <a:sym typeface="Calibri"/>
            </a:endParaRPr>
          </a:p>
        </p:txBody>
      </p:sp>
      <p:sp>
        <p:nvSpPr>
          <p:cNvPr id="220" name="Google Shape;220;p8"/>
          <p:cNvSpPr/>
          <p:nvPr/>
        </p:nvSpPr>
        <p:spPr>
          <a:xfrm>
            <a:off x="457200" y="1463040"/>
            <a:ext cx="2743200" cy="3108960"/>
          </a:xfrm>
          <a:prstGeom prst="roundRect">
            <a:avLst>
              <a:gd fmla="val 40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640080" y="1645920"/>
            <a:ext cx="411480" cy="411480"/>
          </a:xfrm>
          <a:prstGeom prst="ellipse">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8"/>
          <p:cNvPicPr preferRelativeResize="0"/>
          <p:nvPr/>
        </p:nvPicPr>
        <p:blipFill rotWithShape="1">
          <a:blip r:embed="rId3">
            <a:alphaModFix/>
          </a:blip>
          <a:srcRect b="0" l="0" r="0" t="0"/>
          <a:stretch/>
        </p:blipFill>
        <p:spPr>
          <a:xfrm>
            <a:off x="731520" y="1737360"/>
            <a:ext cx="228600" cy="228600"/>
          </a:xfrm>
          <a:prstGeom prst="rect">
            <a:avLst/>
          </a:prstGeom>
          <a:noFill/>
          <a:ln>
            <a:noFill/>
          </a:ln>
        </p:spPr>
      </p:pic>
      <p:sp>
        <p:nvSpPr>
          <p:cNvPr id="223" name="Google Shape;223;p8"/>
          <p:cNvSpPr txBox="1"/>
          <p:nvPr/>
        </p:nvSpPr>
        <p:spPr>
          <a:xfrm>
            <a:off x="1170432" y="1645920"/>
            <a:ext cx="1874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rgbClr val="00D9C7"/>
                </a:solidFill>
                <a:latin typeface="Calibri"/>
                <a:ea typeface="Calibri"/>
                <a:cs typeface="Calibri"/>
                <a:sym typeface="Calibri"/>
              </a:rPr>
              <a:t>METRICS WE TRACK</a:t>
            </a:r>
            <a:endParaRPr b="0" i="0" sz="1100" u="none" cap="none" strike="noStrike">
              <a:solidFill>
                <a:srgbClr val="00D9C7"/>
              </a:solidFill>
              <a:latin typeface="Calibri"/>
              <a:ea typeface="Calibri"/>
              <a:cs typeface="Calibri"/>
              <a:sym typeface="Calibri"/>
            </a:endParaRPr>
          </a:p>
        </p:txBody>
      </p:sp>
      <p:sp>
        <p:nvSpPr>
          <p:cNvPr id="224" name="Google Shape;224;p8"/>
          <p:cNvSpPr txBox="1"/>
          <p:nvPr/>
        </p:nvSpPr>
        <p:spPr>
          <a:xfrm>
            <a:off x="640080" y="2194560"/>
            <a:ext cx="2377440" cy="21945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Builder sign-ups per event</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Matches that turn into coffee chats</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Projects active at 30 days (benchmark: 17% past week 1)</a:t>
            </a:r>
            <a:endParaRPr b="0" i="0" sz="125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chemeClr val="dk2"/>
              </a:buClr>
              <a:buSzPts val="1250"/>
              <a:buFont typeface="Calibri"/>
              <a:buChar char="•"/>
            </a:pPr>
            <a:r>
              <a:rPr b="0" i="0" lang="en-US" sz="1250" u="none" cap="none" strike="noStrike">
                <a:solidFill>
                  <a:schemeClr val="dk2"/>
                </a:solidFill>
                <a:latin typeface="Calibri"/>
                <a:ea typeface="Calibri"/>
                <a:cs typeface="Calibri"/>
                <a:sym typeface="Calibri"/>
              </a:rPr>
              <a:t>Organizer pilots that convert to paid</a:t>
            </a:r>
            <a:endParaRPr b="0" i="0" sz="1250" u="none" cap="none" strike="noStrike">
              <a:solidFill>
                <a:schemeClr val="dk1"/>
              </a:solidFill>
              <a:latin typeface="Calibri"/>
              <a:ea typeface="Calibri"/>
              <a:cs typeface="Calibri"/>
              <a:sym typeface="Calibri"/>
            </a:endParaRPr>
          </a:p>
        </p:txBody>
      </p:sp>
      <p:sp>
        <p:nvSpPr>
          <p:cNvPr id="225" name="Google Shape;225;p8"/>
          <p:cNvSpPr/>
          <p:nvPr/>
        </p:nvSpPr>
        <p:spPr>
          <a:xfrm>
            <a:off x="3474720" y="1463040"/>
            <a:ext cx="1188720" cy="914400"/>
          </a:xfrm>
          <a:prstGeom prst="homePlate">
            <a:avLst>
              <a:gd fmla="val 50000"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txBox="1"/>
          <p:nvPr/>
        </p:nvSpPr>
        <p:spPr>
          <a:xfrm>
            <a:off x="3520440" y="146304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First 10</a:t>
            </a:r>
            <a:endParaRPr b="0" i="0" sz="1200" u="none" cap="none" strike="noStrike">
              <a:solidFill>
                <a:schemeClr val="dk1"/>
              </a:solidFill>
              <a:latin typeface="Calibri"/>
              <a:ea typeface="Calibri"/>
              <a:cs typeface="Calibri"/>
              <a:sym typeface="Calibri"/>
            </a:endParaRPr>
          </a:p>
        </p:txBody>
      </p:sp>
      <p:sp>
        <p:nvSpPr>
          <p:cNvPr id="227" name="Google Shape;227;p8"/>
          <p:cNvSpPr txBox="1"/>
          <p:nvPr/>
        </p:nvSpPr>
        <p:spPr>
          <a:xfrm>
            <a:off x="4846320" y="150876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50"/>
              <a:buFont typeface="Calibri"/>
              <a:buNone/>
            </a:pPr>
            <a:r>
              <a:rPr b="0" i="0" lang="en-US" sz="1250" u="none" cap="none" strike="noStrike">
                <a:solidFill>
                  <a:schemeClr val="dk2"/>
                </a:solidFill>
                <a:latin typeface="Calibri"/>
                <a:ea typeface="Calibri"/>
                <a:cs typeface="Calibri"/>
                <a:sym typeface="Calibri"/>
              </a:rPr>
              <a:t>Monday: ask Code the Change YYC and Product Calgary to pilot at Hack the Change (Nov 7–8). Then CalgaryHacks, MRUHacks, Platform meetups and campus clubs, with QR sign-up at check-in.</a:t>
            </a:r>
            <a:endParaRPr b="0" i="0" sz="1250" u="none" cap="none" strike="noStrike">
              <a:solidFill>
                <a:schemeClr val="dk1"/>
              </a:solidFill>
              <a:latin typeface="Calibri"/>
              <a:ea typeface="Calibri"/>
              <a:cs typeface="Calibri"/>
              <a:sym typeface="Calibri"/>
            </a:endParaRPr>
          </a:p>
        </p:txBody>
      </p:sp>
      <p:sp>
        <p:nvSpPr>
          <p:cNvPr id="228" name="Google Shape;228;p8"/>
          <p:cNvSpPr/>
          <p:nvPr/>
        </p:nvSpPr>
        <p:spPr>
          <a:xfrm>
            <a:off x="3474720" y="2514600"/>
            <a:ext cx="1188720" cy="914400"/>
          </a:xfrm>
          <a:prstGeom prst="homePlate">
            <a:avLst>
              <a:gd fmla="val 50000" name="adj"/>
            </a:avLst>
          </a:prstGeom>
          <a:solidFill>
            <a:schemeClr val="accent4"/>
          </a:solidFill>
          <a:ln cap="flat" cmpd="sng" w="127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txBox="1"/>
          <p:nvPr/>
        </p:nvSpPr>
        <p:spPr>
          <a:xfrm>
            <a:off x="3520440" y="251460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First 100</a:t>
            </a:r>
            <a:endParaRPr b="0" i="0" sz="1200" u="none" cap="none" strike="noStrike">
              <a:solidFill>
                <a:schemeClr val="dk1"/>
              </a:solidFill>
              <a:latin typeface="Calibri"/>
              <a:ea typeface="Calibri"/>
              <a:cs typeface="Calibri"/>
              <a:sym typeface="Calibri"/>
            </a:endParaRPr>
          </a:p>
        </p:txBody>
      </p:sp>
      <p:sp>
        <p:nvSpPr>
          <p:cNvPr id="230" name="Google Shape;230;p8"/>
          <p:cNvSpPr txBox="1"/>
          <p:nvPr/>
        </p:nvSpPr>
        <p:spPr>
          <a:xfrm>
            <a:off x="4846320" y="256032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50"/>
              <a:buFont typeface="Calibri"/>
              <a:buNone/>
            </a:pPr>
            <a:r>
              <a:rPr b="0" i="0" lang="en-US" sz="1250" u="none" cap="none" strike="noStrike">
                <a:solidFill>
                  <a:schemeClr val="dk2"/>
                </a:solidFill>
                <a:latin typeface="Calibri"/>
                <a:ea typeface="Calibri"/>
                <a:cs typeface="Calibri"/>
                <a:sym typeface="Calibri"/>
              </a:rPr>
              <a:t>Alberta's 8 Regional Innovation Networks, accelerators (Alberta Catalyzer, CDL-Rockies) and university centres, sold with Calgary case studies: matches made, projects still alive.</a:t>
            </a:r>
            <a:endParaRPr b="0" i="0" sz="1250" u="none" cap="none" strike="noStrike">
              <a:solidFill>
                <a:schemeClr val="dk1"/>
              </a:solidFill>
              <a:latin typeface="Calibri"/>
              <a:ea typeface="Calibri"/>
              <a:cs typeface="Calibri"/>
              <a:sym typeface="Calibri"/>
            </a:endParaRPr>
          </a:p>
        </p:txBody>
      </p:sp>
      <p:sp>
        <p:nvSpPr>
          <p:cNvPr id="231" name="Google Shape;231;p8"/>
          <p:cNvSpPr/>
          <p:nvPr/>
        </p:nvSpPr>
        <p:spPr>
          <a:xfrm>
            <a:off x="3474720" y="3566160"/>
            <a:ext cx="1188720" cy="914400"/>
          </a:xfrm>
          <a:prstGeom prst="homePlate">
            <a:avLst>
              <a:gd fmla="val 50000" name="adj"/>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txBox="1"/>
          <p:nvPr/>
        </p:nvSpPr>
        <p:spPr>
          <a:xfrm>
            <a:off x="3520440" y="356616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Scale</a:t>
            </a:r>
            <a:endParaRPr b="0" i="0" sz="1200" u="none" cap="none" strike="noStrike">
              <a:solidFill>
                <a:schemeClr val="dk1"/>
              </a:solidFill>
              <a:latin typeface="Calibri"/>
              <a:ea typeface="Calibri"/>
              <a:cs typeface="Calibri"/>
              <a:sym typeface="Calibri"/>
            </a:endParaRPr>
          </a:p>
        </p:txBody>
      </p:sp>
      <p:sp>
        <p:nvSpPr>
          <p:cNvPr id="233" name="Google Shape;233;p8"/>
          <p:cNvSpPr txBox="1"/>
          <p:nvPr/>
        </p:nvSpPr>
        <p:spPr>
          <a:xfrm>
            <a:off x="4846320" y="361188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50"/>
              <a:buFont typeface="Calibri"/>
              <a:buNone/>
            </a:pPr>
            <a:r>
              <a:rPr b="0" i="0" lang="en-US" sz="1250" u="none" cap="none" strike="noStrike">
                <a:solidFill>
                  <a:schemeClr val="dk2"/>
                </a:solidFill>
                <a:latin typeface="Calibri"/>
                <a:ea typeface="Calibri"/>
                <a:cs typeface="Calibri"/>
                <a:sym typeface="Calibri"/>
              </a:rPr>
              <a:t>Luma and Devpost integrations, partner distribution across Canadian accelerators, then employers paying to reach builders who ship.</a:t>
            </a:r>
            <a:endParaRPr b="0" i="0" sz="1250" u="none" cap="none" strike="noStrike">
              <a:solidFill>
                <a:schemeClr val="dk1"/>
              </a:solidFill>
              <a:latin typeface="Calibri"/>
              <a:ea typeface="Calibri"/>
              <a:cs typeface="Calibri"/>
              <a:sym typeface="Calibri"/>
            </a:endParaRPr>
          </a:p>
        </p:txBody>
      </p:sp>
      <p:sp>
        <p:nvSpPr>
          <p:cNvPr id="234" name="Google Shape;234;p8"/>
          <p:cNvSpPr txBox="1"/>
          <p:nvPr>
            <p:ph idx="4294967295" type="sldNum"/>
          </p:nvPr>
        </p:nvSpPr>
        <p:spPr>
          <a:xfrm>
            <a:off x="7955280" y="4732020"/>
            <a:ext cx="73152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2C3E"/>
        </a:solidFill>
      </p:bgPr>
    </p:bg>
    <p:spTree>
      <p:nvGrpSpPr>
        <p:cNvPr id="239" name="Shape 239"/>
        <p:cNvGrpSpPr/>
        <p:nvPr/>
      </p:nvGrpSpPr>
      <p:grpSpPr>
        <a:xfrm>
          <a:off x="0" y="0"/>
          <a:ext cx="0" cy="0"/>
          <a:chOff x="0" y="0"/>
          <a:chExt cx="0" cy="0"/>
        </a:xfrm>
      </p:grpSpPr>
      <p:sp>
        <p:nvSpPr>
          <p:cNvPr id="240" name="Google Shape;240;p10"/>
          <p:cNvSpPr/>
          <p:nvPr/>
        </p:nvSpPr>
        <p:spPr>
          <a:xfrm>
            <a:off x="7589520" y="411480"/>
            <a:ext cx="1097280" cy="411480"/>
          </a:xfrm>
          <a:prstGeom prst="roundRect">
            <a:avLst>
              <a:gd fmla="val 48889" name="adj"/>
            </a:avLst>
          </a:prstGeom>
          <a:solidFill>
            <a:srgbClr val="00D9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txBox="1"/>
          <p:nvPr/>
        </p:nvSpPr>
        <p:spPr>
          <a:xfrm>
            <a:off x="7689050" y="411475"/>
            <a:ext cx="898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Slide 10 of 10</a:t>
            </a:r>
            <a:endParaRPr b="0" i="0" sz="1100" u="none" cap="none" strike="noStrike">
              <a:solidFill>
                <a:schemeClr val="dk1"/>
              </a:solidFill>
              <a:latin typeface="Calibri"/>
              <a:ea typeface="Calibri"/>
              <a:cs typeface="Calibri"/>
              <a:sym typeface="Calibri"/>
            </a:endParaRPr>
          </a:p>
        </p:txBody>
      </p:sp>
      <p:sp>
        <p:nvSpPr>
          <p:cNvPr id="242" name="Google Shape;242;p10"/>
          <p:cNvSpPr txBox="1"/>
          <p:nvPr/>
        </p:nvSpPr>
        <p:spPr>
          <a:xfrm>
            <a:off x="457200" y="320040"/>
            <a:ext cx="69494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Roadmap &amp; The Ask</a:t>
            </a:r>
            <a:endParaRPr b="0" i="0" sz="3000" u="none" cap="none" strike="noStrike">
              <a:solidFill>
                <a:schemeClr val="dk1"/>
              </a:solidFill>
              <a:latin typeface="Calibri"/>
              <a:ea typeface="Calibri"/>
              <a:cs typeface="Calibri"/>
              <a:sym typeface="Calibri"/>
            </a:endParaRPr>
          </a:p>
        </p:txBody>
      </p:sp>
      <p:sp>
        <p:nvSpPr>
          <p:cNvPr id="243" name="Google Shape;243;p10"/>
          <p:cNvSpPr txBox="1"/>
          <p:nvPr/>
        </p:nvSpPr>
        <p:spPr>
          <a:xfrm>
            <a:off x="457200" y="96012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0" i="1" lang="en-US" sz="1300" u="none" cap="none" strike="noStrike">
                <a:solidFill>
                  <a:schemeClr val="accent6"/>
                </a:solidFill>
                <a:latin typeface="Calibri"/>
                <a:ea typeface="Calibri"/>
                <a:cs typeface="Calibri"/>
                <a:sym typeface="Calibri"/>
              </a:rPr>
              <a:t>Pilot at the next Calgary hackathon, then prove organizers will pay.</a:t>
            </a:r>
            <a:endParaRPr b="0" i="0" sz="1300" u="none" cap="none" strike="noStrike">
              <a:solidFill>
                <a:schemeClr val="dk1"/>
              </a:solidFill>
              <a:latin typeface="Calibri"/>
              <a:ea typeface="Calibri"/>
              <a:cs typeface="Calibri"/>
              <a:sym typeface="Calibri"/>
            </a:endParaRPr>
          </a:p>
        </p:txBody>
      </p:sp>
      <p:sp>
        <p:nvSpPr>
          <p:cNvPr id="244" name="Google Shape;244;p10"/>
          <p:cNvSpPr/>
          <p:nvPr/>
        </p:nvSpPr>
        <p:spPr>
          <a:xfrm>
            <a:off x="457200" y="1554480"/>
            <a:ext cx="365760" cy="3657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txBox="1"/>
          <p:nvPr/>
        </p:nvSpPr>
        <p:spPr>
          <a:xfrm>
            <a:off x="960120" y="155448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Next 30 days</a:t>
            </a:r>
            <a:endParaRPr b="0" i="0" sz="1400" u="none" cap="none" strike="noStrike">
              <a:solidFill>
                <a:schemeClr val="dk1"/>
              </a:solidFill>
              <a:latin typeface="Calibri"/>
              <a:ea typeface="Calibri"/>
              <a:cs typeface="Calibri"/>
              <a:sym typeface="Calibri"/>
            </a:endParaRPr>
          </a:p>
        </p:txBody>
      </p:sp>
      <p:sp>
        <p:nvSpPr>
          <p:cNvPr id="246" name="Google Shape;246;p10"/>
          <p:cNvSpPr txBox="1"/>
          <p:nvPr/>
        </p:nvSpPr>
        <p:spPr>
          <a:xfrm>
            <a:off x="457200" y="2011680"/>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Validate: pilot at Hack the Change and 2 Product Calgary meetups. 300 builders, 50 coffee chats.</a:t>
            </a:r>
            <a:endParaRPr b="0" i="0" sz="1200" u="none" cap="none" strike="noStrike">
              <a:solidFill>
                <a:schemeClr val="dk1"/>
              </a:solidFill>
              <a:latin typeface="Calibri"/>
              <a:ea typeface="Calibri"/>
              <a:cs typeface="Calibri"/>
              <a:sym typeface="Calibri"/>
            </a:endParaRPr>
          </a:p>
        </p:txBody>
      </p:sp>
      <p:sp>
        <p:nvSpPr>
          <p:cNvPr id="247" name="Google Shape;247;p10"/>
          <p:cNvSpPr/>
          <p:nvPr/>
        </p:nvSpPr>
        <p:spPr>
          <a:xfrm>
            <a:off x="3246120" y="1554480"/>
            <a:ext cx="365760" cy="365760"/>
          </a:xfrm>
          <a:prstGeom prst="ellipse">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txBox="1"/>
          <p:nvPr/>
        </p:nvSpPr>
        <p:spPr>
          <a:xfrm>
            <a:off x="3749040" y="155448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Next 90 days</a:t>
            </a:r>
            <a:endParaRPr b="0" i="0" sz="1400" u="none" cap="none" strike="noStrike">
              <a:solidFill>
                <a:schemeClr val="dk1"/>
              </a:solidFill>
              <a:latin typeface="Calibri"/>
              <a:ea typeface="Calibri"/>
              <a:cs typeface="Calibri"/>
              <a:sym typeface="Calibri"/>
            </a:endParaRPr>
          </a:p>
        </p:txBody>
      </p:sp>
      <p:sp>
        <p:nvSpPr>
          <p:cNvPr id="249" name="Google Shape;249;p10"/>
          <p:cNvSpPr txBox="1"/>
          <p:nvPr/>
        </p:nvSpPr>
        <p:spPr>
          <a:xfrm>
            <a:off x="3246120" y="2011680"/>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Build: first paid organizer pilot. Track projects still active at 30 days.</a:t>
            </a:r>
            <a:endParaRPr b="0" i="0" sz="1200" u="none" cap="none" strike="noStrike">
              <a:solidFill>
                <a:schemeClr val="dk1"/>
              </a:solidFill>
              <a:latin typeface="Calibri"/>
              <a:ea typeface="Calibri"/>
              <a:cs typeface="Calibri"/>
              <a:sym typeface="Calibri"/>
            </a:endParaRPr>
          </a:p>
        </p:txBody>
      </p:sp>
      <p:sp>
        <p:nvSpPr>
          <p:cNvPr id="250" name="Google Shape;250;p10"/>
          <p:cNvSpPr/>
          <p:nvPr/>
        </p:nvSpPr>
        <p:spPr>
          <a:xfrm>
            <a:off x="6035040" y="1554480"/>
            <a:ext cx="365760" cy="365760"/>
          </a:xfrm>
          <a:prstGeom prst="ellipse">
            <a:avLst/>
          </a:prstGeom>
          <a:solidFill>
            <a:schemeClr val="accent3"/>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txBox="1"/>
          <p:nvPr/>
        </p:nvSpPr>
        <p:spPr>
          <a:xfrm>
            <a:off x="6537960" y="155448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6 to 12 months</a:t>
            </a:r>
            <a:endParaRPr b="0" i="0" sz="1400" u="none" cap="none" strike="noStrike">
              <a:solidFill>
                <a:schemeClr val="dk1"/>
              </a:solidFill>
              <a:latin typeface="Calibri"/>
              <a:ea typeface="Calibri"/>
              <a:cs typeface="Calibri"/>
              <a:sym typeface="Calibri"/>
            </a:endParaRPr>
          </a:p>
        </p:txBody>
      </p:sp>
      <p:sp>
        <p:nvSpPr>
          <p:cNvPr id="252" name="Google Shape;252;p10"/>
          <p:cNvSpPr txBox="1"/>
          <p:nvPr/>
        </p:nvSpPr>
        <p:spPr>
          <a:xfrm>
            <a:off x="6035040" y="2011680"/>
            <a:ext cx="25603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Grow: 10 paying Alberta organizers (~$30K ARR), Edmonton launch, first hire.</a:t>
            </a:r>
            <a:endParaRPr b="0" i="0" sz="1200" u="none" cap="none" strike="noStrike">
              <a:solidFill>
                <a:schemeClr val="dk1"/>
              </a:solidFill>
              <a:latin typeface="Calibri"/>
              <a:ea typeface="Calibri"/>
              <a:cs typeface="Calibri"/>
              <a:sym typeface="Calibri"/>
            </a:endParaRPr>
          </a:p>
        </p:txBody>
      </p:sp>
      <p:sp>
        <p:nvSpPr>
          <p:cNvPr id="253" name="Google Shape;253;p10"/>
          <p:cNvSpPr/>
          <p:nvPr/>
        </p:nvSpPr>
        <p:spPr>
          <a:xfrm>
            <a:off x="457200" y="3017520"/>
            <a:ext cx="8229600" cy="1371600"/>
          </a:xfrm>
          <a:prstGeom prst="roundRect">
            <a:avLst>
              <a:gd fmla="val 8000"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685800" y="3246120"/>
            <a:ext cx="548640" cy="548640"/>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5" name="Google Shape;255;p10"/>
          <p:cNvPicPr preferRelativeResize="0"/>
          <p:nvPr/>
        </p:nvPicPr>
        <p:blipFill rotWithShape="1">
          <a:blip r:embed="rId3">
            <a:alphaModFix/>
          </a:blip>
          <a:srcRect b="0" l="0" r="0" t="0"/>
          <a:stretch/>
        </p:blipFill>
        <p:spPr>
          <a:xfrm>
            <a:off x="822960" y="3383280"/>
            <a:ext cx="274320" cy="274320"/>
          </a:xfrm>
          <a:prstGeom prst="rect">
            <a:avLst/>
          </a:prstGeom>
          <a:noFill/>
          <a:ln>
            <a:noFill/>
          </a:ln>
        </p:spPr>
      </p:pic>
      <p:sp>
        <p:nvSpPr>
          <p:cNvPr id="256" name="Google Shape;256;p10"/>
          <p:cNvSpPr txBox="1"/>
          <p:nvPr/>
        </p:nvSpPr>
        <p:spPr>
          <a:xfrm>
            <a:off x="1417320" y="315468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THE ASK</a:t>
            </a:r>
            <a:endParaRPr b="0" i="0" sz="1100" u="none" cap="none" strike="noStrike">
              <a:solidFill>
                <a:schemeClr val="dk1"/>
              </a:solidFill>
              <a:latin typeface="Calibri"/>
              <a:ea typeface="Calibri"/>
              <a:cs typeface="Calibri"/>
              <a:sym typeface="Calibri"/>
            </a:endParaRPr>
          </a:p>
        </p:txBody>
      </p:sp>
      <p:sp>
        <p:nvSpPr>
          <p:cNvPr id="257" name="Google Shape;257;p10"/>
          <p:cNvSpPr txBox="1"/>
          <p:nvPr/>
        </p:nvSpPr>
        <p:spPr>
          <a:xfrm>
            <a:off x="1417320" y="3474720"/>
            <a:ext cx="70408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Let us pilot CoBuild YYC at your next event, starting with Hack the Change (Nov 7–8), and introduce us to whoever runs Platform Calgary's event programs. We'll bring the data back in 30 days.</a:t>
            </a:r>
            <a:endParaRPr b="0" i="0" sz="1300" u="none" cap="none" strike="noStrike">
              <a:solidFill>
                <a:schemeClr val="dk1"/>
              </a:solidFill>
              <a:latin typeface="Calibri"/>
              <a:ea typeface="Calibri"/>
              <a:cs typeface="Calibri"/>
              <a:sym typeface="Calibri"/>
            </a:endParaRPr>
          </a:p>
        </p:txBody>
      </p:sp>
      <p:sp>
        <p:nvSpPr>
          <p:cNvPr id="258" name="Google Shape;258;p10"/>
          <p:cNvSpPr txBox="1"/>
          <p:nvPr/>
        </p:nvSpPr>
        <p:spPr>
          <a:xfrm>
            <a:off x="457200" y="47320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Product Calgary Buildathon  |  Pitch Template</a:t>
            </a:r>
            <a:endParaRPr b="0" i="0" sz="1000" u="none" cap="none" strike="noStrike">
              <a:solidFill>
                <a:schemeClr val="dk1"/>
              </a:solidFill>
              <a:latin typeface="Calibri"/>
              <a:ea typeface="Calibri"/>
              <a:cs typeface="Calibri"/>
              <a:sym typeface="Calibri"/>
            </a:endParaRPr>
          </a:p>
        </p:txBody>
      </p:sp>
      <p:sp>
        <p:nvSpPr>
          <p:cNvPr id="259" name="Google Shape;259;p10"/>
          <p:cNvSpPr txBox="1"/>
          <p:nvPr/>
        </p:nvSpPr>
        <p:spPr>
          <a:xfrm>
            <a:off x="5029200" y="4732020"/>
            <a:ext cx="3657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Thank you  ·  [contact email / handle]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Buildathon">
  <a:themeElements>
    <a:clrScheme name="Buildathon">
      <a:dk1>
        <a:srgbClr val="1B1F3B"/>
      </a:dk1>
      <a:lt1>
        <a:srgbClr val="FFFFFF"/>
      </a:lt1>
      <a:dk2>
        <a:srgbClr val="4A4F6B"/>
      </a:dk2>
      <a:lt2>
        <a:srgbClr val="F3F4F9"/>
      </a:lt2>
      <a:accent1>
        <a:srgbClr val="FF5A5F"/>
      </a:accent1>
      <a:accent2>
        <a:srgbClr val="FFC857"/>
      </a:accent2>
      <a:accent3>
        <a:srgbClr val="2EC4B6"/>
      </a:accent3>
      <a:accent4>
        <a:srgbClr val="6C63FF"/>
      </a:accent4>
      <a:accent5>
        <a:srgbClr val="FF8C42"/>
      </a:accent5>
      <a:accent6>
        <a:srgbClr val="9AA0B8"/>
      </a:accent6>
      <a:hlink>
        <a:srgbClr val="FF5A5F"/>
      </a:hlink>
      <a:folHlink>
        <a:srgbClr val="6C6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ildathon">
  <a:themeElements>
    <a:clrScheme name="Buildathon">
      <a:dk1>
        <a:srgbClr val="1B1F3B"/>
      </a:dk1>
      <a:lt1>
        <a:srgbClr val="FFFFFF"/>
      </a:lt1>
      <a:dk2>
        <a:srgbClr val="4A4F6B"/>
      </a:dk2>
      <a:lt2>
        <a:srgbClr val="F3F4F9"/>
      </a:lt2>
      <a:accent1>
        <a:srgbClr val="FF5A5F"/>
      </a:accent1>
      <a:accent2>
        <a:srgbClr val="FFC857"/>
      </a:accent2>
      <a:accent3>
        <a:srgbClr val="2EC4B6"/>
      </a:accent3>
      <a:accent4>
        <a:srgbClr val="6C63FF"/>
      </a:accent4>
      <a:accent5>
        <a:srgbClr val="FF8C42"/>
      </a:accent5>
      <a:accent6>
        <a:srgbClr val="9AA0B8"/>
      </a:accent6>
      <a:hlink>
        <a:srgbClr val="FF5A5F"/>
      </a:hlink>
      <a:folHlink>
        <a:srgbClr val="6C6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2026-10-21T20:21:58Z</dcterms:created>
  <dc:creator>Product Calgary</dc:creator>
</cp:coreProperties>
</file>